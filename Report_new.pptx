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66" r:id="rId12"/>
    <p:sldId id="272" r:id="rId13"/>
    <p:sldId id="273"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4" Type="http://schemas.openxmlformats.org/officeDocument/2006/relationships/hyperlink" Target="https://github.com/benet1one/Mineri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1524000" y="1758462"/>
            <a:ext cx="9144000"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err="1"/>
              <a:t>Tobella</a:t>
            </a:r>
            <a:r>
              <a:rPr lang="it-IT" sz="2000" dirty="0"/>
              <a:t> </a:t>
            </a:r>
            <a:r>
              <a:rPr lang="it-IT" sz="2000" dirty="0" err="1"/>
              <a:t>Jacomet</a:t>
            </a:r>
            <a:r>
              <a:rPr lang="it-IT" sz="2000" dirty="0"/>
              <a:t>, Pol - </a:t>
            </a:r>
            <a:endParaRPr lang="ca-ES" sz="2000" dirty="0"/>
          </a:p>
          <a:p>
            <a:pPr algn="l"/>
            <a:endParaRPr lang="ca-ES" sz="2000" dirty="0"/>
          </a:p>
          <a:p>
            <a:pPr algn="l"/>
            <a:r>
              <a:rPr lang="ca-ES" sz="2000" dirty="0"/>
              <a:t>GitHub link: </a:t>
            </a:r>
            <a:r>
              <a:rPr lang="ca-ES" sz="2000" dirty="0">
                <a:hlinkClick r:id="rId4"/>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351338"/>
          </a:xfrm>
        </p:spPr>
        <p:txBody>
          <a:bodyPr>
            <a:normAutofit fontScale="70000" lnSpcReduction="20000"/>
          </a:bodyPr>
          <a:lstStyle/>
          <a:p>
            <a:pPr marL="0" indent="0">
              <a:buNone/>
            </a:pPr>
            <a:r>
              <a:rPr lang="es-ES" sz="2000" b="1" dirty="0" err="1"/>
              <a:t>Dataset</a:t>
            </a:r>
            <a:endParaRPr lang="es-ES" sz="2000" dirty="0"/>
          </a:p>
          <a:p>
            <a:r>
              <a:rPr lang="es-ES" sz="2000" b="1" u="sng" dirty="0"/>
              <a:t>13.186</a:t>
            </a:r>
            <a:r>
              <a:rPr lang="es-ES" sz="2000" b="1" dirty="0"/>
              <a:t> registros</a:t>
            </a:r>
            <a:endParaRPr lang="es-ES" sz="2000" dirty="0"/>
          </a:p>
          <a:p>
            <a:r>
              <a:rPr lang="es-ES" sz="2000" b="1" dirty="0"/>
              <a:t>15 variables</a:t>
            </a:r>
            <a:r>
              <a:rPr lang="es-ES" sz="2000" dirty="0"/>
              <a:t>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b="1" dirty="0" err="1"/>
              <a:t>missing</a:t>
            </a:r>
            <a:r>
              <a:rPr lang="es-ES" sz="2000" b="1" dirty="0"/>
              <a:t> </a:t>
            </a:r>
            <a:r>
              <a:rPr lang="es-ES" sz="2000" b="1" dirty="0" err="1"/>
              <a:t>values</a:t>
            </a:r>
            <a:r>
              <a:rPr lang="es-ES" sz="2000" dirty="0"/>
              <a:t> relevantes.</a:t>
            </a:r>
          </a:p>
          <a:p>
            <a:r>
              <a:rPr lang="es-ES" sz="2000" dirty="0"/>
              <a:t>Distribuciones correctas para variables ratio (0–1).</a:t>
            </a:r>
          </a:p>
          <a:p>
            <a:r>
              <a:rPr lang="es-ES" sz="2000" dirty="0"/>
              <a:t>Posibles </a:t>
            </a:r>
            <a:r>
              <a:rPr lang="es-ES" sz="2000" b="1"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br>
              <a:rPr lang="es-ES" sz="2000" dirty="0"/>
            </a:br>
            <a:endParaRPr lang="es-ES" sz="2000" dirty="0"/>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10016173" y="14732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4989401"/>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4989371"/>
            <a:ext cx="3439005" cy="790685"/>
          </a:xfrm>
          <a:prstGeom prst="rect">
            <a:avLst/>
          </a:prstGeom>
        </p:spPr>
      </p:pic>
    </p:spTree>
    <p:extLst>
      <p:ext uri="{BB962C8B-B14F-4D97-AF65-F5344CB8AC3E}">
        <p14:creationId xmlns:p14="http://schemas.microsoft.com/office/powerpoint/2010/main" val="364468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 (</a:t>
            </a:r>
            <a:r>
              <a:rPr lang="ca-ES" sz="3600" dirty="0" err="1"/>
              <a:t>acabr</a:t>
            </a:r>
            <a:r>
              <a:rPr lang="ca-ES" sz="3600" dirty="0"/>
              <a:t> de comentar)</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200" y="1492565"/>
            <a:ext cx="4698158"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·Siguiendo con el primer análisis, vemos que las reglas con mayor </a:t>
            </a:r>
            <a:r>
              <a:rPr lang="es-ES" sz="1600" i="1" dirty="0" err="1"/>
              <a:t>lift</a:t>
            </a:r>
            <a:r>
              <a:rPr lang="es-ES" sz="1600" dirty="0"/>
              <a:t> son aquelles que explican</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6096000" y="1492565"/>
            <a:ext cx="4698157"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838200" y="2164359"/>
            <a:ext cx="4596422" cy="1921161"/>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6096000" y="2341391"/>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096000" y="4009958"/>
            <a:ext cx="3299827" cy="2129924"/>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1043908" y="4358980"/>
            <a:ext cx="3083475" cy="1965805"/>
          </a:xfrm>
          <a:prstGeom prst="rect">
            <a:avLst/>
          </a:prstGeom>
        </p:spPr>
      </p:pic>
    </p:spTree>
    <p:extLst>
      <p:ext uri="{BB962C8B-B14F-4D97-AF65-F5344CB8AC3E}">
        <p14:creationId xmlns:p14="http://schemas.microsoft.com/office/powerpoint/2010/main" val="4129643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ca-ES" sz="1600" dirty="0" err="1"/>
              <a:t>Finalimente</a:t>
            </a:r>
            <a:r>
              <a:rPr lang="ca-ES" sz="1600" dirty="0"/>
              <a:t> hemos </a:t>
            </a:r>
            <a:r>
              <a:rPr lang="ca-ES" sz="1600" dirty="0" err="1"/>
              <a:t>realizado</a:t>
            </a:r>
            <a:r>
              <a:rPr lang="ca-ES" sz="1600" dirty="0"/>
              <a:t> </a:t>
            </a:r>
            <a:r>
              <a:rPr lang="ca-ES" sz="1600" dirty="0" err="1"/>
              <a:t>también</a:t>
            </a:r>
            <a:r>
              <a:rPr lang="ca-ES" sz="1600" dirty="0"/>
              <a:t> un </a:t>
            </a:r>
            <a:r>
              <a:rPr lang="ca-ES" sz="1600" dirty="0" err="1"/>
              <a:t>análisi</a:t>
            </a:r>
            <a:r>
              <a:rPr lang="ca-ES" sz="1600" dirty="0"/>
              <a:t> </a:t>
            </a:r>
            <a:r>
              <a:rPr lang="ca-ES" sz="1600" dirty="0" err="1"/>
              <a:t>enfocado</a:t>
            </a:r>
            <a:r>
              <a:rPr lang="ca-ES" sz="1600" dirty="0"/>
              <a:t> a la </a:t>
            </a:r>
            <a:r>
              <a:rPr lang="ca-ES" sz="1600" dirty="0" err="1"/>
              <a:t>popularidad</a:t>
            </a:r>
            <a:r>
              <a:rPr lang="ca-ES" sz="1600" dirty="0"/>
              <a:t>, </a:t>
            </a:r>
            <a:r>
              <a:rPr lang="ca-ES" sz="1600" dirty="0" err="1"/>
              <a:t>nuestra</a:t>
            </a:r>
            <a:r>
              <a:rPr lang="ca-ES" sz="1600" dirty="0"/>
              <a:t> variable objectivo. </a:t>
            </a:r>
          </a:p>
          <a:p>
            <a:pPr algn="just"/>
            <a:r>
              <a:rPr lang="ca-ES" sz="1600" dirty="0"/>
              <a:t>Explicar que el suport i el </a:t>
            </a:r>
            <a:r>
              <a:rPr lang="ca-ES" sz="1600" dirty="0" err="1"/>
              <a:t>confidence</a:t>
            </a:r>
            <a:r>
              <a:rPr lang="ca-ES" sz="1600" dirty="0"/>
              <a:t> ha de ser baix per començar a trobar </a:t>
            </a:r>
            <a:r>
              <a:rPr lang="ca-ES" sz="1600" dirty="0" err="1"/>
              <a:t>rules</a:t>
            </a:r>
            <a:r>
              <a:rPr lang="ca-ES" sz="1600" dirty="0"/>
              <a:t> que </a:t>
            </a:r>
            <a:r>
              <a:rPr lang="ca-ES" sz="1600" dirty="0" err="1"/>
              <a:t>explquin</a:t>
            </a:r>
            <a:r>
              <a:rPr lang="ca-ES" sz="1600" dirty="0"/>
              <a:t> </a:t>
            </a:r>
            <a:r>
              <a:rPr lang="ca-ES" sz="1600" dirty="0" err="1"/>
              <a:t>song</a:t>
            </a:r>
            <a:br>
              <a:rPr lang="ca-ES" sz="1600" dirty="0"/>
            </a:br>
            <a:r>
              <a:rPr lang="ca-ES" sz="1600" dirty="0"/>
              <a:t>_pop (tant </a:t>
            </a:r>
            <a:r>
              <a:rPr lang="ca-ES" sz="1600" dirty="0" err="1"/>
              <a:t>high</a:t>
            </a:r>
            <a:r>
              <a:rPr lang="ca-ES" sz="1600" dirty="0"/>
              <a:t> com </a:t>
            </a:r>
            <a:r>
              <a:rPr lang="ca-ES" sz="1600" dirty="0" err="1"/>
              <a:t>low</a:t>
            </a:r>
            <a:r>
              <a:rPr lang="ca-ES" sz="1600" dirty="0"/>
              <a:t>). Podem trobar </a:t>
            </a:r>
            <a:r>
              <a:rPr lang="ca-ES" sz="1600" dirty="0" err="1"/>
              <a:t>rules</a:t>
            </a:r>
            <a:r>
              <a:rPr lang="ca-ES" sz="1600" dirty="0"/>
              <a:t> amb major </a:t>
            </a:r>
            <a:r>
              <a:rPr lang="ca-ES" sz="1600" dirty="0" err="1"/>
              <a:t>confidence</a:t>
            </a:r>
            <a:r>
              <a:rPr lang="ca-ES" sz="1600" dirty="0"/>
              <a:t> però llavors suport ha de ser encara molt més baix.</a:t>
            </a:r>
            <a:endParaRPr lang="es-ES" sz="1600" dirty="0"/>
          </a:p>
        </p:txBody>
      </p:sp>
      <p:pic>
        <p:nvPicPr>
          <p:cNvPr id="6" name="Imatge 5">
            <a:extLst>
              <a:ext uri="{FF2B5EF4-FFF2-40B4-BE49-F238E27FC236}">
                <a16:creationId xmlns:a16="http://schemas.microsoft.com/office/drawing/2014/main" id="{1B846CC0-C56B-4138-8BBD-DCA557E10DF1}"/>
              </a:ext>
            </a:extLst>
          </p:cNvPr>
          <p:cNvPicPr>
            <a:picLocks noChangeAspect="1"/>
          </p:cNvPicPr>
          <p:nvPr/>
        </p:nvPicPr>
        <p:blipFill>
          <a:blip r:embed="rId2"/>
          <a:stretch>
            <a:fillRect/>
          </a:stretch>
        </p:blipFill>
        <p:spPr>
          <a:xfrm>
            <a:off x="678808" y="3232231"/>
            <a:ext cx="6906589" cy="1086002"/>
          </a:xfrm>
          <a:prstGeom prst="rect">
            <a:avLst/>
          </a:prstGeom>
        </p:spPr>
      </p:pic>
      <p:pic>
        <p:nvPicPr>
          <p:cNvPr id="8" name="Imatge 7">
            <a:extLst>
              <a:ext uri="{FF2B5EF4-FFF2-40B4-BE49-F238E27FC236}">
                <a16:creationId xmlns:a16="http://schemas.microsoft.com/office/drawing/2014/main" id="{37B2CE45-6D89-414D-A2D5-A50B02BD659C}"/>
              </a:ext>
            </a:extLst>
          </p:cNvPr>
          <p:cNvPicPr>
            <a:picLocks noChangeAspect="1"/>
          </p:cNvPicPr>
          <p:nvPr/>
        </p:nvPicPr>
        <p:blipFill>
          <a:blip r:embed="rId3"/>
          <a:stretch>
            <a:fillRect/>
          </a:stretch>
        </p:blipFill>
        <p:spPr>
          <a:xfrm>
            <a:off x="754310" y="2888652"/>
            <a:ext cx="7421011" cy="142895"/>
          </a:xfrm>
          <a:prstGeom prst="rect">
            <a:avLst/>
          </a:prstGeom>
        </p:spPr>
      </p:pic>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4"/>
          <a:stretch>
            <a:fillRect/>
          </a:stretch>
        </p:blipFill>
        <p:spPr>
          <a:xfrm>
            <a:off x="678808" y="4346844"/>
            <a:ext cx="5143152" cy="2075739"/>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5"/>
          <a:stretch>
            <a:fillRect/>
          </a:stretch>
        </p:blipFill>
        <p:spPr>
          <a:xfrm>
            <a:off x="6632202" y="4246786"/>
            <a:ext cx="3086237" cy="1978823"/>
          </a:xfrm>
          <a:prstGeom prst="rect">
            <a:avLst/>
          </a:prstGeom>
        </p:spPr>
      </p:pic>
    </p:spTree>
    <p:extLst>
      <p:ext uri="{BB962C8B-B14F-4D97-AF65-F5344CB8AC3E}">
        <p14:creationId xmlns:p14="http://schemas.microsoft.com/office/powerpoint/2010/main" val="2158781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1023</TotalTime>
  <Words>1210</Words>
  <Application>Microsoft Office PowerPoint</Application>
  <PresentationFormat>Widescreen</PresentationFormat>
  <Paragraphs>141</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PORTADA</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 (acabr de comentar)</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IKER MARIA MONTES</dc:creator>
  <cp:lastModifiedBy>BERNAT GARCÍA GARCÍA</cp:lastModifiedBy>
  <cp:revision>19</cp:revision>
  <dcterms:created xsi:type="dcterms:W3CDTF">2025-11-09T14:38:01Z</dcterms:created>
  <dcterms:modified xsi:type="dcterms:W3CDTF">2025-11-10T13:05:23Z</dcterms:modified>
</cp:coreProperties>
</file>