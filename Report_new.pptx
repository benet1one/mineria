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72" r:id="rId13"/>
    <p:sldId id="273" r:id="rId14"/>
    <p:sldId id="268" r:id="rId15"/>
    <p:sldId id="269" r:id="rId16"/>
    <p:sldId id="270" r:id="rId17"/>
    <p:sldId id="271" r:id="rId18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 mitjà 2 - èmfasi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114" d="100"/>
          <a:sy n="114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A29714D-2B8A-EAFC-206A-D4845180B77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8675AC7F-3F75-37C3-A625-7B3C194C60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ca-ES"/>
              <a:t>Feu clic aquí per editar l'estil de subtítols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E74B5179-3DEA-451D-F1A7-240CFFC05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1A551AD4-90F7-2BBE-B8CA-39A874B7B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AFCA420-994D-029D-7405-F21FC78904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2251754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ol i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59684A3-AACE-FF77-15D6-17C68EEA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32BB2663-E42E-BD64-6F58-FE3C7365A1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C75D6770-F375-2F69-B4E1-ED0171F2AE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4C672929-C886-D18A-F947-2C4CBE91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9ECA1018-2075-4C0B-FAFF-0872D14A0B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347556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pçalera de la sec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FB0B85A-F966-4DF1-B9A1-939932B71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FACD047A-04FC-625D-04C6-F4F130026D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3FF6D24D-E6EE-3022-F2CE-94828A3F0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3222BC23-6EA5-5FD8-188F-367B49687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C03AABD9-A1AD-F855-2635-A81337637A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288092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c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B212CDE-9FF5-F303-19F3-F824D5295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3E7CE53-3838-AB79-D076-15F223B57B9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C6F24B35-E0CC-9CBF-D582-B8406A7777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7C2C9EC4-F619-1168-780C-984202203B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4F3E343A-AE05-748D-0423-16F8929861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2D50E1FF-5019-0CC2-209A-EAA97105D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045223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93A549C1-2B29-CC33-B451-AE12DD3B4F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7A7638ED-7330-F7A1-6BF9-A7713EE3F7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4" name="Contenidor de contingut 3">
            <a:extLst>
              <a:ext uri="{FF2B5EF4-FFF2-40B4-BE49-F238E27FC236}">
                <a16:creationId xmlns:a16="http://schemas.microsoft.com/office/drawing/2014/main" id="{D81B9C43-3C00-2A99-0154-90E36552922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5" name="Contenidor de text 4">
            <a:extLst>
              <a:ext uri="{FF2B5EF4-FFF2-40B4-BE49-F238E27FC236}">
                <a16:creationId xmlns:a16="http://schemas.microsoft.com/office/drawing/2014/main" id="{EE42454D-3D1E-9BC8-E0D6-4EFAB385B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6" name="Contenidor de contingut 5">
            <a:extLst>
              <a:ext uri="{FF2B5EF4-FFF2-40B4-BE49-F238E27FC236}">
                <a16:creationId xmlns:a16="http://schemas.microsoft.com/office/drawing/2014/main" id="{95DF7220-4A63-1A05-7241-5A360AC43CF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7" name="Contenidor de data 6">
            <a:extLst>
              <a:ext uri="{FF2B5EF4-FFF2-40B4-BE49-F238E27FC236}">
                <a16:creationId xmlns:a16="http://schemas.microsoft.com/office/drawing/2014/main" id="{5E99A236-B43A-E812-54CC-95B756F749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8" name="Contenidor de peu de pàgina 7">
            <a:extLst>
              <a:ext uri="{FF2B5EF4-FFF2-40B4-BE49-F238E27FC236}">
                <a16:creationId xmlns:a16="http://schemas.microsoft.com/office/drawing/2014/main" id="{04804633-34A0-BC73-6D31-4F7DF4CEDA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9" name="Contenidor de número de diapositiva 8">
            <a:extLst>
              <a:ext uri="{FF2B5EF4-FFF2-40B4-BE49-F238E27FC236}">
                <a16:creationId xmlns:a16="http://schemas.microsoft.com/office/drawing/2014/main" id="{2C475C08-4ED9-C8B4-D553-71A5585421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1145870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omés tít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93F88BC-9D88-2FC1-5DF9-06DB0C0FE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data 2">
            <a:extLst>
              <a:ext uri="{FF2B5EF4-FFF2-40B4-BE49-F238E27FC236}">
                <a16:creationId xmlns:a16="http://schemas.microsoft.com/office/drawing/2014/main" id="{0CB7C43F-ADE3-C327-B30A-9591156AD7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4" name="Contenidor de peu de pàgina 3">
            <a:extLst>
              <a:ext uri="{FF2B5EF4-FFF2-40B4-BE49-F238E27FC236}">
                <a16:creationId xmlns:a16="http://schemas.microsoft.com/office/drawing/2014/main" id="{4C826A2F-052C-8AD2-E107-8344E7A8BA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5" name="Contenidor de número de diapositiva 4">
            <a:extLst>
              <a:ext uri="{FF2B5EF4-FFF2-40B4-BE49-F238E27FC236}">
                <a16:creationId xmlns:a16="http://schemas.microsoft.com/office/drawing/2014/main" id="{CD9AE553-CA43-E8B2-3EA4-1F85979CD1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851037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data 1">
            <a:extLst>
              <a:ext uri="{FF2B5EF4-FFF2-40B4-BE49-F238E27FC236}">
                <a16:creationId xmlns:a16="http://schemas.microsoft.com/office/drawing/2014/main" id="{D9D32662-D559-377E-661D-A5E1C58F97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3" name="Contenidor de peu de pàgina 2">
            <a:extLst>
              <a:ext uri="{FF2B5EF4-FFF2-40B4-BE49-F238E27FC236}">
                <a16:creationId xmlns:a16="http://schemas.microsoft.com/office/drawing/2014/main" id="{479CA6C3-81F7-AFE0-5C3D-41E6CA722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4" name="Contenidor de número de diapositiva 3">
            <a:extLst>
              <a:ext uri="{FF2B5EF4-FFF2-40B4-BE49-F238E27FC236}">
                <a16:creationId xmlns:a16="http://schemas.microsoft.com/office/drawing/2014/main" id="{0AA555E0-09B2-01B1-73F3-1CEE65BF1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5132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ingut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2D38EB64-EEDD-5A52-AC60-44CF542EB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5B7C4C07-554E-45EA-A52C-84D3DB66A5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31D705F0-8C5B-A026-949C-0E87198B39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49BC92E8-22A6-FAE9-2E66-14F9D96F4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D2C7483F-D403-CF9D-3D01-AE01052CB9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F2351E33-4728-1D7D-554E-063DF33CC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17142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tge amb l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3569E56F-981F-6127-E9F0-8E45783E8D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ca-ES"/>
              <a:t>Feu clic aquí per editar l'estil</a:t>
            </a:r>
          </a:p>
        </p:txBody>
      </p:sp>
      <p:sp>
        <p:nvSpPr>
          <p:cNvPr id="3" name="Contenidor d'imatge 2">
            <a:extLst>
              <a:ext uri="{FF2B5EF4-FFF2-40B4-BE49-F238E27FC236}">
                <a16:creationId xmlns:a16="http://schemas.microsoft.com/office/drawing/2014/main" id="{DED04847-20B5-E86C-29C4-9784D6516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ca-ES"/>
          </a:p>
        </p:txBody>
      </p:sp>
      <p:sp>
        <p:nvSpPr>
          <p:cNvPr id="4" name="Contenidor de text 3">
            <a:extLst>
              <a:ext uri="{FF2B5EF4-FFF2-40B4-BE49-F238E27FC236}">
                <a16:creationId xmlns:a16="http://schemas.microsoft.com/office/drawing/2014/main" id="{08B0837D-5214-85AF-5597-B2E3692613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ca-ES"/>
              <a:t>Feu clic per editar els estils del text del patró</a:t>
            </a:r>
          </a:p>
        </p:txBody>
      </p:sp>
      <p:sp>
        <p:nvSpPr>
          <p:cNvPr id="5" name="Contenidor de data 4">
            <a:extLst>
              <a:ext uri="{FF2B5EF4-FFF2-40B4-BE49-F238E27FC236}">
                <a16:creationId xmlns:a16="http://schemas.microsoft.com/office/drawing/2014/main" id="{20501F75-7C6A-7CF8-1D13-A3CEA29FCD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6" name="Contenidor de peu de pàgina 5">
            <a:extLst>
              <a:ext uri="{FF2B5EF4-FFF2-40B4-BE49-F238E27FC236}">
                <a16:creationId xmlns:a16="http://schemas.microsoft.com/office/drawing/2014/main" id="{F83820CB-C629-7BB5-9A8E-52D3B68BC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7" name="Contenidor de número de diapositiva 6">
            <a:extLst>
              <a:ext uri="{FF2B5EF4-FFF2-40B4-BE49-F238E27FC236}">
                <a16:creationId xmlns:a16="http://schemas.microsoft.com/office/drawing/2014/main" id="{9A23E9BC-9540-0EE4-15D4-4AED02A7AC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974445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ol i text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FA7E26A-E180-22CC-8112-B098553871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1FEC636E-0A8D-D501-5DE6-13855A10BF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00969A95-50F3-542B-5C9D-03D702533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07A384CC-CF57-C51B-7C8C-BB84A29A4E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ABB8C07D-B2FC-2280-C08E-14FE37EB5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973508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ol vertical i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vertical 1">
            <a:extLst>
              <a:ext uri="{FF2B5EF4-FFF2-40B4-BE49-F238E27FC236}">
                <a16:creationId xmlns:a16="http://schemas.microsoft.com/office/drawing/2014/main" id="{456CE0C4-FAD3-10F6-8F58-50B6783B2D0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vertical 2">
            <a:extLst>
              <a:ext uri="{FF2B5EF4-FFF2-40B4-BE49-F238E27FC236}">
                <a16:creationId xmlns:a16="http://schemas.microsoft.com/office/drawing/2014/main" id="{79F4F802-C3A3-9BA8-5C41-3012A0E1EC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83D7FAAE-E579-8979-BF16-72CF24C05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F5CB72A9-71FC-5408-5DA4-13D9034D71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58B35684-76E5-DDCE-AC2B-1EF0D793C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28068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idor de títol 1">
            <a:extLst>
              <a:ext uri="{FF2B5EF4-FFF2-40B4-BE49-F238E27FC236}">
                <a16:creationId xmlns:a16="http://schemas.microsoft.com/office/drawing/2014/main" id="{FA40E8C6-B781-BAC8-7B39-9EE25B8ED9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ca-ES"/>
              <a:t>Feu clic aquí per editar l'estil</a:t>
            </a:r>
          </a:p>
        </p:txBody>
      </p:sp>
      <p:sp>
        <p:nvSpPr>
          <p:cNvPr id="3" name="Contenidor de text 2">
            <a:extLst>
              <a:ext uri="{FF2B5EF4-FFF2-40B4-BE49-F238E27FC236}">
                <a16:creationId xmlns:a16="http://schemas.microsoft.com/office/drawing/2014/main" id="{8F45CB7E-D175-9992-36DE-48C1D5BE3B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ca-ES"/>
              <a:t>Feu clic per editar els estils del text del patró</a:t>
            </a:r>
          </a:p>
          <a:p>
            <a:pPr lvl="1"/>
            <a:r>
              <a:rPr lang="ca-ES"/>
              <a:t>Segon nivell</a:t>
            </a:r>
          </a:p>
          <a:p>
            <a:pPr lvl="2"/>
            <a:r>
              <a:rPr lang="ca-ES"/>
              <a:t>Tercer nivell</a:t>
            </a:r>
          </a:p>
          <a:p>
            <a:pPr lvl="3"/>
            <a:r>
              <a:rPr lang="ca-ES"/>
              <a:t>Quart nivell</a:t>
            </a:r>
          </a:p>
          <a:p>
            <a:pPr lvl="4"/>
            <a:r>
              <a:rPr lang="ca-ES"/>
              <a:t>Cinquè nivell</a:t>
            </a:r>
          </a:p>
        </p:txBody>
      </p:sp>
      <p:sp>
        <p:nvSpPr>
          <p:cNvPr id="4" name="Contenidor de data 3">
            <a:extLst>
              <a:ext uri="{FF2B5EF4-FFF2-40B4-BE49-F238E27FC236}">
                <a16:creationId xmlns:a16="http://schemas.microsoft.com/office/drawing/2014/main" id="{19D6C467-6FEE-9DFE-FE59-1E761D72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7DBC102-9276-45BB-B360-46D8E32A348F}" type="datetimeFigureOut">
              <a:rPr lang="ca-ES" smtClean="0"/>
              <a:t>10/11/2025</a:t>
            </a:fld>
            <a:endParaRPr lang="ca-ES"/>
          </a:p>
        </p:txBody>
      </p:sp>
      <p:sp>
        <p:nvSpPr>
          <p:cNvPr id="5" name="Contenidor de peu de pàgina 4">
            <a:extLst>
              <a:ext uri="{FF2B5EF4-FFF2-40B4-BE49-F238E27FC236}">
                <a16:creationId xmlns:a16="http://schemas.microsoft.com/office/drawing/2014/main" id="{A73C2953-F674-0D10-BE7A-9FD813433CF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ca-ES"/>
          </a:p>
        </p:txBody>
      </p:sp>
      <p:sp>
        <p:nvSpPr>
          <p:cNvPr id="6" name="Contenidor de número de diapositiva 5">
            <a:extLst>
              <a:ext uri="{FF2B5EF4-FFF2-40B4-BE49-F238E27FC236}">
                <a16:creationId xmlns:a16="http://schemas.microsoft.com/office/drawing/2014/main" id="{DCC1D091-1DFF-FC03-BA13-ACE048E6A1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6F2B2A-F973-4D6E-A5A1-2124751B0C8B}" type="slidenum">
              <a:rPr lang="ca-ES" smtClean="0"/>
              <a:t>‹#›</a:t>
            </a:fld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94671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developer.spotify.com/documentation/web-api" TargetMode="External"/><Relationship Id="rId2" Type="http://schemas.openxmlformats.org/officeDocument/2006/relationships/hyperlink" Target="https://www.kaggle.com/competitions/prediccion-de-la-popularidad-de-canciones/overview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83E88293-82B5-0F75-ADAD-D3AD34FCBE0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ca-ES" dirty="0"/>
              <a:t>PORTADA</a:t>
            </a:r>
          </a:p>
        </p:txBody>
      </p:sp>
      <p:sp>
        <p:nvSpPr>
          <p:cNvPr id="3" name="Subtítol 2">
            <a:extLst>
              <a:ext uri="{FF2B5EF4-FFF2-40B4-BE49-F238E27FC236}">
                <a16:creationId xmlns:a16="http://schemas.microsoft.com/office/drawing/2014/main" id="{33BDF99F-C81A-EBF3-B1B3-39467C60428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18513899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679FA6BF-6CE1-C1A1-3759-11DA52CE0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ENTENDIMIENTO DEL NEGOCIO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C65C45E8-7975-F60E-7BCF-F68582BD9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5001"/>
            <a:ext cx="10515600" cy="50878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s-ES" sz="2200" b="1" dirty="0"/>
              <a:t>Problema</a:t>
            </a:r>
            <a:endParaRPr lang="es-ES" sz="2200" dirty="0"/>
          </a:p>
          <a:p>
            <a:r>
              <a:rPr lang="es-ES" sz="2200" dirty="0"/>
              <a:t>Predecir la popularidad de canciones en Spotify usando atributos musicales y metadatos.</a:t>
            </a:r>
          </a:p>
          <a:p>
            <a:r>
              <a:rPr lang="es-ES" sz="2200" dirty="0"/>
              <a:t>Minimizar el error (MAPE) para obtener predicciones estables y útiles.</a:t>
            </a:r>
          </a:p>
          <a:p>
            <a:pPr marL="0" indent="0">
              <a:buNone/>
            </a:pPr>
            <a:r>
              <a:rPr lang="es-ES" sz="2200" b="1" dirty="0"/>
              <a:t>Objetivo Principal</a:t>
            </a:r>
            <a:endParaRPr lang="es-ES" sz="2200" dirty="0"/>
          </a:p>
          <a:p>
            <a:r>
              <a:rPr lang="es-ES" sz="2200" dirty="0"/>
              <a:t>Desarrollar un modelo de regresión que prediga </a:t>
            </a:r>
            <a:r>
              <a:rPr lang="es-ES" sz="2200" i="1" dirty="0" err="1"/>
              <a:t>song_popularity</a:t>
            </a:r>
            <a:r>
              <a:rPr lang="es-ES" sz="2200" dirty="0"/>
              <a:t>.</a:t>
            </a:r>
          </a:p>
          <a:p>
            <a:pPr marL="0" indent="0">
              <a:buNone/>
            </a:pPr>
            <a:r>
              <a:rPr lang="es-ES" sz="2200" b="1" dirty="0"/>
              <a:t>Objetivos Secundarios</a:t>
            </a:r>
            <a:endParaRPr lang="es-ES" sz="2200" dirty="0"/>
          </a:p>
          <a:p>
            <a:r>
              <a:rPr lang="es-ES" sz="2200" dirty="0"/>
              <a:t>Identificar qué variables musicales influyen más en la popularidad.</a:t>
            </a:r>
          </a:p>
          <a:p>
            <a:r>
              <a:rPr lang="es-ES" sz="2200" dirty="0"/>
              <a:t>Detectar problemas de calidad del </a:t>
            </a:r>
            <a:r>
              <a:rPr lang="es-ES" sz="2200" dirty="0" err="1"/>
              <a:t>dataset</a:t>
            </a:r>
            <a:r>
              <a:rPr lang="es-ES" sz="2200" dirty="0"/>
              <a:t>.</a:t>
            </a:r>
          </a:p>
          <a:p>
            <a:r>
              <a:rPr lang="es-ES" sz="2200" dirty="0"/>
              <a:t>Proponer mejoras futuras (nuevas variables, ajustes de metodología).</a:t>
            </a:r>
          </a:p>
          <a:p>
            <a:pPr marL="0" indent="0">
              <a:buNone/>
            </a:pPr>
            <a:r>
              <a:rPr lang="es-ES" sz="2200" b="1" dirty="0"/>
              <a:t>Fuentes Externas</a:t>
            </a:r>
            <a:endParaRPr lang="es-ES" sz="2200" dirty="0"/>
          </a:p>
          <a:p>
            <a:r>
              <a:rPr lang="es-ES" sz="2200" dirty="0" err="1"/>
              <a:t>Kaggle</a:t>
            </a:r>
            <a:r>
              <a:rPr lang="es-ES" sz="2200" dirty="0"/>
              <a:t> </a:t>
            </a:r>
            <a:r>
              <a:rPr lang="es-ES" sz="2200" dirty="0" err="1"/>
              <a:t>competition</a:t>
            </a:r>
            <a:r>
              <a:rPr lang="es-ES" sz="2200" dirty="0"/>
              <a:t>: </a:t>
            </a:r>
            <a:r>
              <a:rPr lang="es-ES" sz="2200" dirty="0">
                <a:hlinkClick r:id="rId2"/>
              </a:rPr>
              <a:t>https://www.kaggle.com/competitions/prediccion-de-la-popularidad-de-canciones/overview</a:t>
            </a:r>
            <a:endParaRPr lang="es-ES" sz="2200" dirty="0"/>
          </a:p>
          <a:p>
            <a:r>
              <a:rPr lang="pt-BR" sz="2400" dirty="0"/>
              <a:t>Spotify Web API (atributos </a:t>
            </a:r>
            <a:r>
              <a:rPr lang="pt-BR" sz="2400" dirty="0" err="1"/>
              <a:t>musicales</a:t>
            </a:r>
            <a:r>
              <a:rPr lang="pt-BR" sz="2400" dirty="0"/>
              <a:t>): </a:t>
            </a:r>
            <a:r>
              <a:rPr lang="pt-BR" sz="2400" dirty="0">
                <a:hlinkClick r:id="rId3"/>
              </a:rPr>
              <a:t>https://developer.spotify.com/documentation/web-api</a:t>
            </a:r>
            <a:endParaRPr lang="es-ES" sz="2200" dirty="0"/>
          </a:p>
          <a:p>
            <a:pPr marL="0" indent="0">
              <a:buNone/>
            </a:pPr>
            <a:endParaRPr lang="es-ES" sz="2200" dirty="0"/>
          </a:p>
          <a:p>
            <a:pPr marL="0" indent="0">
              <a:buNone/>
            </a:pPr>
            <a:endParaRPr lang="ca-ES" dirty="0"/>
          </a:p>
        </p:txBody>
      </p:sp>
    </p:spTree>
    <p:extLst>
      <p:ext uri="{BB962C8B-B14F-4D97-AF65-F5344CB8AC3E}">
        <p14:creationId xmlns:p14="http://schemas.microsoft.com/office/powerpoint/2010/main" val="34271833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14E42910-7453-E355-36A6-C6865982AD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56289"/>
            <a:ext cx="5450457" cy="1325563"/>
          </a:xfrm>
        </p:spPr>
        <p:txBody>
          <a:bodyPr/>
          <a:lstStyle/>
          <a:p>
            <a:r>
              <a:rPr lang="ca-ES" dirty="0"/>
              <a:t>ENTENDIMIENTO DE LOS DATOS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97CDA22B-0093-E606-839E-B4E0181FDB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75459"/>
            <a:ext cx="5257800" cy="435133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s-ES" sz="2000" b="1" dirty="0" err="1"/>
              <a:t>Dataset</a:t>
            </a:r>
            <a:endParaRPr lang="es-ES" sz="2000" dirty="0"/>
          </a:p>
          <a:p>
            <a:r>
              <a:rPr lang="es-ES" sz="2000" b="1" u="sng" dirty="0"/>
              <a:t>13.186</a:t>
            </a:r>
            <a:r>
              <a:rPr lang="es-ES" sz="2000" b="1" dirty="0"/>
              <a:t> registros</a:t>
            </a:r>
            <a:endParaRPr lang="es-ES" sz="2000" dirty="0"/>
          </a:p>
          <a:p>
            <a:r>
              <a:rPr lang="es-ES" sz="2000" b="1" dirty="0"/>
              <a:t>15 variables</a:t>
            </a:r>
            <a:r>
              <a:rPr lang="es-ES" sz="2000" dirty="0"/>
              <a:t> (12 cuantitativas, 3 cualitativas)</a:t>
            </a:r>
          </a:p>
          <a:p>
            <a:r>
              <a:rPr lang="es-ES" sz="2000" dirty="0"/>
              <a:t>Fuente: </a:t>
            </a:r>
            <a:r>
              <a:rPr lang="es-ES" sz="2000" i="1" dirty="0"/>
              <a:t>train.csv</a:t>
            </a:r>
            <a:r>
              <a:rPr lang="es-ES" sz="2000" dirty="0"/>
              <a:t> (</a:t>
            </a:r>
            <a:r>
              <a:rPr lang="es-ES" sz="2000" dirty="0" err="1"/>
              <a:t>Kaggle</a:t>
            </a:r>
            <a:r>
              <a:rPr lang="es-ES" sz="2000" dirty="0"/>
              <a:t>)</a:t>
            </a:r>
          </a:p>
          <a:p>
            <a:r>
              <a:rPr lang="es-ES" sz="2000" dirty="0"/>
              <a:t>Alcance: información técnica y musical de </a:t>
            </a:r>
            <a:r>
              <a:rPr lang="es-ES" sz="2000" dirty="0" err="1"/>
              <a:t>tracks</a:t>
            </a: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Calidad de Datos</a:t>
            </a:r>
            <a:endParaRPr lang="es-ES" sz="2000" dirty="0"/>
          </a:p>
          <a:p>
            <a:r>
              <a:rPr lang="es-ES" sz="2000" dirty="0"/>
              <a:t>Sin </a:t>
            </a:r>
            <a:r>
              <a:rPr lang="es-ES" sz="2000" b="1" dirty="0" err="1"/>
              <a:t>missing</a:t>
            </a:r>
            <a:r>
              <a:rPr lang="es-ES" sz="2000" b="1" dirty="0"/>
              <a:t> </a:t>
            </a:r>
            <a:r>
              <a:rPr lang="es-ES" sz="2000" b="1" dirty="0" err="1"/>
              <a:t>values</a:t>
            </a:r>
            <a:r>
              <a:rPr lang="es-ES" sz="2000" dirty="0"/>
              <a:t> relevantes.</a:t>
            </a:r>
          </a:p>
          <a:p>
            <a:r>
              <a:rPr lang="es-ES" sz="2000" dirty="0"/>
              <a:t>Distribuciones correctas para variables ratio (0–1).</a:t>
            </a:r>
          </a:p>
          <a:p>
            <a:r>
              <a:rPr lang="es-ES" sz="2000" dirty="0"/>
              <a:t>Posibles </a:t>
            </a:r>
            <a:r>
              <a:rPr lang="es-ES" sz="2000" b="1" dirty="0" err="1"/>
              <a:t>outliers</a:t>
            </a:r>
            <a:r>
              <a:rPr lang="es-ES" sz="2000" dirty="0"/>
              <a:t> en </a:t>
            </a:r>
            <a:r>
              <a:rPr lang="es-ES" sz="2000" dirty="0" err="1"/>
              <a:t>loudness</a:t>
            </a:r>
            <a:r>
              <a:rPr lang="es-ES" sz="2000" dirty="0"/>
              <a:t>, tempo y </a:t>
            </a:r>
            <a:r>
              <a:rPr lang="es-ES" sz="2000" dirty="0" err="1"/>
              <a:t>duration_ms</a:t>
            </a:r>
            <a:r>
              <a:rPr lang="es-ES" sz="2000" dirty="0"/>
              <a:t>.</a:t>
            </a:r>
          </a:p>
          <a:p>
            <a:r>
              <a:rPr lang="es-ES" sz="2000" dirty="0"/>
              <a:t>Variables categóricas con valores completos y consistentes.</a:t>
            </a:r>
            <a:br>
              <a:rPr lang="es-ES" sz="2000" dirty="0"/>
            </a:br>
            <a:endParaRPr lang="es-ES" sz="2000" dirty="0"/>
          </a:p>
          <a:p>
            <a:pPr marL="0" indent="0">
              <a:buNone/>
            </a:pPr>
            <a:r>
              <a:rPr lang="es-ES" sz="2000" b="1" dirty="0"/>
              <a:t>Fuentes externas (datos)</a:t>
            </a:r>
            <a:endParaRPr lang="es-ES" sz="2000" dirty="0"/>
          </a:p>
          <a:p>
            <a:r>
              <a:rPr lang="es-ES" sz="2000" dirty="0"/>
              <a:t>train.csv (</a:t>
            </a:r>
            <a:r>
              <a:rPr lang="es-ES" sz="2000" dirty="0" err="1"/>
              <a:t>Kaggle</a:t>
            </a:r>
            <a:r>
              <a:rPr lang="es-ES" sz="2000" dirty="0"/>
              <a:t>): </a:t>
            </a:r>
            <a:r>
              <a:rPr lang="es-ES" sz="2000" dirty="0">
                <a:hlinkClick r:id="rId2"/>
              </a:rPr>
              <a:t>https://www.kaggle.com/competitions/prediccion-de-la-popularidad-de-canciones/overview</a:t>
            </a:r>
            <a:endParaRPr lang="es-ES" sz="2000" dirty="0"/>
          </a:p>
          <a:p>
            <a:r>
              <a:rPr lang="es-ES" sz="2000" dirty="0"/>
              <a:t>Documentación de atributos Spotify API: </a:t>
            </a:r>
            <a:r>
              <a:rPr lang="es-ES" sz="2000" dirty="0">
                <a:hlinkClick r:id="rId3"/>
              </a:rPr>
              <a:t>https://developer.spotify.com/documentation/web-api</a:t>
            </a:r>
            <a:endParaRPr lang="es-ES" sz="2000" dirty="0"/>
          </a:p>
          <a:p>
            <a:endParaRPr lang="es-ES" sz="2000" dirty="0"/>
          </a:p>
          <a:p>
            <a:pPr marL="0" indent="0">
              <a:buNone/>
            </a:pPr>
            <a:endParaRPr lang="ca-ES" dirty="0"/>
          </a:p>
        </p:txBody>
      </p:sp>
      <p:graphicFrame>
        <p:nvGraphicFramePr>
          <p:cNvPr id="4" name="Taula 3">
            <a:extLst>
              <a:ext uri="{FF2B5EF4-FFF2-40B4-BE49-F238E27FC236}">
                <a16:creationId xmlns:a16="http://schemas.microsoft.com/office/drawing/2014/main" id="{EAA95477-6E64-8DE7-633E-DB7BB148C65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12503030"/>
              </p:ext>
            </p:extLst>
          </p:nvPr>
        </p:nvGraphicFramePr>
        <p:xfrm>
          <a:off x="6359700" y="156289"/>
          <a:ext cx="5691404" cy="65454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851">
                  <a:extLst>
                    <a:ext uri="{9D8B030D-6E8A-4147-A177-3AD203B41FA5}">
                      <a16:colId xmlns:a16="http://schemas.microsoft.com/office/drawing/2014/main" val="523535755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2874694208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3077830386"/>
                    </a:ext>
                  </a:extLst>
                </a:gridCol>
                <a:gridCol w="1422851">
                  <a:extLst>
                    <a:ext uri="{9D8B030D-6E8A-4147-A177-3AD203B41FA5}">
                      <a16:colId xmlns:a16="http://schemas.microsoft.com/office/drawing/2014/main" val="868079831"/>
                    </a:ext>
                  </a:extLst>
                </a:gridCol>
              </a:tblGrid>
              <a:tr h="2788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Variable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Tipo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Descripción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Rango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665458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song_popularity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Popularidad objetivo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08382237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danceability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Ritmo y facilidad para bailar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01487083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Intensidad y actividad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201001"/>
                  </a:ext>
                </a:extLst>
              </a:tr>
              <a:tr h="2847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valence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Positividad emocional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62973398"/>
                  </a:ext>
                </a:extLst>
              </a:tr>
              <a:tr h="51777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liveness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performance en vivo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7549386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acousticness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r>
                        <a:rPr lang="es-ES" sz="1200" dirty="0"/>
                        <a:t>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Probabilidad de ser acústica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9493698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instrumentalness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Probabilidad de no tener voz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59265884"/>
                  </a:ext>
                </a:extLst>
              </a:tr>
              <a:tr h="3982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speechiness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 (0–1)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Cantidad de palabras habladas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66241798"/>
                  </a:ext>
                </a:extLst>
              </a:tr>
              <a:tr h="1708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loudness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Nivel 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-60–0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559792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tempo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BPM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88832266"/>
                  </a:ext>
                </a:extLst>
              </a:tr>
              <a:tr h="33186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duration_ms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Num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Duración en 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variable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23134939"/>
                  </a:ext>
                </a:extLst>
              </a:tr>
              <a:tr h="47408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mode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Modo mayor/</a:t>
                      </a:r>
                      <a:r>
                        <a:rPr lang="es-ES" sz="1200" dirty="0" err="1"/>
                        <a:t>minor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0–1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65168997"/>
                  </a:ext>
                </a:extLst>
              </a:tr>
              <a:tr h="18963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key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Tonalidad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-1–11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656964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time_signature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Cat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Compás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/>
                        <a:t>3–7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60571512"/>
                  </a:ext>
                </a:extLst>
              </a:tr>
              <a:tr h="3986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 err="1"/>
                        <a:t>Num</a:t>
                      </a:r>
                      <a:endParaRPr lang="es-E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Identificador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s-ES" sz="1200" dirty="0"/>
                        <a:t>1–13186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554777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273247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D7E3799F-CE92-A2BC-0C09-96BF51B64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FRAMEWORK METODOLÓGICO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90535EB-0C1F-9D94-D931-11BCB927A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2698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9C0711A-8F6C-0F12-CA6D-38BDEE3256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1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C09E49-2314-CAAE-DB9C-8B5A3BC098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6899976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E9B8266C-E5D5-BEA2-10F3-12B0836E40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EDA 2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45B5C86D-5C1E-8905-982E-884180FDCA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86812916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60C7F03-56CA-CA3B-1FA5-95D63F512C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58AFD39-2AE6-3D17-B6E4-5E8CA14488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148344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C9215775-B83B-FABB-7999-31CAA06ABF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Missings</a:t>
            </a:r>
            <a:r>
              <a:rPr lang="ca-ES" dirty="0"/>
              <a:t> y </a:t>
            </a:r>
            <a:r>
              <a:rPr lang="ca-ES" dirty="0" err="1"/>
              <a:t>Outliers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2DD47E32-EF7A-4F1C-B6BD-DAB29A43D5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146852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ABDAD233-203F-7C0A-15A4-B4D2118C1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7C53B1F1-06EF-F5A9-6BEE-AE3F23B7F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089086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BA339733-BE23-C979-E416-868828601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Feature</a:t>
            </a:r>
            <a:r>
              <a:rPr lang="ca-ES" dirty="0"/>
              <a:t> </a:t>
            </a:r>
            <a:r>
              <a:rPr lang="ca-ES" dirty="0" err="1"/>
              <a:t>Engineering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CB79518-0958-33D4-E9B0-09B749824C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2379201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7200"/>
            <a:ext cx="10515600" cy="1325563"/>
          </a:xfrm>
        </p:spPr>
        <p:txBody>
          <a:bodyPr>
            <a:normAutofit/>
          </a:bodyPr>
          <a:lstStyle/>
          <a:p>
            <a:r>
              <a:rPr lang="ca-ES" sz="3600" dirty="0"/>
              <a:t>ASSOCITATION RULES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09" y="1473286"/>
            <a:ext cx="9287312" cy="2572816"/>
          </a:xfrm>
        </p:spPr>
        <p:txBody>
          <a:bodyPr>
            <a:normAutofit/>
          </a:bodyPr>
          <a:lstStyle/>
          <a:p>
            <a:pPr algn="just"/>
            <a:r>
              <a:rPr lang="ca-ES" sz="1600" dirty="0"/>
              <a:t>Al </a:t>
            </a:r>
            <a:r>
              <a:rPr lang="es-ES_tradnl" sz="1600" dirty="0"/>
              <a:t>realizar</a:t>
            </a:r>
            <a:r>
              <a:rPr lang="es-ES" sz="1600" dirty="0"/>
              <a:t> un análisis de </a:t>
            </a:r>
            <a:r>
              <a:rPr lang="es-ES" sz="1600" i="1" dirty="0" err="1"/>
              <a:t>association</a:t>
            </a:r>
            <a:r>
              <a:rPr lang="es-ES" sz="1600" i="1" dirty="0"/>
              <a:t> rules </a:t>
            </a:r>
            <a:r>
              <a:rPr lang="es-ES" sz="1600" dirty="0"/>
              <a:t>con nuestros datos</a:t>
            </a:r>
            <a:r>
              <a:rPr lang="ca-ES" sz="1600" dirty="0"/>
              <a:t> </a:t>
            </a:r>
            <a:r>
              <a:rPr lang="es-ES" sz="1600" dirty="0"/>
              <a:t>pretendíamos</a:t>
            </a:r>
            <a:r>
              <a:rPr lang="ca-ES" sz="1600" dirty="0"/>
              <a:t> identificar patrones entre </a:t>
            </a:r>
            <a:r>
              <a:rPr lang="es-ES" sz="1600" dirty="0"/>
              <a:t>elementos</a:t>
            </a:r>
            <a:r>
              <a:rPr lang="ca-ES" sz="1600" dirty="0"/>
              <a:t>. Para </a:t>
            </a:r>
            <a:r>
              <a:rPr lang="es-ES" sz="1600" dirty="0"/>
              <a:t>ello</a:t>
            </a:r>
            <a:r>
              <a:rPr lang="ca-ES" sz="1600" dirty="0"/>
              <a:t> </a:t>
            </a:r>
            <a:r>
              <a:rPr lang="es-ES_tradnl" sz="1600" dirty="0"/>
              <a:t>primeramente</a:t>
            </a:r>
            <a:r>
              <a:rPr lang="ca-ES" sz="1600" dirty="0"/>
              <a:t> </a:t>
            </a:r>
            <a:r>
              <a:rPr lang="es-ES_tradnl" sz="1600" dirty="0"/>
              <a:t>debíamos</a:t>
            </a:r>
            <a:r>
              <a:rPr lang="ca-ES" sz="1600" dirty="0"/>
              <a:t> transformar </a:t>
            </a:r>
            <a:r>
              <a:rPr lang="es-ES" sz="1600" dirty="0"/>
              <a:t>nuestros</a:t>
            </a:r>
            <a:r>
              <a:rPr lang="ca-ES" sz="1600" dirty="0"/>
              <a:t> </a:t>
            </a:r>
            <a:r>
              <a:rPr lang="es-ES" sz="1600" noProof="1"/>
              <a:t>datos</a:t>
            </a:r>
            <a:r>
              <a:rPr lang="ca-ES" sz="1600" dirty="0"/>
              <a:t> para </a:t>
            </a:r>
            <a:r>
              <a:rPr lang="es-ES" sz="1600" dirty="0"/>
              <a:t>obtener</a:t>
            </a:r>
            <a:r>
              <a:rPr lang="ca-ES" sz="1600" dirty="0"/>
              <a:t> una base transaccional. </a:t>
            </a:r>
          </a:p>
          <a:p>
            <a:pPr algn="just"/>
            <a:r>
              <a:rPr lang="es-ES" sz="1600" dirty="0"/>
              <a:t>Para ello dividimos todas las variables numéricas en 3 intervalos de igual dimensión absoluta y eliminamos variables (</a:t>
            </a:r>
            <a:r>
              <a:rPr lang="es-ES" sz="1600" i="1" dirty="0" err="1"/>
              <a:t>prob_major</a:t>
            </a:r>
            <a:r>
              <a:rPr lang="es-ES" sz="1600" dirty="0"/>
              <a:t> y </a:t>
            </a:r>
            <a:r>
              <a:rPr lang="es-ES" sz="1600" i="1" dirty="0" err="1"/>
              <a:t>outlier_weight</a:t>
            </a:r>
            <a:r>
              <a:rPr lang="es-ES" sz="1600" dirty="0"/>
              <a:t>) que anteriormente habíamos creado pero que no aportan información en este análisis. A partir de estos cambios convertimos los datos al formato adecuado, una matriz transaccional. Como resultado cada transacción (canción) queda reflejada en el formato de la derecha:</a:t>
            </a:r>
          </a:p>
          <a:p>
            <a:pPr algn="just"/>
            <a:r>
              <a:rPr lang="es-ES" sz="1600" dirty="0"/>
              <a:t>En relación a la creación de reglas, tras múltiples combinaciones hemos decidido conservar los dos siguientes análisis:</a:t>
            </a:r>
          </a:p>
        </p:txBody>
      </p:sp>
      <p:pic>
        <p:nvPicPr>
          <p:cNvPr id="5" name="Imatge 4">
            <a:extLst>
              <a:ext uri="{FF2B5EF4-FFF2-40B4-BE49-F238E27FC236}">
                <a16:creationId xmlns:a16="http://schemas.microsoft.com/office/drawing/2014/main" id="{45FD14DD-2719-481B-9B1C-647A9DE7F9F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24"/>
          <a:stretch/>
        </p:blipFill>
        <p:spPr>
          <a:xfrm>
            <a:off x="10016173" y="1473286"/>
            <a:ext cx="1912125" cy="2438740"/>
          </a:xfrm>
          <a:prstGeom prst="rect">
            <a:avLst/>
          </a:prstGeom>
        </p:spPr>
      </p:pic>
      <p:pic>
        <p:nvPicPr>
          <p:cNvPr id="13" name="Imatge 12">
            <a:extLst>
              <a:ext uri="{FF2B5EF4-FFF2-40B4-BE49-F238E27FC236}">
                <a16:creationId xmlns:a16="http://schemas.microsoft.com/office/drawing/2014/main" id="{04395F3E-8302-4915-9244-4D6270B1916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36156"/>
          <a:stretch/>
        </p:blipFill>
        <p:spPr>
          <a:xfrm>
            <a:off x="1136637" y="4989401"/>
            <a:ext cx="3705742" cy="790655"/>
          </a:xfrm>
          <a:prstGeom prst="rect">
            <a:avLst/>
          </a:prstGeom>
        </p:spPr>
      </p:pic>
      <p:sp>
        <p:nvSpPr>
          <p:cNvPr id="14" name="Contenidor de contingut 2">
            <a:extLst>
              <a:ext uri="{FF2B5EF4-FFF2-40B4-BE49-F238E27FC236}">
                <a16:creationId xmlns:a16="http://schemas.microsoft.com/office/drawing/2014/main" id="{D6AEF809-3C15-415A-80D0-C9A24221B095}"/>
              </a:ext>
            </a:extLst>
          </p:cNvPr>
          <p:cNvSpPr txBox="1">
            <a:spLocks/>
          </p:cNvSpPr>
          <p:nvPr/>
        </p:nvSpPr>
        <p:spPr>
          <a:xfrm>
            <a:off x="1097031" y="3975707"/>
            <a:ext cx="3705742" cy="2129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sz="1600" dirty="0"/>
              <a:t>-El primero se determina con un soporte y una confianza mínima de 0.05 y 0.07 respectivamente. Tras eliminar reglas redundantes resulta en un total de 4715.</a:t>
            </a:r>
          </a:p>
        </p:txBody>
      </p:sp>
      <p:sp>
        <p:nvSpPr>
          <p:cNvPr id="15" name="Contenidor de contingut 2">
            <a:extLst>
              <a:ext uri="{FF2B5EF4-FFF2-40B4-BE49-F238E27FC236}">
                <a16:creationId xmlns:a16="http://schemas.microsoft.com/office/drawing/2014/main" id="{10092007-3757-46F4-8B3F-B875F8AC6D49}"/>
              </a:ext>
            </a:extLst>
          </p:cNvPr>
          <p:cNvSpPr txBox="1">
            <a:spLocks/>
          </p:cNvSpPr>
          <p:nvPr/>
        </p:nvSpPr>
        <p:spPr>
          <a:xfrm>
            <a:off x="5536358" y="3975707"/>
            <a:ext cx="3705742" cy="2129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sz="1600" dirty="0"/>
              <a:t>-El segundo se determina con un suporte y una confianza mínima de 0.35 y 0.9 respectivamente. Tras eliminar reglas redundantes resulta en un total de 292</a:t>
            </a:r>
          </a:p>
        </p:txBody>
      </p:sp>
      <p:pic>
        <p:nvPicPr>
          <p:cNvPr id="17" name="Imatge 16">
            <a:extLst>
              <a:ext uri="{FF2B5EF4-FFF2-40B4-BE49-F238E27FC236}">
                <a16:creationId xmlns:a16="http://schemas.microsoft.com/office/drawing/2014/main" id="{BB4A12F4-1148-492F-9AD8-AE5A69E5EE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75964" y="4989371"/>
            <a:ext cx="3439005" cy="790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468259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7200"/>
            <a:ext cx="10515600" cy="1325563"/>
          </a:xfrm>
        </p:spPr>
        <p:txBody>
          <a:bodyPr>
            <a:normAutofit/>
          </a:bodyPr>
          <a:lstStyle/>
          <a:p>
            <a:r>
              <a:rPr lang="ca-ES" sz="3600" dirty="0"/>
              <a:t>ASSOCITATION RULES (</a:t>
            </a:r>
            <a:r>
              <a:rPr lang="ca-ES" sz="3600" dirty="0" err="1"/>
              <a:t>acabr</a:t>
            </a:r>
            <a:r>
              <a:rPr lang="ca-ES" sz="3600" dirty="0"/>
              <a:t> de comentar)</a:t>
            </a:r>
          </a:p>
        </p:txBody>
      </p:sp>
      <p:sp>
        <p:nvSpPr>
          <p:cNvPr id="14" name="Contenidor de contingut 2">
            <a:extLst>
              <a:ext uri="{FF2B5EF4-FFF2-40B4-BE49-F238E27FC236}">
                <a16:creationId xmlns:a16="http://schemas.microsoft.com/office/drawing/2014/main" id="{D6AEF809-3C15-415A-80D0-C9A24221B095}"/>
              </a:ext>
            </a:extLst>
          </p:cNvPr>
          <p:cNvSpPr txBox="1">
            <a:spLocks/>
          </p:cNvSpPr>
          <p:nvPr/>
        </p:nvSpPr>
        <p:spPr>
          <a:xfrm>
            <a:off x="838200" y="1492565"/>
            <a:ext cx="4698158" cy="212992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sz="1600" dirty="0"/>
              <a:t>·Siguiendo con el primer análisis, vemos que las reglas con mayor </a:t>
            </a:r>
            <a:r>
              <a:rPr lang="es-ES" sz="1600" i="1" dirty="0" err="1"/>
              <a:t>lift</a:t>
            </a:r>
            <a:r>
              <a:rPr lang="es-ES" sz="1600" dirty="0"/>
              <a:t> son aquelles que explican</a:t>
            </a:r>
          </a:p>
        </p:txBody>
      </p:sp>
      <p:sp>
        <p:nvSpPr>
          <p:cNvPr id="15" name="Contenidor de contingut 2">
            <a:extLst>
              <a:ext uri="{FF2B5EF4-FFF2-40B4-BE49-F238E27FC236}">
                <a16:creationId xmlns:a16="http://schemas.microsoft.com/office/drawing/2014/main" id="{10092007-3757-46F4-8B3F-B875F8AC6D49}"/>
              </a:ext>
            </a:extLst>
          </p:cNvPr>
          <p:cNvSpPr txBox="1">
            <a:spLocks/>
          </p:cNvSpPr>
          <p:nvPr/>
        </p:nvSpPr>
        <p:spPr>
          <a:xfrm>
            <a:off x="6096000" y="1492565"/>
            <a:ext cx="4698157" cy="21299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just">
              <a:buNone/>
            </a:pPr>
            <a:r>
              <a:rPr lang="es-ES" sz="1600" dirty="0"/>
              <a:t>-El segundo se determina con un suporte y una confianza mínima de 0.35 y 0.9 respectivamente. Tras eliminar reglas redundantes resulta en un total de 292</a:t>
            </a:r>
          </a:p>
        </p:txBody>
      </p:sp>
      <p:pic>
        <p:nvPicPr>
          <p:cNvPr id="8" name="Imatge 7">
            <a:extLst>
              <a:ext uri="{FF2B5EF4-FFF2-40B4-BE49-F238E27FC236}">
                <a16:creationId xmlns:a16="http://schemas.microsoft.com/office/drawing/2014/main" id="{3EA69892-F245-4A57-8B58-551475F3A9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2164359"/>
            <a:ext cx="4596422" cy="1921161"/>
          </a:xfrm>
          <a:prstGeom prst="rect">
            <a:avLst/>
          </a:prstGeom>
        </p:spPr>
      </p:pic>
      <p:pic>
        <p:nvPicPr>
          <p:cNvPr id="12" name="Imatge 11">
            <a:extLst>
              <a:ext uri="{FF2B5EF4-FFF2-40B4-BE49-F238E27FC236}">
                <a16:creationId xmlns:a16="http://schemas.microsoft.com/office/drawing/2014/main" id="{FBABD963-B57D-4086-84EB-2D2BF93AC1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2341391"/>
            <a:ext cx="4597127" cy="1458821"/>
          </a:xfrm>
          <a:prstGeom prst="rect">
            <a:avLst/>
          </a:prstGeom>
        </p:spPr>
      </p:pic>
      <p:pic>
        <p:nvPicPr>
          <p:cNvPr id="18" name="Imatge 17">
            <a:extLst>
              <a:ext uri="{FF2B5EF4-FFF2-40B4-BE49-F238E27FC236}">
                <a16:creationId xmlns:a16="http://schemas.microsoft.com/office/drawing/2014/main" id="{5E3C6E78-0A6E-40B0-95A2-B12D2D716C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4009958"/>
            <a:ext cx="3299827" cy="2129924"/>
          </a:xfrm>
          <a:prstGeom prst="rect">
            <a:avLst/>
          </a:prstGeom>
        </p:spPr>
      </p:pic>
      <p:pic>
        <p:nvPicPr>
          <p:cNvPr id="21" name="Imatge 20">
            <a:extLst>
              <a:ext uri="{FF2B5EF4-FFF2-40B4-BE49-F238E27FC236}">
                <a16:creationId xmlns:a16="http://schemas.microsoft.com/office/drawing/2014/main" id="{EF18A939-5ABF-45B1-804D-4E126CD89C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08" y="4358980"/>
            <a:ext cx="3083475" cy="1965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643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7FE225D6-96A5-6882-75E3-43C223984C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77200"/>
            <a:ext cx="10515600" cy="1325563"/>
          </a:xfrm>
        </p:spPr>
        <p:txBody>
          <a:bodyPr>
            <a:normAutofit/>
          </a:bodyPr>
          <a:lstStyle/>
          <a:p>
            <a:r>
              <a:rPr lang="ca-ES" sz="3600" dirty="0"/>
              <a:t>ASSOCITATION RULES</a:t>
            </a:r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656CBB04-2387-1479-CB3A-FE475A1252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8808" y="1473286"/>
            <a:ext cx="10515599" cy="2572816"/>
          </a:xfrm>
        </p:spPr>
        <p:txBody>
          <a:bodyPr>
            <a:normAutofit/>
          </a:bodyPr>
          <a:lstStyle/>
          <a:p>
            <a:pPr algn="just"/>
            <a:r>
              <a:rPr lang="ca-ES" sz="1600" dirty="0" err="1"/>
              <a:t>Finalimente</a:t>
            </a:r>
            <a:r>
              <a:rPr lang="ca-ES" sz="1600" dirty="0"/>
              <a:t> hemos </a:t>
            </a:r>
            <a:r>
              <a:rPr lang="ca-ES" sz="1600" dirty="0" err="1"/>
              <a:t>realizado</a:t>
            </a:r>
            <a:r>
              <a:rPr lang="ca-ES" sz="1600" dirty="0"/>
              <a:t> </a:t>
            </a:r>
            <a:r>
              <a:rPr lang="ca-ES" sz="1600" dirty="0" err="1"/>
              <a:t>también</a:t>
            </a:r>
            <a:r>
              <a:rPr lang="ca-ES" sz="1600" dirty="0"/>
              <a:t> un </a:t>
            </a:r>
            <a:r>
              <a:rPr lang="ca-ES" sz="1600" dirty="0" err="1"/>
              <a:t>análisi</a:t>
            </a:r>
            <a:r>
              <a:rPr lang="ca-ES" sz="1600" dirty="0"/>
              <a:t> </a:t>
            </a:r>
            <a:r>
              <a:rPr lang="ca-ES" sz="1600" dirty="0" err="1"/>
              <a:t>enfocado</a:t>
            </a:r>
            <a:r>
              <a:rPr lang="ca-ES" sz="1600" dirty="0"/>
              <a:t> a la </a:t>
            </a:r>
            <a:r>
              <a:rPr lang="ca-ES" sz="1600" dirty="0" err="1"/>
              <a:t>popularidad</a:t>
            </a:r>
            <a:r>
              <a:rPr lang="ca-ES" sz="1600" dirty="0"/>
              <a:t>, </a:t>
            </a:r>
            <a:r>
              <a:rPr lang="ca-ES" sz="1600" dirty="0" err="1"/>
              <a:t>nuestra</a:t>
            </a:r>
            <a:r>
              <a:rPr lang="ca-ES" sz="1600" dirty="0"/>
              <a:t> variable objectivo. </a:t>
            </a:r>
          </a:p>
          <a:p>
            <a:pPr algn="just"/>
            <a:r>
              <a:rPr lang="ca-ES" sz="1600" dirty="0"/>
              <a:t>Explicar que el suport i el </a:t>
            </a:r>
            <a:r>
              <a:rPr lang="ca-ES" sz="1600" dirty="0" err="1"/>
              <a:t>confidence</a:t>
            </a:r>
            <a:r>
              <a:rPr lang="ca-ES" sz="1600" dirty="0"/>
              <a:t> ha de ser baix per començar a trobar </a:t>
            </a:r>
            <a:r>
              <a:rPr lang="ca-ES" sz="1600" dirty="0" err="1"/>
              <a:t>rules</a:t>
            </a:r>
            <a:r>
              <a:rPr lang="ca-ES" sz="1600" dirty="0"/>
              <a:t> que </a:t>
            </a:r>
            <a:r>
              <a:rPr lang="ca-ES" sz="1600" dirty="0" err="1"/>
              <a:t>explquin</a:t>
            </a:r>
            <a:r>
              <a:rPr lang="ca-ES" sz="1600" dirty="0"/>
              <a:t> </a:t>
            </a:r>
            <a:r>
              <a:rPr lang="ca-ES" sz="1600" dirty="0" err="1"/>
              <a:t>song</a:t>
            </a:r>
            <a:br>
              <a:rPr lang="ca-ES" sz="1600" dirty="0"/>
            </a:br>
            <a:r>
              <a:rPr lang="ca-ES" sz="1600" dirty="0"/>
              <a:t>_pop (tant </a:t>
            </a:r>
            <a:r>
              <a:rPr lang="ca-ES" sz="1600" dirty="0" err="1"/>
              <a:t>high</a:t>
            </a:r>
            <a:r>
              <a:rPr lang="ca-ES" sz="1600" dirty="0"/>
              <a:t> com </a:t>
            </a:r>
            <a:r>
              <a:rPr lang="ca-ES" sz="1600" dirty="0" err="1"/>
              <a:t>low</a:t>
            </a:r>
            <a:r>
              <a:rPr lang="ca-ES" sz="1600" dirty="0"/>
              <a:t>). Podem trobar </a:t>
            </a:r>
            <a:r>
              <a:rPr lang="ca-ES" sz="1600" dirty="0" err="1"/>
              <a:t>rules</a:t>
            </a:r>
            <a:r>
              <a:rPr lang="ca-ES" sz="1600" dirty="0"/>
              <a:t> amb major </a:t>
            </a:r>
            <a:r>
              <a:rPr lang="ca-ES" sz="1600" dirty="0" err="1"/>
              <a:t>confidence</a:t>
            </a:r>
            <a:r>
              <a:rPr lang="ca-ES" sz="1600" dirty="0"/>
              <a:t> però llavors suport ha de ser encara molt més baix.</a:t>
            </a:r>
            <a:endParaRPr lang="es-ES" sz="1600" dirty="0"/>
          </a:p>
        </p:txBody>
      </p:sp>
      <p:pic>
        <p:nvPicPr>
          <p:cNvPr id="6" name="Imatge 5">
            <a:extLst>
              <a:ext uri="{FF2B5EF4-FFF2-40B4-BE49-F238E27FC236}">
                <a16:creationId xmlns:a16="http://schemas.microsoft.com/office/drawing/2014/main" id="{1B846CC0-C56B-4138-8BBD-DCA557E10D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808" y="3232231"/>
            <a:ext cx="6906589" cy="1086002"/>
          </a:xfrm>
          <a:prstGeom prst="rect">
            <a:avLst/>
          </a:prstGeom>
        </p:spPr>
      </p:pic>
      <p:pic>
        <p:nvPicPr>
          <p:cNvPr id="8" name="Imatge 7">
            <a:extLst>
              <a:ext uri="{FF2B5EF4-FFF2-40B4-BE49-F238E27FC236}">
                <a16:creationId xmlns:a16="http://schemas.microsoft.com/office/drawing/2014/main" id="{37B2CE45-6D89-414D-A2D5-A50B02BD65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10" y="2888652"/>
            <a:ext cx="7421011" cy="142895"/>
          </a:xfrm>
          <a:prstGeom prst="rect">
            <a:avLst/>
          </a:prstGeom>
        </p:spPr>
      </p:pic>
      <p:pic>
        <p:nvPicPr>
          <p:cNvPr id="10" name="Imatge 9">
            <a:extLst>
              <a:ext uri="{FF2B5EF4-FFF2-40B4-BE49-F238E27FC236}">
                <a16:creationId xmlns:a16="http://schemas.microsoft.com/office/drawing/2014/main" id="{4C5E1C17-BC6F-4CF2-ADAF-AF577998DE7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808" y="4346844"/>
            <a:ext cx="5143152" cy="2075739"/>
          </a:xfrm>
          <a:prstGeom prst="rect">
            <a:avLst/>
          </a:prstGeom>
        </p:spPr>
      </p:pic>
      <p:pic>
        <p:nvPicPr>
          <p:cNvPr id="12" name="Imatge 11">
            <a:extLst>
              <a:ext uri="{FF2B5EF4-FFF2-40B4-BE49-F238E27FC236}">
                <a16:creationId xmlns:a16="http://schemas.microsoft.com/office/drawing/2014/main" id="{B399E611-67E0-4F2A-957B-3AAE32A057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32202" y="4246786"/>
            <a:ext cx="3086237" cy="1978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878133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26F8249-4057-A1B6-D24B-4F8C6D09B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Preparación</a:t>
            </a:r>
            <a:r>
              <a:rPr lang="ca-ES" dirty="0"/>
              <a:t> para el </a:t>
            </a:r>
            <a:r>
              <a:rPr lang="ca-ES" dirty="0" err="1"/>
              <a:t>modelado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33CB87B-B723-62D3-F721-B0EF0252D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20280209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0DD33024-7E2F-19C8-8180-13323C4ADF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ABC7C7E8-B4C4-93D1-C547-35BDADFB75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5329391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FAB87C2-CBC7-4CB6-1DD9-4EB3CF409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/>
              <a:t>KNN y </a:t>
            </a:r>
            <a:r>
              <a:rPr lang="ca-ES" dirty="0" err="1"/>
              <a:t>Naive</a:t>
            </a:r>
            <a:r>
              <a:rPr lang="ca-ES" dirty="0"/>
              <a:t> </a:t>
            </a:r>
            <a:r>
              <a:rPr lang="ca-ES" dirty="0" err="1"/>
              <a:t>Bayes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6D4A93A-E060-BC58-DB75-57FC8FCA63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71539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ol 1">
            <a:extLst>
              <a:ext uri="{FF2B5EF4-FFF2-40B4-BE49-F238E27FC236}">
                <a16:creationId xmlns:a16="http://schemas.microsoft.com/office/drawing/2014/main" id="{5B8151BF-4BC5-A36A-76CA-0669F59707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ca-ES" dirty="0" err="1"/>
              <a:t>Conclusiones</a:t>
            </a:r>
            <a:r>
              <a:rPr lang="ca-ES" dirty="0"/>
              <a:t> y </a:t>
            </a:r>
            <a:r>
              <a:rPr lang="ca-ES" dirty="0" err="1"/>
              <a:t>proximos</a:t>
            </a:r>
            <a:r>
              <a:rPr lang="ca-ES" dirty="0"/>
              <a:t> </a:t>
            </a:r>
            <a:r>
              <a:rPr lang="ca-ES" dirty="0" err="1"/>
              <a:t>pasos</a:t>
            </a:r>
            <a:endParaRPr lang="ca-ES" dirty="0"/>
          </a:p>
        </p:txBody>
      </p:sp>
      <p:sp>
        <p:nvSpPr>
          <p:cNvPr id="3" name="Contenidor de contingut 2">
            <a:extLst>
              <a:ext uri="{FF2B5EF4-FFF2-40B4-BE49-F238E27FC236}">
                <a16:creationId xmlns:a16="http://schemas.microsoft.com/office/drawing/2014/main" id="{B78B9F8F-42AE-77BD-C6EA-C1776209179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ca-ES"/>
          </a:p>
        </p:txBody>
      </p:sp>
    </p:spTree>
    <p:extLst>
      <p:ext uri="{BB962C8B-B14F-4D97-AF65-F5344CB8AC3E}">
        <p14:creationId xmlns:p14="http://schemas.microsoft.com/office/powerpoint/2010/main" val="345520563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l'Office">
  <a:themeElements>
    <a:clrScheme name="Oficina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icina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icin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990</TotalTime>
  <Words>665</Words>
  <Application>Microsoft Office PowerPoint</Application>
  <PresentationFormat>Pantalla panoràmica</PresentationFormat>
  <Paragraphs>115</Paragraphs>
  <Slides>17</Slides>
  <Notes>0</Notes>
  <HiddenSlides>0</HiddenSlides>
  <MMClips>0</MMClips>
  <ScaleCrop>false</ScaleCrop>
  <HeadingPairs>
    <vt:vector size="6" baseType="variant">
      <vt:variant>
        <vt:lpstr>Tipus de lletra utilitzats</vt:lpstr>
      </vt:variant>
      <vt:variant>
        <vt:i4>3</vt:i4>
      </vt:variant>
      <vt:variant>
        <vt:lpstr>Tema</vt:lpstr>
      </vt:variant>
      <vt:variant>
        <vt:i4>1</vt:i4>
      </vt:variant>
      <vt:variant>
        <vt:lpstr>Títols de les diapositives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Tema de l'Office</vt:lpstr>
      <vt:lpstr>PORTADA</vt:lpstr>
      <vt:lpstr>ENTENDIMIENTO DEL NEGOCIO</vt:lpstr>
      <vt:lpstr>ENTENDIMIENTO DE LOS DATOS</vt:lpstr>
      <vt:lpstr>FRAMEWORK METODOLÓGICO</vt:lpstr>
      <vt:lpstr>EDA 1</vt:lpstr>
      <vt:lpstr>EDA 2</vt:lpstr>
      <vt:lpstr>Missings y Outliers</vt:lpstr>
      <vt:lpstr>Missings y Outliers</vt:lpstr>
      <vt:lpstr>Feature Engineering</vt:lpstr>
      <vt:lpstr>Feature Engineering</vt:lpstr>
      <vt:lpstr>ASSOCITATION RULES</vt:lpstr>
      <vt:lpstr>ASSOCITATION RULES (acabr de comentar)</vt:lpstr>
      <vt:lpstr>ASSOCITATION RULES</vt:lpstr>
      <vt:lpstr>Preparación para el modelado</vt:lpstr>
      <vt:lpstr>KNN y Naive Bayes</vt:lpstr>
      <vt:lpstr>KNN y Naive Bayes</vt:lpstr>
      <vt:lpstr>Conclusiones y proximos pasos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PORTADA</dc:title>
  <dc:creator>IKER MARIA MONTES</dc:creator>
  <cp:lastModifiedBy>Usuario de Windows</cp:lastModifiedBy>
  <cp:revision>11</cp:revision>
  <dcterms:created xsi:type="dcterms:W3CDTF">2025-11-09T14:38:01Z</dcterms:created>
  <dcterms:modified xsi:type="dcterms:W3CDTF">2025-11-10T08:54:04Z</dcterms:modified>
</cp:coreProperties>
</file>