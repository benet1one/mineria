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73" r:id="rId14"/>
    <p:sldId id="268" r:id="rId15"/>
    <p:sldId id="269" r:id="rId16"/>
    <p:sldId id="270" r:id="rId17"/>
    <p:sldId id="271"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 mitjà 2 - èmfasi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A29714D-2B8A-EAFC-206A-D4845180B770}"/>
              </a:ext>
            </a:extLst>
          </p:cNvPr>
          <p:cNvSpPr>
            <a:spLocks noGrp="1"/>
          </p:cNvSpPr>
          <p:nvPr>
            <p:ph type="ctrTitle"/>
          </p:nvPr>
        </p:nvSpPr>
        <p:spPr>
          <a:xfrm>
            <a:off x="1524000" y="1122363"/>
            <a:ext cx="9144000" cy="2387600"/>
          </a:xfrm>
        </p:spPr>
        <p:txBody>
          <a:bodyPr anchor="b"/>
          <a:lstStyle>
            <a:lvl1pPr algn="ctr">
              <a:defRPr sz="6000"/>
            </a:lvl1pPr>
          </a:lstStyle>
          <a:p>
            <a:r>
              <a:rPr lang="ca-ES"/>
              <a:t>Feu clic aquí per editar l'estil</a:t>
            </a:r>
          </a:p>
        </p:txBody>
      </p:sp>
      <p:sp>
        <p:nvSpPr>
          <p:cNvPr id="3" name="Subtítol 2">
            <a:extLst>
              <a:ext uri="{FF2B5EF4-FFF2-40B4-BE49-F238E27FC236}">
                <a16:creationId xmlns:a16="http://schemas.microsoft.com/office/drawing/2014/main" id="{8675AC7F-3F75-37C3-A625-7B3C194C60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a-ES"/>
              <a:t>Feu clic aquí per editar l'estil de subtítols del patró</a:t>
            </a:r>
          </a:p>
        </p:txBody>
      </p:sp>
      <p:sp>
        <p:nvSpPr>
          <p:cNvPr id="4" name="Contenidor de data 3">
            <a:extLst>
              <a:ext uri="{FF2B5EF4-FFF2-40B4-BE49-F238E27FC236}">
                <a16:creationId xmlns:a16="http://schemas.microsoft.com/office/drawing/2014/main" id="{E74B5179-3DEA-451D-F1A7-240CFFC05826}"/>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1A551AD4-90F7-2BBE-B8CA-39A874B7B094}"/>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AFCA420-994D-029D-7405-F21FC789045A}"/>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1225175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ol i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59684A3-AACE-FF77-15D6-17C68EEAC103}"/>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32BB2663-E42E-BD64-6F58-FE3C7365A1B9}"/>
              </a:ext>
            </a:extLst>
          </p:cNvPr>
          <p:cNvSpPr>
            <a:spLocks noGrp="1"/>
          </p:cNvSpPr>
          <p:nvPr>
            <p:ph idx="1"/>
          </p:nvPr>
        </p:nvSpPr>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C75D6770-F375-2F69-B4E1-ED0171F2AEB8}"/>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4C672929-C886-D18A-F947-2C4CBE9194D6}"/>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ECA1018-2075-4C0B-FAFF-0872D14A0BB0}"/>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1134755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pçalera de la sec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FB0B85A-F966-4DF1-B9A1-939932B71955}"/>
              </a:ext>
            </a:extLst>
          </p:cNvPr>
          <p:cNvSpPr>
            <a:spLocks noGrp="1"/>
          </p:cNvSpPr>
          <p:nvPr>
            <p:ph type="title"/>
          </p:nvPr>
        </p:nvSpPr>
        <p:spPr>
          <a:xfrm>
            <a:off x="831850" y="1709738"/>
            <a:ext cx="10515600" cy="2852737"/>
          </a:xfrm>
        </p:spPr>
        <p:txBody>
          <a:bodyPr anchor="b"/>
          <a:lstStyle>
            <a:lvl1pPr>
              <a:defRPr sz="6000"/>
            </a:lvl1pPr>
          </a:lstStyle>
          <a:p>
            <a:r>
              <a:rPr lang="ca-ES"/>
              <a:t>Feu clic aquí per editar l'estil</a:t>
            </a:r>
          </a:p>
        </p:txBody>
      </p:sp>
      <p:sp>
        <p:nvSpPr>
          <p:cNvPr id="3" name="Contenidor de text 2">
            <a:extLst>
              <a:ext uri="{FF2B5EF4-FFF2-40B4-BE49-F238E27FC236}">
                <a16:creationId xmlns:a16="http://schemas.microsoft.com/office/drawing/2014/main" id="{FACD047A-04FC-625D-04C6-F4F130026D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a-ES"/>
              <a:t>Feu clic per editar els estils del text del patró</a:t>
            </a:r>
          </a:p>
        </p:txBody>
      </p:sp>
      <p:sp>
        <p:nvSpPr>
          <p:cNvPr id="4" name="Contenidor de data 3">
            <a:extLst>
              <a:ext uri="{FF2B5EF4-FFF2-40B4-BE49-F238E27FC236}">
                <a16:creationId xmlns:a16="http://schemas.microsoft.com/office/drawing/2014/main" id="{3FF6D24D-E6EE-3022-F2CE-94828A3F0660}"/>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3222BC23-6EA5-5FD8-188F-367B49687EFE}"/>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C03AABD9-A1AD-F855-2635-A81337637A4F}"/>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52880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B212CDE-9FF5-F303-19F3-F824D529563E}"/>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43E7CE53-3838-AB79-D076-15F223B57B93}"/>
              </a:ext>
            </a:extLst>
          </p:cNvPr>
          <p:cNvSpPr>
            <a:spLocks noGrp="1"/>
          </p:cNvSpPr>
          <p:nvPr>
            <p:ph sz="half" idx="1"/>
          </p:nvPr>
        </p:nvSpPr>
        <p:spPr>
          <a:xfrm>
            <a:off x="838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contingut 3">
            <a:extLst>
              <a:ext uri="{FF2B5EF4-FFF2-40B4-BE49-F238E27FC236}">
                <a16:creationId xmlns:a16="http://schemas.microsoft.com/office/drawing/2014/main" id="{C6F24B35-E0CC-9CBF-D582-B8406A77770E}"/>
              </a:ext>
            </a:extLst>
          </p:cNvPr>
          <p:cNvSpPr>
            <a:spLocks noGrp="1"/>
          </p:cNvSpPr>
          <p:nvPr>
            <p:ph sz="half" idx="2"/>
          </p:nvPr>
        </p:nvSpPr>
        <p:spPr>
          <a:xfrm>
            <a:off x="6172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data 4">
            <a:extLst>
              <a:ext uri="{FF2B5EF4-FFF2-40B4-BE49-F238E27FC236}">
                <a16:creationId xmlns:a16="http://schemas.microsoft.com/office/drawing/2014/main" id="{7C2C9EC4-F619-1168-780C-984202203B0D}"/>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4F3E343A-AE05-748D-0423-16F8929861E9}"/>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2D50E1FF-5019-0CC2-209A-EAA97105D656}"/>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8504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93A549C1-2B29-CC33-B451-AE12DD3B4FD3}"/>
              </a:ext>
            </a:extLst>
          </p:cNvPr>
          <p:cNvSpPr>
            <a:spLocks noGrp="1"/>
          </p:cNvSpPr>
          <p:nvPr>
            <p:ph type="title"/>
          </p:nvPr>
        </p:nvSpPr>
        <p:spPr>
          <a:xfrm>
            <a:off x="839788" y="365125"/>
            <a:ext cx="10515600" cy="1325563"/>
          </a:xfrm>
        </p:spPr>
        <p:txBody>
          <a:bodyPr/>
          <a:lstStyle/>
          <a:p>
            <a:r>
              <a:rPr lang="ca-ES"/>
              <a:t>Feu clic aquí per editar l'estil</a:t>
            </a:r>
          </a:p>
        </p:txBody>
      </p:sp>
      <p:sp>
        <p:nvSpPr>
          <p:cNvPr id="3" name="Contenidor de text 2">
            <a:extLst>
              <a:ext uri="{FF2B5EF4-FFF2-40B4-BE49-F238E27FC236}">
                <a16:creationId xmlns:a16="http://schemas.microsoft.com/office/drawing/2014/main" id="{7A7638ED-7330-F7A1-6BF9-A7713EE3F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4" name="Contenidor de contingut 3">
            <a:extLst>
              <a:ext uri="{FF2B5EF4-FFF2-40B4-BE49-F238E27FC236}">
                <a16:creationId xmlns:a16="http://schemas.microsoft.com/office/drawing/2014/main" id="{D81B9C43-3C00-2A99-0154-90E365529222}"/>
              </a:ext>
            </a:extLst>
          </p:cNvPr>
          <p:cNvSpPr>
            <a:spLocks noGrp="1"/>
          </p:cNvSpPr>
          <p:nvPr>
            <p:ph sz="half" idx="2"/>
          </p:nvPr>
        </p:nvSpPr>
        <p:spPr>
          <a:xfrm>
            <a:off x="839788" y="2505075"/>
            <a:ext cx="5157787"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text 4">
            <a:extLst>
              <a:ext uri="{FF2B5EF4-FFF2-40B4-BE49-F238E27FC236}">
                <a16:creationId xmlns:a16="http://schemas.microsoft.com/office/drawing/2014/main" id="{EE42454D-3D1E-9BC8-E0D6-4EFAB385B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6" name="Contenidor de contingut 5">
            <a:extLst>
              <a:ext uri="{FF2B5EF4-FFF2-40B4-BE49-F238E27FC236}">
                <a16:creationId xmlns:a16="http://schemas.microsoft.com/office/drawing/2014/main" id="{95DF7220-4A63-1A05-7241-5A360AC43CF0}"/>
              </a:ext>
            </a:extLst>
          </p:cNvPr>
          <p:cNvSpPr>
            <a:spLocks noGrp="1"/>
          </p:cNvSpPr>
          <p:nvPr>
            <p:ph sz="quarter" idx="4"/>
          </p:nvPr>
        </p:nvSpPr>
        <p:spPr>
          <a:xfrm>
            <a:off x="6172200" y="2505075"/>
            <a:ext cx="5183188"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7" name="Contenidor de data 6">
            <a:extLst>
              <a:ext uri="{FF2B5EF4-FFF2-40B4-BE49-F238E27FC236}">
                <a16:creationId xmlns:a16="http://schemas.microsoft.com/office/drawing/2014/main" id="{5E99A236-B43A-E812-54CC-95B756F74987}"/>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8" name="Contenidor de peu de pàgina 7">
            <a:extLst>
              <a:ext uri="{FF2B5EF4-FFF2-40B4-BE49-F238E27FC236}">
                <a16:creationId xmlns:a16="http://schemas.microsoft.com/office/drawing/2014/main" id="{04804633-34A0-BC73-6D31-4F7DF4CEDABC}"/>
              </a:ext>
            </a:extLst>
          </p:cNvPr>
          <p:cNvSpPr>
            <a:spLocks noGrp="1"/>
          </p:cNvSpPr>
          <p:nvPr>
            <p:ph type="ftr" sz="quarter" idx="11"/>
          </p:nvPr>
        </p:nvSpPr>
        <p:spPr/>
        <p:txBody>
          <a:bodyPr/>
          <a:lstStyle/>
          <a:p>
            <a:endParaRPr lang="ca-ES"/>
          </a:p>
        </p:txBody>
      </p:sp>
      <p:sp>
        <p:nvSpPr>
          <p:cNvPr id="9" name="Contenidor de número de diapositiva 8">
            <a:extLst>
              <a:ext uri="{FF2B5EF4-FFF2-40B4-BE49-F238E27FC236}">
                <a16:creationId xmlns:a16="http://schemas.microsoft.com/office/drawing/2014/main" id="{2C475C08-4ED9-C8B4-D553-71A5585421D5}"/>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1145870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omés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93F88BC-9D88-2FC1-5DF9-06DB0C0FECEE}"/>
              </a:ext>
            </a:extLst>
          </p:cNvPr>
          <p:cNvSpPr>
            <a:spLocks noGrp="1"/>
          </p:cNvSpPr>
          <p:nvPr>
            <p:ph type="title"/>
          </p:nvPr>
        </p:nvSpPr>
        <p:spPr/>
        <p:txBody>
          <a:bodyPr/>
          <a:lstStyle/>
          <a:p>
            <a:r>
              <a:rPr lang="ca-ES"/>
              <a:t>Feu clic aquí per editar l'estil</a:t>
            </a:r>
          </a:p>
        </p:txBody>
      </p:sp>
      <p:sp>
        <p:nvSpPr>
          <p:cNvPr id="3" name="Contenidor de data 2">
            <a:extLst>
              <a:ext uri="{FF2B5EF4-FFF2-40B4-BE49-F238E27FC236}">
                <a16:creationId xmlns:a16="http://schemas.microsoft.com/office/drawing/2014/main" id="{0CB7C43F-ADE3-C327-B30A-9591156AD7EB}"/>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4" name="Contenidor de peu de pàgina 3">
            <a:extLst>
              <a:ext uri="{FF2B5EF4-FFF2-40B4-BE49-F238E27FC236}">
                <a16:creationId xmlns:a16="http://schemas.microsoft.com/office/drawing/2014/main" id="{4C826A2F-052C-8AD2-E107-8344E7A8BA5D}"/>
              </a:ext>
            </a:extLst>
          </p:cNvPr>
          <p:cNvSpPr>
            <a:spLocks noGrp="1"/>
          </p:cNvSpPr>
          <p:nvPr>
            <p:ph type="ftr" sz="quarter" idx="11"/>
          </p:nvPr>
        </p:nvSpPr>
        <p:spPr/>
        <p:txBody>
          <a:bodyPr/>
          <a:lstStyle/>
          <a:p>
            <a:endParaRPr lang="ca-ES"/>
          </a:p>
        </p:txBody>
      </p:sp>
      <p:sp>
        <p:nvSpPr>
          <p:cNvPr id="5" name="Contenidor de número de diapositiva 4">
            <a:extLst>
              <a:ext uri="{FF2B5EF4-FFF2-40B4-BE49-F238E27FC236}">
                <a16:creationId xmlns:a16="http://schemas.microsoft.com/office/drawing/2014/main" id="{CD9AE553-CA43-E8B2-3EA4-1F85979CD123}"/>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85103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
    <p:spTree>
      <p:nvGrpSpPr>
        <p:cNvPr id="1" name=""/>
        <p:cNvGrpSpPr/>
        <p:nvPr/>
      </p:nvGrpSpPr>
      <p:grpSpPr>
        <a:xfrm>
          <a:off x="0" y="0"/>
          <a:ext cx="0" cy="0"/>
          <a:chOff x="0" y="0"/>
          <a:chExt cx="0" cy="0"/>
        </a:xfrm>
      </p:grpSpPr>
      <p:sp>
        <p:nvSpPr>
          <p:cNvPr id="2" name="Contenidor de data 1">
            <a:extLst>
              <a:ext uri="{FF2B5EF4-FFF2-40B4-BE49-F238E27FC236}">
                <a16:creationId xmlns:a16="http://schemas.microsoft.com/office/drawing/2014/main" id="{D9D32662-D559-377E-661D-A5E1C58F9709}"/>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3" name="Contenidor de peu de pàgina 2">
            <a:extLst>
              <a:ext uri="{FF2B5EF4-FFF2-40B4-BE49-F238E27FC236}">
                <a16:creationId xmlns:a16="http://schemas.microsoft.com/office/drawing/2014/main" id="{479CA6C3-81F7-AFE0-5C3D-41E6CA722EFD}"/>
              </a:ext>
            </a:extLst>
          </p:cNvPr>
          <p:cNvSpPr>
            <a:spLocks noGrp="1"/>
          </p:cNvSpPr>
          <p:nvPr>
            <p:ph type="ftr" sz="quarter" idx="11"/>
          </p:nvPr>
        </p:nvSpPr>
        <p:spPr/>
        <p:txBody>
          <a:bodyPr/>
          <a:lstStyle/>
          <a:p>
            <a:endParaRPr lang="ca-ES"/>
          </a:p>
        </p:txBody>
      </p:sp>
      <p:sp>
        <p:nvSpPr>
          <p:cNvPr id="4" name="Contenidor de número de diapositiva 3">
            <a:extLst>
              <a:ext uri="{FF2B5EF4-FFF2-40B4-BE49-F238E27FC236}">
                <a16:creationId xmlns:a16="http://schemas.microsoft.com/office/drawing/2014/main" id="{0AA555E0-09B2-01B1-73F3-1CEE65BF1A84}"/>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5132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ingut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2D38EB64-EEDD-5A52-AC60-44CF542EBE6D}"/>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e contingut 2">
            <a:extLst>
              <a:ext uri="{FF2B5EF4-FFF2-40B4-BE49-F238E27FC236}">
                <a16:creationId xmlns:a16="http://schemas.microsoft.com/office/drawing/2014/main" id="{5B7C4C07-554E-45EA-A52C-84D3DB66A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text 3">
            <a:extLst>
              <a:ext uri="{FF2B5EF4-FFF2-40B4-BE49-F238E27FC236}">
                <a16:creationId xmlns:a16="http://schemas.microsoft.com/office/drawing/2014/main" id="{31D705F0-8C5B-A026-949C-0E87198B3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49BC92E8-22A6-FAE9-2E66-14F9D96F4EE7}"/>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D2C7483F-D403-CF9D-3D01-AE01052CB92C}"/>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F2351E33-4728-1D7D-554E-063DF33CCA50}"/>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3417142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tge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569E56F-981F-6127-E9F0-8E45783E8D58}"/>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imatge 2">
            <a:extLst>
              <a:ext uri="{FF2B5EF4-FFF2-40B4-BE49-F238E27FC236}">
                <a16:creationId xmlns:a16="http://schemas.microsoft.com/office/drawing/2014/main" id="{DED04847-20B5-E86C-29C4-9784D65165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a-ES"/>
          </a:p>
        </p:txBody>
      </p:sp>
      <p:sp>
        <p:nvSpPr>
          <p:cNvPr id="4" name="Contenidor de text 3">
            <a:extLst>
              <a:ext uri="{FF2B5EF4-FFF2-40B4-BE49-F238E27FC236}">
                <a16:creationId xmlns:a16="http://schemas.microsoft.com/office/drawing/2014/main" id="{08B0837D-5214-85AF-5597-B2E369261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20501F75-7C6A-7CF8-1D13-A3CEA29FCD20}"/>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F83820CB-C629-7BB5-9A8E-52D3B68BC07F}"/>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9A23E9BC-9540-0EE4-15D4-4AED02A7AC50}"/>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29744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ol i text vertica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FA7E26A-E180-22CC-8112-B098553871CD}"/>
              </a:ext>
            </a:extLst>
          </p:cNvPr>
          <p:cNvSpPr>
            <a:spLocks noGrp="1"/>
          </p:cNvSpPr>
          <p:nvPr>
            <p:ph type="title"/>
          </p:nvPr>
        </p:nvSpPr>
        <p:spPr/>
        <p:txBody>
          <a:bodyPr/>
          <a:lstStyle/>
          <a:p>
            <a:r>
              <a:rPr lang="ca-ES"/>
              <a:t>Feu clic aquí per editar l'estil</a:t>
            </a:r>
          </a:p>
        </p:txBody>
      </p:sp>
      <p:sp>
        <p:nvSpPr>
          <p:cNvPr id="3" name="Contenidor de text vertical 2">
            <a:extLst>
              <a:ext uri="{FF2B5EF4-FFF2-40B4-BE49-F238E27FC236}">
                <a16:creationId xmlns:a16="http://schemas.microsoft.com/office/drawing/2014/main" id="{1FEC636E-0A8D-D501-5DE6-13855A10BFAD}"/>
              </a:ext>
            </a:extLst>
          </p:cNvPr>
          <p:cNvSpPr>
            <a:spLocks noGrp="1"/>
          </p:cNvSpPr>
          <p:nvPr>
            <p:ph type="body" orient="vert" idx="1"/>
          </p:nvPr>
        </p:nvSpPr>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00969A95-50F3-542B-5C9D-03D702533B8B}"/>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07A384CC-CF57-C51B-7C8C-BB84A29A4E3A}"/>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ABB8C07D-B2FC-2280-C08E-14FE37EB5B78}"/>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369735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ol vertical i text">
    <p:spTree>
      <p:nvGrpSpPr>
        <p:cNvPr id="1" name=""/>
        <p:cNvGrpSpPr/>
        <p:nvPr/>
      </p:nvGrpSpPr>
      <p:grpSpPr>
        <a:xfrm>
          <a:off x="0" y="0"/>
          <a:ext cx="0" cy="0"/>
          <a:chOff x="0" y="0"/>
          <a:chExt cx="0" cy="0"/>
        </a:xfrm>
      </p:grpSpPr>
      <p:sp>
        <p:nvSpPr>
          <p:cNvPr id="2" name="Títol vertical 1">
            <a:extLst>
              <a:ext uri="{FF2B5EF4-FFF2-40B4-BE49-F238E27FC236}">
                <a16:creationId xmlns:a16="http://schemas.microsoft.com/office/drawing/2014/main" id="{456CE0C4-FAD3-10F6-8F58-50B6783B2D0C}"/>
              </a:ext>
            </a:extLst>
          </p:cNvPr>
          <p:cNvSpPr>
            <a:spLocks noGrp="1"/>
          </p:cNvSpPr>
          <p:nvPr>
            <p:ph type="title" orient="vert"/>
          </p:nvPr>
        </p:nvSpPr>
        <p:spPr>
          <a:xfrm>
            <a:off x="8724900" y="365125"/>
            <a:ext cx="2628900" cy="5811838"/>
          </a:xfrm>
        </p:spPr>
        <p:txBody>
          <a:bodyPr vert="eaVert"/>
          <a:lstStyle/>
          <a:p>
            <a:r>
              <a:rPr lang="ca-ES"/>
              <a:t>Feu clic aquí per editar l'estil</a:t>
            </a:r>
          </a:p>
        </p:txBody>
      </p:sp>
      <p:sp>
        <p:nvSpPr>
          <p:cNvPr id="3" name="Contenidor de text vertical 2">
            <a:extLst>
              <a:ext uri="{FF2B5EF4-FFF2-40B4-BE49-F238E27FC236}">
                <a16:creationId xmlns:a16="http://schemas.microsoft.com/office/drawing/2014/main" id="{79F4F802-C3A3-9BA8-5C41-3012A0E1EC3E}"/>
              </a:ext>
            </a:extLst>
          </p:cNvPr>
          <p:cNvSpPr>
            <a:spLocks noGrp="1"/>
          </p:cNvSpPr>
          <p:nvPr>
            <p:ph type="body" orient="vert" idx="1"/>
          </p:nvPr>
        </p:nvSpPr>
        <p:spPr>
          <a:xfrm>
            <a:off x="838200" y="365125"/>
            <a:ext cx="7734300" cy="5811838"/>
          </a:xfrm>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83D7FAAE-E579-8979-BF16-72CF24C0573E}"/>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F5CB72A9-71FC-5408-5DA4-13D9034D71BB}"/>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58B35684-76E5-DDCE-AC2B-1EF0D793C7CE}"/>
              </a:ext>
            </a:extLst>
          </p:cNvPr>
          <p:cNvSpPr>
            <a:spLocks noGrp="1"/>
          </p:cNvSpPr>
          <p:nvPr>
            <p:ph type="sldNum" sz="quarter" idx="12"/>
          </p:nvPr>
        </p:nvSpPr>
        <p:spPr/>
        <p:txBody>
          <a:bodyPr/>
          <a:lstStyle/>
          <a:p>
            <a:fld id="{5A6F2B2A-F973-4D6E-A5A1-2124751B0C8B}" type="slidenum">
              <a:rPr lang="ca-ES" smtClean="0"/>
              <a:t>‹N›</a:t>
            </a:fld>
            <a:endParaRPr lang="ca-ES"/>
          </a:p>
        </p:txBody>
      </p:sp>
    </p:spTree>
    <p:extLst>
      <p:ext uri="{BB962C8B-B14F-4D97-AF65-F5344CB8AC3E}">
        <p14:creationId xmlns:p14="http://schemas.microsoft.com/office/powerpoint/2010/main" val="202280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idor de títol 1">
            <a:extLst>
              <a:ext uri="{FF2B5EF4-FFF2-40B4-BE49-F238E27FC236}">
                <a16:creationId xmlns:a16="http://schemas.microsoft.com/office/drawing/2014/main" id="{FA40E8C6-B781-BAC8-7B39-9EE25B8ED9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a-ES"/>
              <a:t>Feu clic aquí per editar l'estil</a:t>
            </a:r>
          </a:p>
        </p:txBody>
      </p:sp>
      <p:sp>
        <p:nvSpPr>
          <p:cNvPr id="3" name="Contenidor de text 2">
            <a:extLst>
              <a:ext uri="{FF2B5EF4-FFF2-40B4-BE49-F238E27FC236}">
                <a16:creationId xmlns:a16="http://schemas.microsoft.com/office/drawing/2014/main" id="{8F45CB7E-D175-9992-36DE-48C1D5BE3B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19D6C467-6FEE-9DFE-FE59-1E761D72A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A73C2953-F674-0D10-BE7A-9FD813433C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a-ES"/>
          </a:p>
        </p:txBody>
      </p:sp>
      <p:sp>
        <p:nvSpPr>
          <p:cNvPr id="6" name="Contenidor de número de diapositiva 5">
            <a:extLst>
              <a:ext uri="{FF2B5EF4-FFF2-40B4-BE49-F238E27FC236}">
                <a16:creationId xmlns:a16="http://schemas.microsoft.com/office/drawing/2014/main" id="{DCC1D091-1DFF-FC03-BA13-ACE048E6A1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F2B2A-F973-4D6E-A5A1-2124751B0C8B}" type="slidenum">
              <a:rPr lang="ca-ES" smtClean="0"/>
              <a:t>‹N›</a:t>
            </a:fld>
            <a:endParaRPr lang="ca-ES"/>
          </a:p>
        </p:txBody>
      </p:sp>
    </p:spTree>
    <p:extLst>
      <p:ext uri="{BB962C8B-B14F-4D97-AF65-F5344CB8AC3E}">
        <p14:creationId xmlns:p14="http://schemas.microsoft.com/office/powerpoint/2010/main" val="2194671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benet1one/Mineria" TargetMode="External"/><Relationship Id="rId2" Type="http://schemas.openxmlformats.org/officeDocument/2006/relationships/hyperlink" Target="mailto:davide.rota@estudiantat.upc.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3E88293-82B5-0F75-ADAD-D3AD34FCBE0E}"/>
              </a:ext>
            </a:extLst>
          </p:cNvPr>
          <p:cNvSpPr>
            <a:spLocks noGrp="1"/>
          </p:cNvSpPr>
          <p:nvPr>
            <p:ph type="ctrTitle"/>
          </p:nvPr>
        </p:nvSpPr>
        <p:spPr>
          <a:xfrm>
            <a:off x="1524000" y="381837"/>
            <a:ext cx="9144000" cy="1078262"/>
          </a:xfrm>
        </p:spPr>
        <p:txBody>
          <a:bodyPr/>
          <a:lstStyle/>
          <a:p>
            <a:r>
              <a:rPr lang="ca-ES" dirty="0"/>
              <a:t>PORTADA</a:t>
            </a:r>
          </a:p>
        </p:txBody>
      </p:sp>
      <p:sp>
        <p:nvSpPr>
          <p:cNvPr id="3" name="Subtítol 2">
            <a:extLst>
              <a:ext uri="{FF2B5EF4-FFF2-40B4-BE49-F238E27FC236}">
                <a16:creationId xmlns:a16="http://schemas.microsoft.com/office/drawing/2014/main" id="{33BDF99F-C81A-EBF3-B1B3-39467C604284}"/>
              </a:ext>
            </a:extLst>
          </p:cNvPr>
          <p:cNvSpPr>
            <a:spLocks noGrp="1"/>
          </p:cNvSpPr>
          <p:nvPr>
            <p:ph type="subTitle" idx="1"/>
          </p:nvPr>
        </p:nvSpPr>
        <p:spPr>
          <a:xfrm>
            <a:off x="1524000" y="1758462"/>
            <a:ext cx="9144000" cy="4371033"/>
          </a:xfrm>
        </p:spPr>
        <p:txBody>
          <a:bodyPr>
            <a:normAutofit/>
          </a:bodyPr>
          <a:lstStyle/>
          <a:p>
            <a:r>
              <a:rPr lang="ca-ES" sz="2000" dirty="0"/>
              <a:t>Group 03, ID Kaggle: Grupo 03</a:t>
            </a:r>
          </a:p>
          <a:p>
            <a:pPr algn="l"/>
            <a:endParaRPr lang="ca-ES" sz="2000" dirty="0"/>
          </a:p>
          <a:p>
            <a:pPr algn="l"/>
            <a:r>
              <a:rPr lang="it-IT" sz="2000" dirty="0"/>
              <a:t>Garcia </a:t>
            </a:r>
            <a:r>
              <a:rPr lang="it-IT" sz="2000" dirty="0" err="1"/>
              <a:t>Garcia</a:t>
            </a:r>
            <a:r>
              <a:rPr lang="it-IT" sz="2000" dirty="0"/>
              <a:t>, Bernat - </a:t>
            </a:r>
          </a:p>
          <a:p>
            <a:pPr algn="l"/>
            <a:r>
              <a:rPr lang="it-IT" sz="2000" dirty="0"/>
              <a:t>Maria </a:t>
            </a:r>
            <a:r>
              <a:rPr lang="it-IT" sz="2000" dirty="0" err="1"/>
              <a:t>Montés</a:t>
            </a:r>
            <a:r>
              <a:rPr lang="it-IT" sz="2000" dirty="0"/>
              <a:t>, Iker - </a:t>
            </a:r>
          </a:p>
          <a:p>
            <a:pPr algn="l"/>
            <a:r>
              <a:rPr lang="it-IT" sz="2000" dirty="0"/>
              <a:t>Rota, Davide  - </a:t>
            </a:r>
            <a:r>
              <a:rPr lang="it-IT" sz="2000" dirty="0">
                <a:hlinkClick r:id="rId2"/>
              </a:rPr>
              <a:t>davide.rota@estudiantat.upc.edu</a:t>
            </a:r>
            <a:r>
              <a:rPr lang="it-IT" sz="2000" dirty="0"/>
              <a:t> (</a:t>
            </a:r>
            <a:r>
              <a:rPr lang="it-IT" sz="2000" dirty="0" err="1"/>
              <a:t>currently</a:t>
            </a:r>
            <a:r>
              <a:rPr lang="it-IT" sz="2000" dirty="0"/>
              <a:t> </a:t>
            </a:r>
            <a:r>
              <a:rPr lang="it-IT" sz="2000" dirty="0" err="1"/>
              <a:t>at</a:t>
            </a:r>
            <a:r>
              <a:rPr lang="it-IT" sz="2000" dirty="0"/>
              <a:t> MESIO, UPC)</a:t>
            </a:r>
          </a:p>
          <a:p>
            <a:pPr algn="l"/>
            <a:r>
              <a:rPr lang="it-IT" sz="2000" dirty="0" err="1"/>
              <a:t>Tobella</a:t>
            </a:r>
            <a:r>
              <a:rPr lang="it-IT" sz="2000" dirty="0"/>
              <a:t> </a:t>
            </a:r>
            <a:r>
              <a:rPr lang="it-IT" sz="2000" dirty="0" err="1"/>
              <a:t>Jacomet</a:t>
            </a:r>
            <a:r>
              <a:rPr lang="it-IT" sz="2000" dirty="0"/>
              <a:t>, Pol - </a:t>
            </a:r>
            <a:endParaRPr lang="ca-ES" sz="2000" dirty="0"/>
          </a:p>
          <a:p>
            <a:pPr algn="l"/>
            <a:endParaRPr lang="ca-ES" sz="2000" dirty="0"/>
          </a:p>
          <a:p>
            <a:pPr algn="l"/>
            <a:r>
              <a:rPr lang="ca-ES" sz="2000" dirty="0"/>
              <a:t>GitHub link: </a:t>
            </a:r>
            <a:r>
              <a:rPr lang="ca-ES" sz="2000" dirty="0">
                <a:hlinkClick r:id="rId3"/>
              </a:rPr>
              <a:t>https://github.com/benet1one/Mineria</a:t>
            </a:r>
            <a:endParaRPr lang="ca-ES" sz="2000" dirty="0"/>
          </a:p>
          <a:p>
            <a:endParaRPr lang="ca-ES" dirty="0"/>
          </a:p>
        </p:txBody>
      </p:sp>
    </p:spTree>
    <p:extLst>
      <p:ext uri="{BB962C8B-B14F-4D97-AF65-F5344CB8AC3E}">
        <p14:creationId xmlns:p14="http://schemas.microsoft.com/office/powerpoint/2010/main" val="1851389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679FA6BF-6CE1-C1A1-3759-11DA52CE0879}"/>
              </a:ext>
            </a:extLst>
          </p:cNvPr>
          <p:cNvSpPr>
            <a:spLocks noGrp="1"/>
          </p:cNvSpPr>
          <p:nvPr>
            <p:ph type="title"/>
          </p:nvPr>
        </p:nvSpPr>
        <p:spPr/>
        <p:txBody>
          <a:bodyPr/>
          <a:lstStyle/>
          <a:p>
            <a:r>
              <a:rPr lang="ca-ES" dirty="0"/>
              <a:t>ENTENDIMIENTO DEL NEGOCIO</a:t>
            </a:r>
          </a:p>
        </p:txBody>
      </p:sp>
      <p:sp>
        <p:nvSpPr>
          <p:cNvPr id="3" name="Contenidor de contingut 2">
            <a:extLst>
              <a:ext uri="{FF2B5EF4-FFF2-40B4-BE49-F238E27FC236}">
                <a16:creationId xmlns:a16="http://schemas.microsoft.com/office/drawing/2014/main" id="{C65C45E8-7975-F60E-7BCF-F68582BD99D3}"/>
              </a:ext>
            </a:extLst>
          </p:cNvPr>
          <p:cNvSpPr>
            <a:spLocks noGrp="1"/>
          </p:cNvSpPr>
          <p:nvPr>
            <p:ph idx="1"/>
          </p:nvPr>
        </p:nvSpPr>
        <p:spPr>
          <a:xfrm>
            <a:off x="838200" y="1405001"/>
            <a:ext cx="10515600" cy="5087874"/>
          </a:xfrm>
        </p:spPr>
        <p:txBody>
          <a:bodyPr>
            <a:normAutofit fontScale="92500" lnSpcReduction="10000"/>
          </a:bodyPr>
          <a:lstStyle/>
          <a:p>
            <a:pPr marL="0" indent="0">
              <a:buNone/>
            </a:pPr>
            <a:r>
              <a:rPr lang="es-ES" sz="2200" b="1" dirty="0"/>
              <a:t>Problema</a:t>
            </a:r>
            <a:endParaRPr lang="es-ES" sz="2200" dirty="0"/>
          </a:p>
          <a:p>
            <a:r>
              <a:rPr lang="es-ES" sz="2200" dirty="0"/>
              <a:t>Predecir la popularidad de canciones en Spotify usando atributos musicales y metadatos.</a:t>
            </a:r>
          </a:p>
          <a:p>
            <a:r>
              <a:rPr lang="es-ES" sz="2200" dirty="0"/>
              <a:t>Minimizar el error (MAPE) para obtener predicciones estables y útiles.</a:t>
            </a:r>
          </a:p>
          <a:p>
            <a:pPr marL="0" indent="0">
              <a:buNone/>
            </a:pPr>
            <a:r>
              <a:rPr lang="es-ES" sz="2200" b="1" dirty="0"/>
              <a:t>Objetivo Principal</a:t>
            </a:r>
            <a:endParaRPr lang="es-ES" sz="2200" dirty="0"/>
          </a:p>
          <a:p>
            <a:r>
              <a:rPr lang="es-ES" sz="2200" dirty="0"/>
              <a:t>Desarrollar un modelo de regresión que prediga </a:t>
            </a:r>
            <a:r>
              <a:rPr lang="es-ES" sz="2200" i="1" dirty="0" err="1"/>
              <a:t>song_popularity</a:t>
            </a:r>
            <a:r>
              <a:rPr lang="es-ES" sz="2200" dirty="0"/>
              <a:t>.</a:t>
            </a:r>
          </a:p>
          <a:p>
            <a:pPr marL="0" indent="0">
              <a:buNone/>
            </a:pPr>
            <a:r>
              <a:rPr lang="es-ES" sz="2200" b="1" dirty="0"/>
              <a:t>Objetivos Secundarios</a:t>
            </a:r>
            <a:endParaRPr lang="es-ES" sz="2200" dirty="0"/>
          </a:p>
          <a:p>
            <a:r>
              <a:rPr lang="es-ES" sz="2200" dirty="0"/>
              <a:t>Identificar qué variables musicales influyen más en la popularidad.</a:t>
            </a:r>
          </a:p>
          <a:p>
            <a:r>
              <a:rPr lang="es-ES" sz="2200" dirty="0"/>
              <a:t>Detectar problemas de calidad del </a:t>
            </a:r>
            <a:r>
              <a:rPr lang="es-ES" sz="2200" dirty="0" err="1"/>
              <a:t>dataset</a:t>
            </a:r>
            <a:r>
              <a:rPr lang="es-ES" sz="2200" dirty="0"/>
              <a:t>.</a:t>
            </a:r>
          </a:p>
          <a:p>
            <a:r>
              <a:rPr lang="es-ES" sz="2200" dirty="0"/>
              <a:t>Proponer mejoras futuras (nuevas variables, ajustes de metodología).</a:t>
            </a:r>
          </a:p>
          <a:p>
            <a:pPr marL="0" indent="0">
              <a:buNone/>
            </a:pPr>
            <a:r>
              <a:rPr lang="es-ES" sz="2200" b="1" dirty="0"/>
              <a:t>Fuentes Externas</a:t>
            </a:r>
            <a:endParaRPr lang="es-ES" sz="2200" dirty="0"/>
          </a:p>
          <a:p>
            <a:r>
              <a:rPr lang="es-ES" sz="2200" dirty="0" err="1"/>
              <a:t>Kaggle</a:t>
            </a:r>
            <a:r>
              <a:rPr lang="es-ES" sz="2200" dirty="0"/>
              <a:t> </a:t>
            </a:r>
            <a:r>
              <a:rPr lang="es-ES" sz="2200" dirty="0" err="1"/>
              <a:t>competition</a:t>
            </a:r>
            <a:r>
              <a:rPr lang="es-ES" sz="2200" dirty="0"/>
              <a:t>: </a:t>
            </a:r>
            <a:r>
              <a:rPr lang="es-ES" sz="2200" dirty="0">
                <a:hlinkClick r:id="rId2"/>
              </a:rPr>
              <a:t>https://www.kaggle.com/competitions/prediccion-de-la-popularidad-de-canciones/overview</a:t>
            </a:r>
            <a:endParaRPr lang="es-ES" sz="2200" dirty="0"/>
          </a:p>
          <a:p>
            <a:r>
              <a:rPr lang="pt-BR" sz="2400" dirty="0"/>
              <a:t>Spotify Web API (atributos </a:t>
            </a:r>
            <a:r>
              <a:rPr lang="pt-BR" sz="2400" dirty="0" err="1"/>
              <a:t>musicales</a:t>
            </a:r>
            <a:r>
              <a:rPr lang="pt-BR" sz="2400" dirty="0"/>
              <a:t>): </a:t>
            </a:r>
            <a:r>
              <a:rPr lang="pt-BR" sz="2400" dirty="0">
                <a:hlinkClick r:id="rId3"/>
              </a:rPr>
              <a:t>https://developer.spotify.com/documentation/web-api</a:t>
            </a:r>
            <a:endParaRPr lang="es-ES" sz="2200" dirty="0"/>
          </a:p>
          <a:p>
            <a:pPr marL="0" indent="0">
              <a:buNone/>
            </a:pPr>
            <a:endParaRPr lang="es-ES" sz="2200" dirty="0"/>
          </a:p>
          <a:p>
            <a:pPr marL="0" indent="0">
              <a:buNone/>
            </a:pPr>
            <a:endParaRPr lang="ca-ES" dirty="0"/>
          </a:p>
        </p:txBody>
      </p:sp>
    </p:spTree>
    <p:extLst>
      <p:ext uri="{BB962C8B-B14F-4D97-AF65-F5344CB8AC3E}">
        <p14:creationId xmlns:p14="http://schemas.microsoft.com/office/powerpoint/2010/main" val="34271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14E42910-7453-E355-36A6-C6865982AD8F}"/>
              </a:ext>
            </a:extLst>
          </p:cNvPr>
          <p:cNvSpPr>
            <a:spLocks noGrp="1"/>
          </p:cNvSpPr>
          <p:nvPr>
            <p:ph type="title"/>
          </p:nvPr>
        </p:nvSpPr>
        <p:spPr>
          <a:xfrm>
            <a:off x="838200" y="156289"/>
            <a:ext cx="5450457" cy="1325563"/>
          </a:xfrm>
        </p:spPr>
        <p:txBody>
          <a:bodyPr/>
          <a:lstStyle/>
          <a:p>
            <a:r>
              <a:rPr lang="ca-ES" dirty="0"/>
              <a:t>ENTENDIMIENTO DE LOS DATOS</a:t>
            </a:r>
          </a:p>
        </p:txBody>
      </p:sp>
      <p:sp>
        <p:nvSpPr>
          <p:cNvPr id="3" name="Contenidor de contingut 2">
            <a:extLst>
              <a:ext uri="{FF2B5EF4-FFF2-40B4-BE49-F238E27FC236}">
                <a16:creationId xmlns:a16="http://schemas.microsoft.com/office/drawing/2014/main" id="{97CDA22B-0093-E606-839E-B4E0181FDBB6}"/>
              </a:ext>
            </a:extLst>
          </p:cNvPr>
          <p:cNvSpPr>
            <a:spLocks noGrp="1"/>
          </p:cNvSpPr>
          <p:nvPr>
            <p:ph idx="1"/>
          </p:nvPr>
        </p:nvSpPr>
        <p:spPr>
          <a:xfrm>
            <a:off x="838200" y="1575459"/>
            <a:ext cx="5257800" cy="4351338"/>
          </a:xfrm>
        </p:spPr>
        <p:txBody>
          <a:bodyPr>
            <a:normAutofit fontScale="70000" lnSpcReduction="20000"/>
          </a:bodyPr>
          <a:lstStyle/>
          <a:p>
            <a:pPr marL="0" indent="0">
              <a:buNone/>
            </a:pPr>
            <a:r>
              <a:rPr lang="es-ES" sz="2000" b="1" dirty="0" err="1"/>
              <a:t>Dataset</a:t>
            </a:r>
            <a:endParaRPr lang="es-ES" sz="2000" dirty="0"/>
          </a:p>
          <a:p>
            <a:r>
              <a:rPr lang="es-ES" sz="2000" b="1" u="sng" dirty="0"/>
              <a:t>13.186</a:t>
            </a:r>
            <a:r>
              <a:rPr lang="es-ES" sz="2000" b="1" dirty="0"/>
              <a:t> registros</a:t>
            </a:r>
            <a:endParaRPr lang="es-ES" sz="2000" dirty="0"/>
          </a:p>
          <a:p>
            <a:r>
              <a:rPr lang="es-ES" sz="2000" b="1" dirty="0"/>
              <a:t>15 variables</a:t>
            </a:r>
            <a:r>
              <a:rPr lang="es-ES" sz="2000" dirty="0"/>
              <a:t> (12 cuantitativas, 3 cualitativas)</a:t>
            </a:r>
          </a:p>
          <a:p>
            <a:r>
              <a:rPr lang="es-ES" sz="2000" dirty="0"/>
              <a:t>Fuente: </a:t>
            </a:r>
            <a:r>
              <a:rPr lang="es-ES" sz="2000" i="1" dirty="0"/>
              <a:t>train.csv</a:t>
            </a:r>
            <a:r>
              <a:rPr lang="es-ES" sz="2000" dirty="0"/>
              <a:t> (</a:t>
            </a:r>
            <a:r>
              <a:rPr lang="es-ES" sz="2000" dirty="0" err="1"/>
              <a:t>Kaggle</a:t>
            </a:r>
            <a:r>
              <a:rPr lang="es-ES" sz="2000" dirty="0"/>
              <a:t>)</a:t>
            </a:r>
          </a:p>
          <a:p>
            <a:r>
              <a:rPr lang="es-ES" sz="2000" dirty="0"/>
              <a:t>Alcance: información técnica y musical de </a:t>
            </a:r>
            <a:r>
              <a:rPr lang="es-ES" sz="2000" dirty="0" err="1"/>
              <a:t>tracks</a:t>
            </a:r>
            <a:endParaRPr lang="es-ES" sz="2000" dirty="0"/>
          </a:p>
          <a:p>
            <a:pPr marL="0" indent="0">
              <a:buNone/>
            </a:pPr>
            <a:r>
              <a:rPr lang="es-ES" sz="2000" b="1" dirty="0"/>
              <a:t>Calidad de Datos</a:t>
            </a:r>
            <a:endParaRPr lang="es-ES" sz="2000" dirty="0"/>
          </a:p>
          <a:p>
            <a:r>
              <a:rPr lang="es-ES" sz="2000" dirty="0"/>
              <a:t>Sin </a:t>
            </a:r>
            <a:r>
              <a:rPr lang="es-ES" sz="2000" b="1" dirty="0" err="1"/>
              <a:t>missing</a:t>
            </a:r>
            <a:r>
              <a:rPr lang="es-ES" sz="2000" b="1" dirty="0"/>
              <a:t> </a:t>
            </a:r>
            <a:r>
              <a:rPr lang="es-ES" sz="2000" b="1" dirty="0" err="1"/>
              <a:t>values</a:t>
            </a:r>
            <a:r>
              <a:rPr lang="es-ES" sz="2000" dirty="0"/>
              <a:t> relevantes.</a:t>
            </a:r>
          </a:p>
          <a:p>
            <a:r>
              <a:rPr lang="es-ES" sz="2000" dirty="0"/>
              <a:t>Distribuciones correctas para variables ratio (0–1).</a:t>
            </a:r>
          </a:p>
          <a:p>
            <a:r>
              <a:rPr lang="es-ES" sz="2000" dirty="0"/>
              <a:t>Posibles </a:t>
            </a:r>
            <a:r>
              <a:rPr lang="es-ES" sz="2000" b="1" dirty="0" err="1"/>
              <a:t>outliers</a:t>
            </a:r>
            <a:r>
              <a:rPr lang="es-ES" sz="2000" dirty="0"/>
              <a:t> en </a:t>
            </a:r>
            <a:r>
              <a:rPr lang="es-ES" sz="2000" dirty="0" err="1"/>
              <a:t>loudness</a:t>
            </a:r>
            <a:r>
              <a:rPr lang="es-ES" sz="2000" dirty="0"/>
              <a:t>, tempo y </a:t>
            </a:r>
            <a:r>
              <a:rPr lang="es-ES" sz="2000" dirty="0" err="1"/>
              <a:t>duration_ms</a:t>
            </a:r>
            <a:r>
              <a:rPr lang="es-ES" sz="2000" dirty="0"/>
              <a:t>.</a:t>
            </a:r>
          </a:p>
          <a:p>
            <a:r>
              <a:rPr lang="es-ES" sz="2000" dirty="0"/>
              <a:t>Variables categóricas con valores completos y consistentes.</a:t>
            </a:r>
            <a:br>
              <a:rPr lang="es-ES" sz="2000" dirty="0"/>
            </a:br>
            <a:endParaRPr lang="es-ES" sz="2000" dirty="0"/>
          </a:p>
          <a:p>
            <a:pPr marL="0" indent="0">
              <a:buNone/>
            </a:pPr>
            <a:r>
              <a:rPr lang="es-ES" sz="2000" b="1" dirty="0"/>
              <a:t>Fuentes externas (datos)</a:t>
            </a:r>
            <a:endParaRPr lang="es-ES" sz="2000" dirty="0"/>
          </a:p>
          <a:p>
            <a:r>
              <a:rPr lang="es-ES" sz="2000" dirty="0"/>
              <a:t>train.csv (</a:t>
            </a:r>
            <a:r>
              <a:rPr lang="es-ES" sz="2000" dirty="0" err="1"/>
              <a:t>Kaggle</a:t>
            </a:r>
            <a:r>
              <a:rPr lang="es-ES" sz="2000" dirty="0"/>
              <a:t>): </a:t>
            </a:r>
            <a:r>
              <a:rPr lang="es-ES" sz="2000" dirty="0">
                <a:hlinkClick r:id="rId2"/>
              </a:rPr>
              <a:t>https://www.kaggle.com/competitions/prediccion-de-la-popularidad-de-canciones/overview</a:t>
            </a:r>
            <a:endParaRPr lang="es-ES" sz="2000" dirty="0"/>
          </a:p>
          <a:p>
            <a:r>
              <a:rPr lang="es-ES" sz="2000" dirty="0"/>
              <a:t>Documentación de atributos Spotify API: </a:t>
            </a:r>
            <a:r>
              <a:rPr lang="es-ES" sz="2000" dirty="0">
                <a:hlinkClick r:id="rId3"/>
              </a:rPr>
              <a:t>https://developer.spotify.com/documentation/web-api</a:t>
            </a:r>
            <a:endParaRPr lang="es-ES" sz="2000" dirty="0"/>
          </a:p>
          <a:p>
            <a:endParaRPr lang="es-ES" sz="2000" dirty="0"/>
          </a:p>
          <a:p>
            <a:pPr marL="0" indent="0">
              <a:buNone/>
            </a:pPr>
            <a:endParaRPr lang="ca-ES" dirty="0"/>
          </a:p>
        </p:txBody>
      </p:sp>
      <p:graphicFrame>
        <p:nvGraphicFramePr>
          <p:cNvPr id="4" name="Taula 3">
            <a:extLst>
              <a:ext uri="{FF2B5EF4-FFF2-40B4-BE49-F238E27FC236}">
                <a16:creationId xmlns:a16="http://schemas.microsoft.com/office/drawing/2014/main" id="{EAA95477-6E64-8DE7-633E-DB7BB148C65F}"/>
              </a:ext>
            </a:extLst>
          </p:cNvPr>
          <p:cNvGraphicFramePr>
            <a:graphicFrameLocks noGrp="1"/>
          </p:cNvGraphicFramePr>
          <p:nvPr>
            <p:extLst>
              <p:ext uri="{D42A27DB-BD31-4B8C-83A1-F6EECF244321}">
                <p14:modId xmlns:p14="http://schemas.microsoft.com/office/powerpoint/2010/main" val="1612503030"/>
              </p:ext>
            </p:extLst>
          </p:nvPr>
        </p:nvGraphicFramePr>
        <p:xfrm>
          <a:off x="6359700" y="156289"/>
          <a:ext cx="5691404" cy="6545422"/>
        </p:xfrm>
        <a:graphic>
          <a:graphicData uri="http://schemas.openxmlformats.org/drawingml/2006/table">
            <a:tbl>
              <a:tblPr firstRow="1" bandRow="1">
                <a:tableStyleId>{5C22544A-7EE6-4342-B048-85BDC9FD1C3A}</a:tableStyleId>
              </a:tblPr>
              <a:tblGrid>
                <a:gridCol w="1422851">
                  <a:extLst>
                    <a:ext uri="{9D8B030D-6E8A-4147-A177-3AD203B41FA5}">
                      <a16:colId xmlns:a16="http://schemas.microsoft.com/office/drawing/2014/main" val="523535755"/>
                    </a:ext>
                  </a:extLst>
                </a:gridCol>
                <a:gridCol w="1422851">
                  <a:extLst>
                    <a:ext uri="{9D8B030D-6E8A-4147-A177-3AD203B41FA5}">
                      <a16:colId xmlns:a16="http://schemas.microsoft.com/office/drawing/2014/main" val="2874694208"/>
                    </a:ext>
                  </a:extLst>
                </a:gridCol>
                <a:gridCol w="1422851">
                  <a:extLst>
                    <a:ext uri="{9D8B030D-6E8A-4147-A177-3AD203B41FA5}">
                      <a16:colId xmlns:a16="http://schemas.microsoft.com/office/drawing/2014/main" val="3077830386"/>
                    </a:ext>
                  </a:extLst>
                </a:gridCol>
                <a:gridCol w="1422851">
                  <a:extLst>
                    <a:ext uri="{9D8B030D-6E8A-4147-A177-3AD203B41FA5}">
                      <a16:colId xmlns:a16="http://schemas.microsoft.com/office/drawing/2014/main" val="868079831"/>
                    </a:ext>
                  </a:extLst>
                </a:gridCol>
              </a:tblGrid>
              <a:tr h="278803">
                <a:tc>
                  <a:txBody>
                    <a:bodyPr/>
                    <a:lstStyle/>
                    <a:p>
                      <a:pPr>
                        <a:buNone/>
                      </a:pPr>
                      <a:r>
                        <a:rPr lang="es-ES" sz="1200" dirty="0"/>
                        <a:t>Variable</a:t>
                      </a:r>
                    </a:p>
                  </a:txBody>
                  <a:tcPr anchor="ctr"/>
                </a:tc>
                <a:tc>
                  <a:txBody>
                    <a:bodyPr/>
                    <a:lstStyle/>
                    <a:p>
                      <a:pPr>
                        <a:buNone/>
                      </a:pPr>
                      <a:r>
                        <a:rPr lang="es-ES" sz="1200" dirty="0"/>
                        <a:t>Tipo</a:t>
                      </a:r>
                    </a:p>
                  </a:txBody>
                  <a:tcPr anchor="ctr"/>
                </a:tc>
                <a:tc>
                  <a:txBody>
                    <a:bodyPr/>
                    <a:lstStyle/>
                    <a:p>
                      <a:pPr>
                        <a:buNone/>
                      </a:pPr>
                      <a:r>
                        <a:rPr lang="es-ES" sz="1200" dirty="0"/>
                        <a:t>Descripción</a:t>
                      </a:r>
                    </a:p>
                  </a:txBody>
                  <a:tcPr anchor="ctr"/>
                </a:tc>
                <a:tc>
                  <a:txBody>
                    <a:bodyPr/>
                    <a:lstStyle/>
                    <a:p>
                      <a:pPr>
                        <a:buNone/>
                      </a:pPr>
                      <a:r>
                        <a:rPr lang="es-ES" sz="1200"/>
                        <a:t>Rango</a:t>
                      </a:r>
                    </a:p>
                  </a:txBody>
                  <a:tcPr anchor="ctr"/>
                </a:tc>
                <a:extLst>
                  <a:ext uri="{0D108BD9-81ED-4DB2-BD59-A6C34878D82A}">
                    <a16:rowId xmlns:a16="http://schemas.microsoft.com/office/drawing/2014/main" val="1976654581"/>
                  </a:ext>
                </a:extLst>
              </a:tr>
              <a:tr h="284725">
                <a:tc>
                  <a:txBody>
                    <a:bodyPr/>
                    <a:lstStyle/>
                    <a:p>
                      <a:pPr>
                        <a:buNone/>
                      </a:pPr>
                      <a:r>
                        <a:rPr lang="es-ES" sz="1200"/>
                        <a:t>song_popularity</a:t>
                      </a:r>
                    </a:p>
                  </a:txBody>
                  <a:tcPr anchor="ctr"/>
                </a:tc>
                <a:tc>
                  <a:txBody>
                    <a:bodyPr/>
                    <a:lstStyle/>
                    <a:p>
                      <a:pPr>
                        <a:buNone/>
                      </a:pPr>
                      <a:r>
                        <a:rPr lang="es-ES" sz="1200" dirty="0" err="1"/>
                        <a:t>Num</a:t>
                      </a:r>
                      <a:endParaRPr lang="es-ES" sz="1200" dirty="0"/>
                    </a:p>
                  </a:txBody>
                  <a:tcPr anchor="ctr"/>
                </a:tc>
                <a:tc>
                  <a:txBody>
                    <a:bodyPr/>
                    <a:lstStyle/>
                    <a:p>
                      <a:pPr>
                        <a:buNone/>
                      </a:pPr>
                      <a:r>
                        <a:rPr lang="es-ES" sz="1200"/>
                        <a:t>Popularidad objetivo</a:t>
                      </a:r>
                    </a:p>
                  </a:txBody>
                  <a:tcPr anchor="ctr"/>
                </a:tc>
                <a:tc>
                  <a:txBody>
                    <a:bodyPr/>
                    <a:lstStyle/>
                    <a:p>
                      <a:pPr>
                        <a:buNone/>
                      </a:pPr>
                      <a:r>
                        <a:rPr lang="es-ES" sz="1200"/>
                        <a:t>0–100</a:t>
                      </a:r>
                    </a:p>
                  </a:txBody>
                  <a:tcPr anchor="ctr"/>
                </a:tc>
                <a:extLst>
                  <a:ext uri="{0D108BD9-81ED-4DB2-BD59-A6C34878D82A}">
                    <a16:rowId xmlns:a16="http://schemas.microsoft.com/office/drawing/2014/main" val="3408382237"/>
                  </a:ext>
                </a:extLst>
              </a:tr>
              <a:tr h="398290">
                <a:tc>
                  <a:txBody>
                    <a:bodyPr/>
                    <a:lstStyle/>
                    <a:p>
                      <a:pPr>
                        <a:buNone/>
                      </a:pPr>
                      <a:r>
                        <a:rPr lang="es-ES" sz="1200"/>
                        <a:t>danceability</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Ritmo y facilidad para bailar</a:t>
                      </a:r>
                    </a:p>
                  </a:txBody>
                  <a:tcPr anchor="ctr"/>
                </a:tc>
                <a:tc>
                  <a:txBody>
                    <a:bodyPr/>
                    <a:lstStyle/>
                    <a:p>
                      <a:pPr>
                        <a:buNone/>
                      </a:pPr>
                      <a:r>
                        <a:rPr lang="es-ES" sz="1200"/>
                        <a:t>0–1</a:t>
                      </a:r>
                    </a:p>
                  </a:txBody>
                  <a:tcPr anchor="ctr"/>
                </a:tc>
                <a:extLst>
                  <a:ext uri="{0D108BD9-81ED-4DB2-BD59-A6C34878D82A}">
                    <a16:rowId xmlns:a16="http://schemas.microsoft.com/office/drawing/2014/main" val="1901487083"/>
                  </a:ext>
                </a:extLst>
              </a:tr>
              <a:tr h="284725">
                <a:tc>
                  <a:txBody>
                    <a:bodyPr/>
                    <a:lstStyle/>
                    <a:p>
                      <a:pPr>
                        <a:buNone/>
                      </a:pPr>
                      <a:r>
                        <a:rPr lang="es-ES" sz="1200"/>
                        <a:t>energy</a:t>
                      </a:r>
                    </a:p>
                  </a:txBody>
                  <a:tcPr anchor="ctr"/>
                </a:tc>
                <a:tc>
                  <a:txBody>
                    <a:bodyPr/>
                    <a:lstStyle/>
                    <a:p>
                      <a:pPr>
                        <a:buNone/>
                      </a:pPr>
                      <a:r>
                        <a:rPr lang="es-ES" sz="1200"/>
                        <a:t>Num (0–1)</a:t>
                      </a:r>
                    </a:p>
                  </a:txBody>
                  <a:tcPr anchor="ctr"/>
                </a:tc>
                <a:tc>
                  <a:txBody>
                    <a:bodyPr/>
                    <a:lstStyle/>
                    <a:p>
                      <a:pPr>
                        <a:buNone/>
                      </a:pPr>
                      <a:r>
                        <a:rPr lang="es-ES" sz="1200"/>
                        <a:t>Intensidad y actividad</a:t>
                      </a:r>
                    </a:p>
                  </a:txBody>
                  <a:tcPr anchor="ctr"/>
                </a:tc>
                <a:tc>
                  <a:txBody>
                    <a:bodyPr/>
                    <a:lstStyle/>
                    <a:p>
                      <a:pPr>
                        <a:buNone/>
                      </a:pPr>
                      <a:r>
                        <a:rPr lang="es-ES" sz="1200"/>
                        <a:t>0–1</a:t>
                      </a:r>
                    </a:p>
                  </a:txBody>
                  <a:tcPr anchor="ctr"/>
                </a:tc>
                <a:extLst>
                  <a:ext uri="{0D108BD9-81ED-4DB2-BD59-A6C34878D82A}">
                    <a16:rowId xmlns:a16="http://schemas.microsoft.com/office/drawing/2014/main" val="1230201001"/>
                  </a:ext>
                </a:extLst>
              </a:tr>
              <a:tr h="284725">
                <a:tc>
                  <a:txBody>
                    <a:bodyPr/>
                    <a:lstStyle/>
                    <a:p>
                      <a:pPr>
                        <a:buNone/>
                      </a:pPr>
                      <a:r>
                        <a:rPr lang="es-ES" sz="1200"/>
                        <a:t>valence</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Positividad emocional</a:t>
                      </a:r>
                    </a:p>
                  </a:txBody>
                  <a:tcPr anchor="ctr"/>
                </a:tc>
                <a:tc>
                  <a:txBody>
                    <a:bodyPr/>
                    <a:lstStyle/>
                    <a:p>
                      <a:pPr>
                        <a:buNone/>
                      </a:pPr>
                      <a:r>
                        <a:rPr lang="es-ES" sz="1200"/>
                        <a:t>0–1</a:t>
                      </a:r>
                    </a:p>
                  </a:txBody>
                  <a:tcPr anchor="ctr"/>
                </a:tc>
                <a:extLst>
                  <a:ext uri="{0D108BD9-81ED-4DB2-BD59-A6C34878D82A}">
                    <a16:rowId xmlns:a16="http://schemas.microsoft.com/office/drawing/2014/main" val="2062973398"/>
                  </a:ext>
                </a:extLst>
              </a:tr>
              <a:tr h="517778">
                <a:tc>
                  <a:txBody>
                    <a:bodyPr/>
                    <a:lstStyle/>
                    <a:p>
                      <a:pPr>
                        <a:buNone/>
                      </a:pPr>
                      <a:r>
                        <a:rPr lang="es-ES" sz="1200"/>
                        <a:t>liveness</a:t>
                      </a:r>
                    </a:p>
                  </a:txBody>
                  <a:tcPr anchor="ctr"/>
                </a:tc>
                <a:tc>
                  <a:txBody>
                    <a:bodyPr/>
                    <a:lstStyle/>
                    <a:p>
                      <a:pPr>
                        <a:buNone/>
                      </a:pPr>
                      <a:r>
                        <a:rPr lang="es-ES" sz="1200"/>
                        <a:t>Num (0–1)</a:t>
                      </a:r>
                    </a:p>
                  </a:txBody>
                  <a:tcPr anchor="ctr"/>
                </a:tc>
                <a:tc>
                  <a:txBody>
                    <a:bodyPr/>
                    <a:lstStyle/>
                    <a:p>
                      <a:pPr>
                        <a:buNone/>
                      </a:pPr>
                      <a:r>
                        <a:rPr lang="es-ES" sz="1200" dirty="0"/>
                        <a:t>Probabilidad de performance en vivo</a:t>
                      </a:r>
                    </a:p>
                  </a:txBody>
                  <a:tcPr anchor="ctr"/>
                </a:tc>
                <a:tc>
                  <a:txBody>
                    <a:bodyPr/>
                    <a:lstStyle/>
                    <a:p>
                      <a:pPr>
                        <a:buNone/>
                      </a:pPr>
                      <a:r>
                        <a:rPr lang="es-ES" sz="1200"/>
                        <a:t>0–1</a:t>
                      </a:r>
                    </a:p>
                  </a:txBody>
                  <a:tcPr anchor="ctr"/>
                </a:tc>
                <a:extLst>
                  <a:ext uri="{0D108BD9-81ED-4DB2-BD59-A6C34878D82A}">
                    <a16:rowId xmlns:a16="http://schemas.microsoft.com/office/drawing/2014/main" val="1597549386"/>
                  </a:ext>
                </a:extLst>
              </a:tr>
              <a:tr h="398290">
                <a:tc>
                  <a:txBody>
                    <a:bodyPr/>
                    <a:lstStyle/>
                    <a:p>
                      <a:pPr>
                        <a:buNone/>
                      </a:pPr>
                      <a:r>
                        <a:rPr lang="es-ES" sz="1200" dirty="0" err="1"/>
                        <a:t>acousticness</a:t>
                      </a:r>
                      <a:endParaRPr lang="es-ES" sz="1200" dirty="0"/>
                    </a:p>
                  </a:txBody>
                  <a:tcPr anchor="ctr"/>
                </a:tc>
                <a:tc>
                  <a:txBody>
                    <a:bodyPr/>
                    <a:lstStyle/>
                    <a:p>
                      <a:pPr>
                        <a:buNone/>
                      </a:pPr>
                      <a:r>
                        <a:rPr lang="es-ES" sz="1200" dirty="0" err="1"/>
                        <a:t>Num</a:t>
                      </a:r>
                      <a:r>
                        <a:rPr lang="es-ES" sz="1200" dirty="0"/>
                        <a:t> (0–1)</a:t>
                      </a:r>
                    </a:p>
                  </a:txBody>
                  <a:tcPr anchor="ctr"/>
                </a:tc>
                <a:tc>
                  <a:txBody>
                    <a:bodyPr/>
                    <a:lstStyle/>
                    <a:p>
                      <a:pPr>
                        <a:buNone/>
                      </a:pPr>
                      <a:r>
                        <a:rPr lang="es-ES" sz="1200" dirty="0"/>
                        <a:t>Probabilidad de ser acústica</a:t>
                      </a:r>
                    </a:p>
                  </a:txBody>
                  <a:tcPr anchor="ctr"/>
                </a:tc>
                <a:tc>
                  <a:txBody>
                    <a:bodyPr/>
                    <a:lstStyle/>
                    <a:p>
                      <a:pPr>
                        <a:buNone/>
                      </a:pPr>
                      <a:r>
                        <a:rPr lang="es-ES" sz="1200"/>
                        <a:t>0–1</a:t>
                      </a:r>
                    </a:p>
                  </a:txBody>
                  <a:tcPr anchor="ctr"/>
                </a:tc>
                <a:extLst>
                  <a:ext uri="{0D108BD9-81ED-4DB2-BD59-A6C34878D82A}">
                    <a16:rowId xmlns:a16="http://schemas.microsoft.com/office/drawing/2014/main" val="159493698"/>
                  </a:ext>
                </a:extLst>
              </a:tr>
              <a:tr h="398290">
                <a:tc>
                  <a:txBody>
                    <a:bodyPr/>
                    <a:lstStyle/>
                    <a:p>
                      <a:pPr>
                        <a:buNone/>
                      </a:pPr>
                      <a:r>
                        <a:rPr lang="es-ES" sz="1200"/>
                        <a:t>instrumentalness</a:t>
                      </a:r>
                    </a:p>
                  </a:txBody>
                  <a:tcPr anchor="ctr"/>
                </a:tc>
                <a:tc>
                  <a:txBody>
                    <a:bodyPr/>
                    <a:lstStyle/>
                    <a:p>
                      <a:pPr>
                        <a:buNone/>
                      </a:pPr>
                      <a:r>
                        <a:rPr lang="es-ES" sz="1200"/>
                        <a:t>Num (0–1)</a:t>
                      </a:r>
                    </a:p>
                  </a:txBody>
                  <a:tcPr anchor="ctr"/>
                </a:tc>
                <a:tc>
                  <a:txBody>
                    <a:bodyPr/>
                    <a:lstStyle/>
                    <a:p>
                      <a:pPr>
                        <a:buNone/>
                      </a:pPr>
                      <a:r>
                        <a:rPr lang="es-ES" sz="1200"/>
                        <a:t>Probabilidad de no tener voz</a:t>
                      </a:r>
                    </a:p>
                  </a:txBody>
                  <a:tcPr anchor="ctr"/>
                </a:tc>
                <a:tc>
                  <a:txBody>
                    <a:bodyPr/>
                    <a:lstStyle/>
                    <a:p>
                      <a:pPr>
                        <a:buNone/>
                      </a:pPr>
                      <a:r>
                        <a:rPr lang="es-ES" sz="1200" dirty="0"/>
                        <a:t>0–1</a:t>
                      </a:r>
                    </a:p>
                  </a:txBody>
                  <a:tcPr anchor="ctr"/>
                </a:tc>
                <a:extLst>
                  <a:ext uri="{0D108BD9-81ED-4DB2-BD59-A6C34878D82A}">
                    <a16:rowId xmlns:a16="http://schemas.microsoft.com/office/drawing/2014/main" val="2559265884"/>
                  </a:ext>
                </a:extLst>
              </a:tr>
              <a:tr h="398290">
                <a:tc>
                  <a:txBody>
                    <a:bodyPr/>
                    <a:lstStyle/>
                    <a:p>
                      <a:pPr>
                        <a:buNone/>
                      </a:pPr>
                      <a:r>
                        <a:rPr lang="es-ES" sz="1200"/>
                        <a:t>speechiness</a:t>
                      </a:r>
                    </a:p>
                  </a:txBody>
                  <a:tcPr anchor="ctr"/>
                </a:tc>
                <a:tc>
                  <a:txBody>
                    <a:bodyPr/>
                    <a:lstStyle/>
                    <a:p>
                      <a:pPr>
                        <a:buNone/>
                      </a:pPr>
                      <a:r>
                        <a:rPr lang="es-ES" sz="1200"/>
                        <a:t>Num (0–1)</a:t>
                      </a:r>
                    </a:p>
                  </a:txBody>
                  <a:tcPr anchor="ctr"/>
                </a:tc>
                <a:tc>
                  <a:txBody>
                    <a:bodyPr/>
                    <a:lstStyle/>
                    <a:p>
                      <a:pPr>
                        <a:buNone/>
                      </a:pPr>
                      <a:r>
                        <a:rPr lang="es-ES" sz="1200"/>
                        <a:t>Cantidad de palabras habladas</a:t>
                      </a:r>
                    </a:p>
                  </a:txBody>
                  <a:tcPr anchor="ctr"/>
                </a:tc>
                <a:tc>
                  <a:txBody>
                    <a:bodyPr/>
                    <a:lstStyle/>
                    <a:p>
                      <a:pPr>
                        <a:buNone/>
                      </a:pPr>
                      <a:r>
                        <a:rPr lang="es-ES" sz="1200"/>
                        <a:t>0–1</a:t>
                      </a:r>
                    </a:p>
                  </a:txBody>
                  <a:tcPr anchor="ctr"/>
                </a:tc>
                <a:extLst>
                  <a:ext uri="{0D108BD9-81ED-4DB2-BD59-A6C34878D82A}">
                    <a16:rowId xmlns:a16="http://schemas.microsoft.com/office/drawing/2014/main" val="2366241798"/>
                  </a:ext>
                </a:extLst>
              </a:tr>
              <a:tr h="170835">
                <a:tc>
                  <a:txBody>
                    <a:bodyPr/>
                    <a:lstStyle/>
                    <a:p>
                      <a:pPr>
                        <a:buNone/>
                      </a:pPr>
                      <a:r>
                        <a:rPr lang="es-ES" sz="1200"/>
                        <a:t>loudness</a:t>
                      </a:r>
                    </a:p>
                  </a:txBody>
                  <a:tcPr anchor="ctr"/>
                </a:tc>
                <a:tc>
                  <a:txBody>
                    <a:bodyPr/>
                    <a:lstStyle/>
                    <a:p>
                      <a:pPr>
                        <a:buNone/>
                      </a:pPr>
                      <a:r>
                        <a:rPr lang="es-ES" sz="1200"/>
                        <a:t>Num</a:t>
                      </a:r>
                    </a:p>
                  </a:txBody>
                  <a:tcPr anchor="ctr"/>
                </a:tc>
                <a:tc>
                  <a:txBody>
                    <a:bodyPr/>
                    <a:lstStyle/>
                    <a:p>
                      <a:pPr>
                        <a:buNone/>
                      </a:pPr>
                      <a:r>
                        <a:rPr lang="es-ES" sz="1200"/>
                        <a:t>Nivel dB</a:t>
                      </a:r>
                    </a:p>
                  </a:txBody>
                  <a:tcPr anchor="ctr"/>
                </a:tc>
                <a:tc>
                  <a:txBody>
                    <a:bodyPr/>
                    <a:lstStyle/>
                    <a:p>
                      <a:pPr>
                        <a:buNone/>
                      </a:pPr>
                      <a:r>
                        <a:rPr lang="es-ES" sz="1200" dirty="0"/>
                        <a:t>-60–0</a:t>
                      </a:r>
                    </a:p>
                  </a:txBody>
                  <a:tcPr anchor="ctr"/>
                </a:tc>
                <a:extLst>
                  <a:ext uri="{0D108BD9-81ED-4DB2-BD59-A6C34878D82A}">
                    <a16:rowId xmlns:a16="http://schemas.microsoft.com/office/drawing/2014/main" val="383559792"/>
                  </a:ext>
                </a:extLst>
              </a:tr>
              <a:tr h="189635">
                <a:tc>
                  <a:txBody>
                    <a:bodyPr/>
                    <a:lstStyle/>
                    <a:p>
                      <a:pPr>
                        <a:buNone/>
                      </a:pPr>
                      <a:r>
                        <a:rPr lang="es-ES" sz="1200" dirty="0"/>
                        <a:t>tempo</a:t>
                      </a:r>
                    </a:p>
                  </a:txBody>
                  <a:tcPr anchor="ctr"/>
                </a:tc>
                <a:tc>
                  <a:txBody>
                    <a:bodyPr/>
                    <a:lstStyle/>
                    <a:p>
                      <a:pPr>
                        <a:buNone/>
                      </a:pPr>
                      <a:r>
                        <a:rPr lang="es-ES" sz="1200"/>
                        <a:t>Num</a:t>
                      </a:r>
                    </a:p>
                  </a:txBody>
                  <a:tcPr anchor="ctr"/>
                </a:tc>
                <a:tc>
                  <a:txBody>
                    <a:bodyPr/>
                    <a:lstStyle/>
                    <a:p>
                      <a:pPr>
                        <a:buNone/>
                      </a:pPr>
                      <a:r>
                        <a:rPr lang="es-ES" sz="1200"/>
                        <a:t>BPM</a:t>
                      </a:r>
                    </a:p>
                  </a:txBody>
                  <a:tcPr anchor="ctr"/>
                </a:tc>
                <a:tc>
                  <a:txBody>
                    <a:bodyPr/>
                    <a:lstStyle/>
                    <a:p>
                      <a:pPr>
                        <a:buNone/>
                      </a:pPr>
                      <a:r>
                        <a:rPr lang="es-ES" sz="1200"/>
                        <a:t>variable</a:t>
                      </a:r>
                    </a:p>
                  </a:txBody>
                  <a:tcPr anchor="ctr"/>
                </a:tc>
                <a:extLst>
                  <a:ext uri="{0D108BD9-81ED-4DB2-BD59-A6C34878D82A}">
                    <a16:rowId xmlns:a16="http://schemas.microsoft.com/office/drawing/2014/main" val="788832266"/>
                  </a:ext>
                </a:extLst>
              </a:tr>
              <a:tr h="331861">
                <a:tc>
                  <a:txBody>
                    <a:bodyPr/>
                    <a:lstStyle/>
                    <a:p>
                      <a:pPr>
                        <a:buNone/>
                      </a:pPr>
                      <a:r>
                        <a:rPr lang="es-ES" sz="1200" dirty="0" err="1"/>
                        <a:t>duration_ms</a:t>
                      </a:r>
                      <a:endParaRPr lang="es-ES" sz="1200" dirty="0"/>
                    </a:p>
                  </a:txBody>
                  <a:tcPr anchor="ctr"/>
                </a:tc>
                <a:tc>
                  <a:txBody>
                    <a:bodyPr/>
                    <a:lstStyle/>
                    <a:p>
                      <a:pPr>
                        <a:buNone/>
                      </a:pPr>
                      <a:r>
                        <a:rPr lang="es-ES" sz="1200"/>
                        <a:t>Num</a:t>
                      </a:r>
                    </a:p>
                  </a:txBody>
                  <a:tcPr anchor="ctr"/>
                </a:tc>
                <a:tc>
                  <a:txBody>
                    <a:bodyPr/>
                    <a:lstStyle/>
                    <a:p>
                      <a:pPr>
                        <a:buNone/>
                      </a:pPr>
                      <a:r>
                        <a:rPr lang="es-ES" sz="1200"/>
                        <a:t>Duración en ms</a:t>
                      </a:r>
                    </a:p>
                  </a:txBody>
                  <a:tcPr anchor="ctr"/>
                </a:tc>
                <a:tc>
                  <a:txBody>
                    <a:bodyPr/>
                    <a:lstStyle/>
                    <a:p>
                      <a:pPr>
                        <a:buNone/>
                      </a:pPr>
                      <a:r>
                        <a:rPr lang="es-ES" sz="1200"/>
                        <a:t>variable</a:t>
                      </a:r>
                    </a:p>
                  </a:txBody>
                  <a:tcPr anchor="ctr"/>
                </a:tc>
                <a:extLst>
                  <a:ext uri="{0D108BD9-81ED-4DB2-BD59-A6C34878D82A}">
                    <a16:rowId xmlns:a16="http://schemas.microsoft.com/office/drawing/2014/main" val="1723134939"/>
                  </a:ext>
                </a:extLst>
              </a:tr>
              <a:tr h="474088">
                <a:tc>
                  <a:txBody>
                    <a:bodyPr/>
                    <a:lstStyle/>
                    <a:p>
                      <a:pPr>
                        <a:buNone/>
                      </a:pPr>
                      <a:r>
                        <a:rPr lang="es-ES" sz="1200"/>
                        <a:t>mode</a:t>
                      </a:r>
                    </a:p>
                  </a:txBody>
                  <a:tcPr anchor="ctr"/>
                </a:tc>
                <a:tc>
                  <a:txBody>
                    <a:bodyPr/>
                    <a:lstStyle/>
                    <a:p>
                      <a:pPr>
                        <a:buNone/>
                      </a:pPr>
                      <a:r>
                        <a:rPr lang="es-ES" sz="1200" dirty="0"/>
                        <a:t>Cat</a:t>
                      </a:r>
                    </a:p>
                  </a:txBody>
                  <a:tcPr anchor="ctr"/>
                </a:tc>
                <a:tc>
                  <a:txBody>
                    <a:bodyPr/>
                    <a:lstStyle/>
                    <a:p>
                      <a:pPr>
                        <a:buNone/>
                      </a:pPr>
                      <a:r>
                        <a:rPr lang="es-ES" sz="1200" dirty="0"/>
                        <a:t>Modo mayor/</a:t>
                      </a:r>
                      <a:r>
                        <a:rPr lang="es-ES" sz="1200" dirty="0" err="1"/>
                        <a:t>minor</a:t>
                      </a:r>
                      <a:endParaRPr lang="es-ES" sz="1200" dirty="0"/>
                    </a:p>
                  </a:txBody>
                  <a:tcPr anchor="ctr"/>
                </a:tc>
                <a:tc>
                  <a:txBody>
                    <a:bodyPr/>
                    <a:lstStyle/>
                    <a:p>
                      <a:pPr>
                        <a:buNone/>
                      </a:pPr>
                      <a:r>
                        <a:rPr lang="es-ES" sz="1200"/>
                        <a:t>0–1</a:t>
                      </a:r>
                    </a:p>
                  </a:txBody>
                  <a:tcPr anchor="ctr"/>
                </a:tc>
                <a:extLst>
                  <a:ext uri="{0D108BD9-81ED-4DB2-BD59-A6C34878D82A}">
                    <a16:rowId xmlns:a16="http://schemas.microsoft.com/office/drawing/2014/main" val="3665168997"/>
                  </a:ext>
                </a:extLst>
              </a:tr>
              <a:tr h="189635">
                <a:tc>
                  <a:txBody>
                    <a:bodyPr/>
                    <a:lstStyle/>
                    <a:p>
                      <a:pPr>
                        <a:buNone/>
                      </a:pPr>
                      <a:r>
                        <a:rPr lang="es-ES" sz="1200"/>
                        <a:t>key</a:t>
                      </a:r>
                    </a:p>
                  </a:txBody>
                  <a:tcPr anchor="ctr"/>
                </a:tc>
                <a:tc>
                  <a:txBody>
                    <a:bodyPr/>
                    <a:lstStyle/>
                    <a:p>
                      <a:pPr>
                        <a:buNone/>
                      </a:pPr>
                      <a:r>
                        <a:rPr lang="es-ES" sz="1200"/>
                        <a:t>Cat</a:t>
                      </a:r>
                    </a:p>
                  </a:txBody>
                  <a:tcPr anchor="ctr"/>
                </a:tc>
                <a:tc>
                  <a:txBody>
                    <a:bodyPr/>
                    <a:lstStyle/>
                    <a:p>
                      <a:pPr>
                        <a:buNone/>
                      </a:pPr>
                      <a:r>
                        <a:rPr lang="es-ES" sz="1200" dirty="0"/>
                        <a:t>Tonalidad</a:t>
                      </a:r>
                    </a:p>
                  </a:txBody>
                  <a:tcPr anchor="ctr"/>
                </a:tc>
                <a:tc>
                  <a:txBody>
                    <a:bodyPr/>
                    <a:lstStyle/>
                    <a:p>
                      <a:pPr>
                        <a:buNone/>
                      </a:pPr>
                      <a:r>
                        <a:rPr lang="es-ES" sz="1200" dirty="0"/>
                        <a:t>-1–11</a:t>
                      </a:r>
                    </a:p>
                  </a:txBody>
                  <a:tcPr anchor="ctr"/>
                </a:tc>
                <a:extLst>
                  <a:ext uri="{0D108BD9-81ED-4DB2-BD59-A6C34878D82A}">
                    <a16:rowId xmlns:a16="http://schemas.microsoft.com/office/drawing/2014/main" val="4656964"/>
                  </a:ext>
                </a:extLst>
              </a:tr>
              <a:tr h="398615">
                <a:tc>
                  <a:txBody>
                    <a:bodyPr/>
                    <a:lstStyle/>
                    <a:p>
                      <a:pPr>
                        <a:buNone/>
                      </a:pPr>
                      <a:r>
                        <a:rPr lang="es-ES" sz="1200" dirty="0" err="1"/>
                        <a:t>time_signature</a:t>
                      </a:r>
                      <a:endParaRPr lang="es-ES" sz="1200" dirty="0"/>
                    </a:p>
                  </a:txBody>
                  <a:tcPr anchor="ctr"/>
                </a:tc>
                <a:tc>
                  <a:txBody>
                    <a:bodyPr/>
                    <a:lstStyle/>
                    <a:p>
                      <a:pPr>
                        <a:buNone/>
                      </a:pPr>
                      <a:r>
                        <a:rPr lang="es-ES" sz="1200"/>
                        <a:t>Cat</a:t>
                      </a:r>
                    </a:p>
                  </a:txBody>
                  <a:tcPr anchor="ctr"/>
                </a:tc>
                <a:tc>
                  <a:txBody>
                    <a:bodyPr/>
                    <a:lstStyle/>
                    <a:p>
                      <a:pPr>
                        <a:buNone/>
                      </a:pPr>
                      <a:r>
                        <a:rPr lang="es-ES" sz="1200"/>
                        <a:t>Compás</a:t>
                      </a:r>
                    </a:p>
                  </a:txBody>
                  <a:tcPr anchor="ctr"/>
                </a:tc>
                <a:tc>
                  <a:txBody>
                    <a:bodyPr/>
                    <a:lstStyle/>
                    <a:p>
                      <a:pPr>
                        <a:buNone/>
                      </a:pPr>
                      <a:r>
                        <a:rPr lang="es-ES" sz="1200"/>
                        <a:t>3–7</a:t>
                      </a:r>
                    </a:p>
                  </a:txBody>
                  <a:tcPr anchor="ctr"/>
                </a:tc>
                <a:extLst>
                  <a:ext uri="{0D108BD9-81ED-4DB2-BD59-A6C34878D82A}">
                    <a16:rowId xmlns:a16="http://schemas.microsoft.com/office/drawing/2014/main" val="3360571512"/>
                  </a:ext>
                </a:extLst>
              </a:tr>
              <a:tr h="398615">
                <a:tc>
                  <a:txBody>
                    <a:bodyPr/>
                    <a:lstStyle/>
                    <a:p>
                      <a:pPr>
                        <a:buNone/>
                      </a:pPr>
                      <a:r>
                        <a:rPr lang="es-ES" sz="1200" dirty="0"/>
                        <a:t>id</a:t>
                      </a:r>
                    </a:p>
                  </a:txBody>
                  <a:tcPr anchor="ctr"/>
                </a:tc>
                <a:tc>
                  <a:txBody>
                    <a:bodyPr/>
                    <a:lstStyle/>
                    <a:p>
                      <a:pPr>
                        <a:buNone/>
                      </a:pPr>
                      <a:r>
                        <a:rPr lang="es-ES" sz="1200" dirty="0" err="1"/>
                        <a:t>Num</a:t>
                      </a:r>
                      <a:endParaRPr lang="es-ES" sz="1200" dirty="0"/>
                    </a:p>
                  </a:txBody>
                  <a:tcPr anchor="ctr"/>
                </a:tc>
                <a:tc>
                  <a:txBody>
                    <a:bodyPr/>
                    <a:lstStyle/>
                    <a:p>
                      <a:pPr>
                        <a:buNone/>
                      </a:pPr>
                      <a:r>
                        <a:rPr lang="es-ES" sz="1200" dirty="0"/>
                        <a:t>Identificador</a:t>
                      </a:r>
                    </a:p>
                  </a:txBody>
                  <a:tcPr anchor="ctr"/>
                </a:tc>
                <a:tc>
                  <a:txBody>
                    <a:bodyPr/>
                    <a:lstStyle/>
                    <a:p>
                      <a:pPr>
                        <a:buNone/>
                      </a:pPr>
                      <a:r>
                        <a:rPr lang="es-ES" sz="1200" dirty="0"/>
                        <a:t>1–13186</a:t>
                      </a:r>
                    </a:p>
                  </a:txBody>
                  <a:tcPr anchor="ctr"/>
                </a:tc>
                <a:extLst>
                  <a:ext uri="{0D108BD9-81ED-4DB2-BD59-A6C34878D82A}">
                    <a16:rowId xmlns:a16="http://schemas.microsoft.com/office/drawing/2014/main" val="2355477795"/>
                  </a:ext>
                </a:extLst>
              </a:tr>
            </a:tbl>
          </a:graphicData>
        </a:graphic>
      </p:graphicFrame>
    </p:spTree>
    <p:extLst>
      <p:ext uri="{BB962C8B-B14F-4D97-AF65-F5344CB8AC3E}">
        <p14:creationId xmlns:p14="http://schemas.microsoft.com/office/powerpoint/2010/main" val="3327324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D7E3799F-CE92-A2BC-0C09-96BF51B6414C}"/>
              </a:ext>
            </a:extLst>
          </p:cNvPr>
          <p:cNvSpPr>
            <a:spLocks noGrp="1"/>
          </p:cNvSpPr>
          <p:nvPr>
            <p:ph type="title"/>
          </p:nvPr>
        </p:nvSpPr>
        <p:spPr/>
        <p:txBody>
          <a:bodyPr/>
          <a:lstStyle/>
          <a:p>
            <a:r>
              <a:rPr lang="ca-ES" dirty="0"/>
              <a:t>FRAMEWORK METODOLÓGICO</a:t>
            </a:r>
          </a:p>
        </p:txBody>
      </p:sp>
      <p:sp>
        <p:nvSpPr>
          <p:cNvPr id="3" name="Contenidor de contingut 2">
            <a:extLst>
              <a:ext uri="{FF2B5EF4-FFF2-40B4-BE49-F238E27FC236}">
                <a16:creationId xmlns:a16="http://schemas.microsoft.com/office/drawing/2014/main" id="{690535EB-0C1F-9D94-D931-11BCB927A30D}"/>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52698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9C0711A-8F6C-0F12-CA6D-38BDEE325616}"/>
              </a:ext>
            </a:extLst>
          </p:cNvPr>
          <p:cNvSpPr>
            <a:spLocks noGrp="1"/>
          </p:cNvSpPr>
          <p:nvPr>
            <p:ph type="title"/>
          </p:nvPr>
        </p:nvSpPr>
        <p:spPr/>
        <p:txBody>
          <a:bodyPr/>
          <a:lstStyle/>
          <a:p>
            <a:r>
              <a:rPr lang="ca-ES" dirty="0"/>
              <a:t>EDA 1</a:t>
            </a:r>
          </a:p>
        </p:txBody>
      </p:sp>
      <p:sp>
        <p:nvSpPr>
          <p:cNvPr id="3" name="Contenidor de contingut 2">
            <a:extLst>
              <a:ext uri="{FF2B5EF4-FFF2-40B4-BE49-F238E27FC236}">
                <a16:creationId xmlns:a16="http://schemas.microsoft.com/office/drawing/2014/main" id="{B6C09E49-2314-CAAE-DB9C-8B5A3BC098D3}"/>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6899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E9B8266C-E5D5-BEA2-10F3-12B0836E4057}"/>
              </a:ext>
            </a:extLst>
          </p:cNvPr>
          <p:cNvSpPr>
            <a:spLocks noGrp="1"/>
          </p:cNvSpPr>
          <p:nvPr>
            <p:ph type="title"/>
          </p:nvPr>
        </p:nvSpPr>
        <p:spPr/>
        <p:txBody>
          <a:bodyPr/>
          <a:lstStyle/>
          <a:p>
            <a:r>
              <a:rPr lang="ca-ES" dirty="0"/>
              <a:t>EDA 2</a:t>
            </a:r>
          </a:p>
        </p:txBody>
      </p:sp>
      <p:sp>
        <p:nvSpPr>
          <p:cNvPr id="3" name="Contenidor de contingut 2">
            <a:extLst>
              <a:ext uri="{FF2B5EF4-FFF2-40B4-BE49-F238E27FC236}">
                <a16:creationId xmlns:a16="http://schemas.microsoft.com/office/drawing/2014/main" id="{45B5C86D-5C1E-8905-982E-884180FDCA58}"/>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86812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60C7F03-56CA-CA3B-1FA5-95D63F512C18}"/>
              </a:ext>
            </a:extLst>
          </p:cNvPr>
          <p:cNvSpPr>
            <a:spLocks noGrp="1"/>
          </p:cNvSpPr>
          <p:nvPr>
            <p:ph type="title"/>
          </p:nvPr>
        </p:nvSpPr>
        <p:spPr/>
        <p:txBody>
          <a:bodyPr/>
          <a:lstStyle/>
          <a:p>
            <a:r>
              <a:rPr lang="ca-ES" dirty="0" err="1"/>
              <a:t>Missings</a:t>
            </a:r>
            <a:r>
              <a:rPr lang="ca-ES" dirty="0"/>
              <a:t> y </a:t>
            </a:r>
            <a:r>
              <a:rPr lang="ca-ES" dirty="0" err="1"/>
              <a:t>Outliers</a:t>
            </a:r>
            <a:endParaRPr lang="ca-ES" dirty="0"/>
          </a:p>
        </p:txBody>
      </p:sp>
      <p:sp>
        <p:nvSpPr>
          <p:cNvPr id="3" name="Contenidor de contingut 2">
            <a:extLst>
              <a:ext uri="{FF2B5EF4-FFF2-40B4-BE49-F238E27FC236}">
                <a16:creationId xmlns:a16="http://schemas.microsoft.com/office/drawing/2014/main" id="{B58AFD39-2AE6-3D17-B6E4-5E8CA1448851}"/>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014834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C9215775-B83B-FABB-7999-31CAA06ABFDD}"/>
              </a:ext>
            </a:extLst>
          </p:cNvPr>
          <p:cNvSpPr>
            <a:spLocks noGrp="1"/>
          </p:cNvSpPr>
          <p:nvPr>
            <p:ph type="title"/>
          </p:nvPr>
        </p:nvSpPr>
        <p:spPr/>
        <p:txBody>
          <a:bodyPr/>
          <a:lstStyle/>
          <a:p>
            <a:r>
              <a:rPr lang="ca-ES" dirty="0" err="1"/>
              <a:t>Missings</a:t>
            </a:r>
            <a:r>
              <a:rPr lang="ca-ES" dirty="0"/>
              <a:t> y </a:t>
            </a:r>
            <a:r>
              <a:rPr lang="ca-ES" dirty="0" err="1"/>
              <a:t>Outliers</a:t>
            </a:r>
            <a:endParaRPr lang="ca-ES" dirty="0"/>
          </a:p>
        </p:txBody>
      </p:sp>
      <p:sp>
        <p:nvSpPr>
          <p:cNvPr id="3" name="Contenidor de contingut 2">
            <a:extLst>
              <a:ext uri="{FF2B5EF4-FFF2-40B4-BE49-F238E27FC236}">
                <a16:creationId xmlns:a16="http://schemas.microsoft.com/office/drawing/2014/main" id="{2DD47E32-EF7A-4F1C-B6BD-DAB29A43D569}"/>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1468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ABDAD233-203F-7C0A-15A4-B4D2118C1131}"/>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7C53B1F1-06EF-F5A9-6BEE-AE3F23B7F2FF}"/>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70890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A339733-BE23-C979-E416-86882860199E}"/>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6CB79518-0958-33D4-E9B0-09B749824CF4}"/>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237920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9" y="1473286"/>
            <a:ext cx="9287312" cy="2572816"/>
          </a:xfrm>
        </p:spPr>
        <p:txBody>
          <a:bodyPr>
            <a:normAutofit/>
          </a:bodyPr>
          <a:lstStyle/>
          <a:p>
            <a:pPr algn="just"/>
            <a:r>
              <a:rPr lang="ca-ES" sz="1600" dirty="0"/>
              <a:t>Al </a:t>
            </a:r>
            <a:r>
              <a:rPr lang="es-ES_tradnl" sz="1600" dirty="0"/>
              <a:t>realizar</a:t>
            </a:r>
            <a:r>
              <a:rPr lang="es-ES" sz="1600" dirty="0"/>
              <a:t> un análisis de </a:t>
            </a:r>
            <a:r>
              <a:rPr lang="es-ES" sz="1600" i="1" dirty="0" err="1"/>
              <a:t>association</a:t>
            </a:r>
            <a:r>
              <a:rPr lang="es-ES" sz="1600" i="1" dirty="0"/>
              <a:t> rules </a:t>
            </a:r>
            <a:r>
              <a:rPr lang="es-ES" sz="1600" dirty="0"/>
              <a:t>con nuestros datos</a:t>
            </a:r>
            <a:r>
              <a:rPr lang="ca-ES" sz="1600" dirty="0"/>
              <a:t> </a:t>
            </a:r>
            <a:r>
              <a:rPr lang="es-ES" sz="1600" dirty="0"/>
              <a:t>pretendíamos</a:t>
            </a:r>
            <a:r>
              <a:rPr lang="ca-ES" sz="1600" dirty="0"/>
              <a:t> identificar patrones entre </a:t>
            </a:r>
            <a:r>
              <a:rPr lang="es-ES" sz="1600" dirty="0"/>
              <a:t>elementos</a:t>
            </a:r>
            <a:r>
              <a:rPr lang="ca-ES" sz="1600" dirty="0"/>
              <a:t>. Para </a:t>
            </a:r>
            <a:r>
              <a:rPr lang="es-ES" sz="1600" dirty="0"/>
              <a:t>ello</a:t>
            </a:r>
            <a:r>
              <a:rPr lang="ca-ES" sz="1600" dirty="0"/>
              <a:t> </a:t>
            </a:r>
            <a:r>
              <a:rPr lang="es-ES_tradnl" sz="1600" dirty="0"/>
              <a:t>primeramente</a:t>
            </a:r>
            <a:r>
              <a:rPr lang="ca-ES" sz="1600" dirty="0"/>
              <a:t> </a:t>
            </a:r>
            <a:r>
              <a:rPr lang="es-ES_tradnl" sz="1600" dirty="0"/>
              <a:t>debíamos</a:t>
            </a:r>
            <a:r>
              <a:rPr lang="ca-ES" sz="1600" dirty="0"/>
              <a:t> transformar </a:t>
            </a:r>
            <a:r>
              <a:rPr lang="es-ES" sz="1600" dirty="0"/>
              <a:t>nuestros</a:t>
            </a:r>
            <a:r>
              <a:rPr lang="ca-ES" sz="1600" dirty="0"/>
              <a:t> </a:t>
            </a:r>
            <a:r>
              <a:rPr lang="es-ES" sz="1600" noProof="1"/>
              <a:t>datos</a:t>
            </a:r>
            <a:r>
              <a:rPr lang="ca-ES" sz="1600" dirty="0"/>
              <a:t> para </a:t>
            </a:r>
            <a:r>
              <a:rPr lang="es-ES" sz="1600" dirty="0"/>
              <a:t>obtener</a:t>
            </a:r>
            <a:r>
              <a:rPr lang="ca-ES" sz="1600" dirty="0"/>
              <a:t> una base transaccional. </a:t>
            </a:r>
          </a:p>
          <a:p>
            <a:pPr algn="just"/>
            <a:r>
              <a:rPr lang="es-ES" sz="1600" dirty="0"/>
              <a:t>Para ello dividimos todas las variables numéricas en 3 intervalos de igual dimensión absoluta y eliminamos variables (</a:t>
            </a:r>
            <a:r>
              <a:rPr lang="es-ES" sz="1600" i="1" dirty="0" err="1"/>
              <a:t>prob_major</a:t>
            </a:r>
            <a:r>
              <a:rPr lang="es-ES" sz="1600" dirty="0"/>
              <a:t> y </a:t>
            </a:r>
            <a:r>
              <a:rPr lang="es-ES" sz="1600" i="1" dirty="0" err="1"/>
              <a:t>outlier_weight</a:t>
            </a:r>
            <a:r>
              <a:rPr lang="es-ES" sz="1600" dirty="0"/>
              <a:t>) que anteriormente habíamos creado pero que no aportan información en este análisis. A partir de estos cambios convertimos los datos al formato adecuado, una matriz transaccional. Como resultado cada transacción (canción) queda reflejada en el formato de la derecha:</a:t>
            </a:r>
          </a:p>
          <a:p>
            <a:pPr algn="just"/>
            <a:r>
              <a:rPr lang="es-ES" sz="1600" dirty="0"/>
              <a:t>En relación a la creación de reglas, tras múltiples combinaciones hemos decidido conservar los dos siguientes análisis:</a:t>
            </a:r>
          </a:p>
        </p:txBody>
      </p:sp>
      <p:pic>
        <p:nvPicPr>
          <p:cNvPr id="5" name="Imatge 4">
            <a:extLst>
              <a:ext uri="{FF2B5EF4-FFF2-40B4-BE49-F238E27FC236}">
                <a16:creationId xmlns:a16="http://schemas.microsoft.com/office/drawing/2014/main" id="{45FD14DD-2719-481B-9B1C-647A9DE7F9F2}"/>
              </a:ext>
            </a:extLst>
          </p:cNvPr>
          <p:cNvPicPr>
            <a:picLocks noChangeAspect="1"/>
          </p:cNvPicPr>
          <p:nvPr/>
        </p:nvPicPr>
        <p:blipFill rotWithShape="1">
          <a:blip r:embed="rId2"/>
          <a:srcRect r="24824"/>
          <a:stretch/>
        </p:blipFill>
        <p:spPr>
          <a:xfrm>
            <a:off x="10016173" y="1473286"/>
            <a:ext cx="1912125" cy="2438740"/>
          </a:xfrm>
          <a:prstGeom prst="rect">
            <a:avLst/>
          </a:prstGeom>
        </p:spPr>
      </p:pic>
      <p:pic>
        <p:nvPicPr>
          <p:cNvPr id="13" name="Imatge 12">
            <a:extLst>
              <a:ext uri="{FF2B5EF4-FFF2-40B4-BE49-F238E27FC236}">
                <a16:creationId xmlns:a16="http://schemas.microsoft.com/office/drawing/2014/main" id="{04395F3E-8302-4915-9244-4D6270B19161}"/>
              </a:ext>
            </a:extLst>
          </p:cNvPr>
          <p:cNvPicPr>
            <a:picLocks noChangeAspect="1"/>
          </p:cNvPicPr>
          <p:nvPr/>
        </p:nvPicPr>
        <p:blipFill rotWithShape="1">
          <a:blip r:embed="rId3"/>
          <a:srcRect b="36156"/>
          <a:stretch/>
        </p:blipFill>
        <p:spPr>
          <a:xfrm>
            <a:off x="1136637" y="4989401"/>
            <a:ext cx="3705742" cy="790655"/>
          </a:xfrm>
          <a:prstGeom prst="rect">
            <a:avLst/>
          </a:prstGeom>
        </p:spPr>
      </p:pic>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1097031" y="3975707"/>
            <a:ext cx="3705742" cy="2129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primero se determina con un soporte y una confianza mínima de 0.05 y 0.07 respectivamente. Tras eliminar reglas redundantes resulta en un total de 4715.</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5536358" y="3975707"/>
            <a:ext cx="3705742" cy="2129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segundo se determina con un suporte y una confianza mínima de 0.35 y 0.9 respectivamente. Tras eliminar reglas redundantes resulta en un total de 292</a:t>
            </a:r>
          </a:p>
        </p:txBody>
      </p:sp>
      <p:pic>
        <p:nvPicPr>
          <p:cNvPr id="17" name="Imatge 16">
            <a:extLst>
              <a:ext uri="{FF2B5EF4-FFF2-40B4-BE49-F238E27FC236}">
                <a16:creationId xmlns:a16="http://schemas.microsoft.com/office/drawing/2014/main" id="{BB4A12F4-1148-492F-9AD8-AE5A69E5EEE9}"/>
              </a:ext>
            </a:extLst>
          </p:cNvPr>
          <p:cNvPicPr>
            <a:picLocks noChangeAspect="1"/>
          </p:cNvPicPr>
          <p:nvPr/>
        </p:nvPicPr>
        <p:blipFill>
          <a:blip r:embed="rId4"/>
          <a:stretch>
            <a:fillRect/>
          </a:stretch>
        </p:blipFill>
        <p:spPr>
          <a:xfrm>
            <a:off x="5575964" y="4989371"/>
            <a:ext cx="3439005" cy="790685"/>
          </a:xfrm>
          <a:prstGeom prst="rect">
            <a:avLst/>
          </a:prstGeom>
        </p:spPr>
      </p:pic>
    </p:spTree>
    <p:extLst>
      <p:ext uri="{BB962C8B-B14F-4D97-AF65-F5344CB8AC3E}">
        <p14:creationId xmlns:p14="http://schemas.microsoft.com/office/powerpoint/2010/main" val="3644682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 (</a:t>
            </a:r>
            <a:r>
              <a:rPr lang="ca-ES" sz="3600" dirty="0" err="1"/>
              <a:t>acabr</a:t>
            </a:r>
            <a:r>
              <a:rPr lang="ca-ES" sz="3600" dirty="0"/>
              <a:t> de comentar)</a:t>
            </a:r>
          </a:p>
        </p:txBody>
      </p:sp>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838200" y="1492565"/>
            <a:ext cx="4698158" cy="2129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·Siguiendo con el primer análisis, vemos que las reglas con mayor </a:t>
            </a:r>
            <a:r>
              <a:rPr lang="es-ES" sz="1600" i="1" dirty="0" err="1"/>
              <a:t>lift</a:t>
            </a:r>
            <a:r>
              <a:rPr lang="es-ES" sz="1600" dirty="0"/>
              <a:t> son aquelles que explican</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6096000" y="1492565"/>
            <a:ext cx="4698157" cy="2129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segundo se determina con un suporte y una confianza mínima de 0.35 y 0.9 respectivamente. Tras eliminar reglas redundantes resulta en un total de 292</a:t>
            </a:r>
          </a:p>
        </p:txBody>
      </p:sp>
      <p:pic>
        <p:nvPicPr>
          <p:cNvPr id="8" name="Imatge 7">
            <a:extLst>
              <a:ext uri="{FF2B5EF4-FFF2-40B4-BE49-F238E27FC236}">
                <a16:creationId xmlns:a16="http://schemas.microsoft.com/office/drawing/2014/main" id="{3EA69892-F245-4A57-8B58-551475F3A97B}"/>
              </a:ext>
            </a:extLst>
          </p:cNvPr>
          <p:cNvPicPr>
            <a:picLocks noChangeAspect="1"/>
          </p:cNvPicPr>
          <p:nvPr/>
        </p:nvPicPr>
        <p:blipFill>
          <a:blip r:embed="rId2"/>
          <a:stretch>
            <a:fillRect/>
          </a:stretch>
        </p:blipFill>
        <p:spPr>
          <a:xfrm>
            <a:off x="838200" y="2164359"/>
            <a:ext cx="4596422" cy="1921161"/>
          </a:xfrm>
          <a:prstGeom prst="rect">
            <a:avLst/>
          </a:prstGeom>
        </p:spPr>
      </p:pic>
      <p:pic>
        <p:nvPicPr>
          <p:cNvPr id="12" name="Imatge 11">
            <a:extLst>
              <a:ext uri="{FF2B5EF4-FFF2-40B4-BE49-F238E27FC236}">
                <a16:creationId xmlns:a16="http://schemas.microsoft.com/office/drawing/2014/main" id="{FBABD963-B57D-4086-84EB-2D2BF93AC169}"/>
              </a:ext>
            </a:extLst>
          </p:cNvPr>
          <p:cNvPicPr>
            <a:picLocks noChangeAspect="1"/>
          </p:cNvPicPr>
          <p:nvPr/>
        </p:nvPicPr>
        <p:blipFill>
          <a:blip r:embed="rId3"/>
          <a:stretch>
            <a:fillRect/>
          </a:stretch>
        </p:blipFill>
        <p:spPr>
          <a:xfrm>
            <a:off x="6096000" y="2341391"/>
            <a:ext cx="4597127" cy="1458821"/>
          </a:xfrm>
          <a:prstGeom prst="rect">
            <a:avLst/>
          </a:prstGeom>
        </p:spPr>
      </p:pic>
      <p:pic>
        <p:nvPicPr>
          <p:cNvPr id="18" name="Imatge 17">
            <a:extLst>
              <a:ext uri="{FF2B5EF4-FFF2-40B4-BE49-F238E27FC236}">
                <a16:creationId xmlns:a16="http://schemas.microsoft.com/office/drawing/2014/main" id="{5E3C6E78-0A6E-40B0-95A2-B12D2D716C8A}"/>
              </a:ext>
            </a:extLst>
          </p:cNvPr>
          <p:cNvPicPr>
            <a:picLocks noChangeAspect="1"/>
          </p:cNvPicPr>
          <p:nvPr/>
        </p:nvPicPr>
        <p:blipFill>
          <a:blip r:embed="rId4"/>
          <a:stretch>
            <a:fillRect/>
          </a:stretch>
        </p:blipFill>
        <p:spPr>
          <a:xfrm>
            <a:off x="6096000" y="4009958"/>
            <a:ext cx="3299827" cy="2129924"/>
          </a:xfrm>
          <a:prstGeom prst="rect">
            <a:avLst/>
          </a:prstGeom>
        </p:spPr>
      </p:pic>
      <p:pic>
        <p:nvPicPr>
          <p:cNvPr id="21" name="Imatge 20">
            <a:extLst>
              <a:ext uri="{FF2B5EF4-FFF2-40B4-BE49-F238E27FC236}">
                <a16:creationId xmlns:a16="http://schemas.microsoft.com/office/drawing/2014/main" id="{EF18A939-5ABF-45B1-804D-4E126CD89CAA}"/>
              </a:ext>
            </a:extLst>
          </p:cNvPr>
          <p:cNvPicPr>
            <a:picLocks noChangeAspect="1"/>
          </p:cNvPicPr>
          <p:nvPr/>
        </p:nvPicPr>
        <p:blipFill>
          <a:blip r:embed="rId5"/>
          <a:stretch>
            <a:fillRect/>
          </a:stretch>
        </p:blipFill>
        <p:spPr>
          <a:xfrm>
            <a:off x="1043908" y="4358980"/>
            <a:ext cx="3083475" cy="1965805"/>
          </a:xfrm>
          <a:prstGeom prst="rect">
            <a:avLst/>
          </a:prstGeom>
        </p:spPr>
      </p:pic>
    </p:spTree>
    <p:extLst>
      <p:ext uri="{BB962C8B-B14F-4D97-AF65-F5344CB8AC3E}">
        <p14:creationId xmlns:p14="http://schemas.microsoft.com/office/powerpoint/2010/main" val="4129643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8" y="1473286"/>
            <a:ext cx="10515599" cy="2572816"/>
          </a:xfrm>
        </p:spPr>
        <p:txBody>
          <a:bodyPr>
            <a:normAutofit/>
          </a:bodyPr>
          <a:lstStyle/>
          <a:p>
            <a:pPr algn="just"/>
            <a:r>
              <a:rPr lang="ca-ES" sz="1600" dirty="0" err="1"/>
              <a:t>Finalimente</a:t>
            </a:r>
            <a:r>
              <a:rPr lang="ca-ES" sz="1600" dirty="0"/>
              <a:t> hemos </a:t>
            </a:r>
            <a:r>
              <a:rPr lang="ca-ES" sz="1600" dirty="0" err="1"/>
              <a:t>realizado</a:t>
            </a:r>
            <a:r>
              <a:rPr lang="ca-ES" sz="1600" dirty="0"/>
              <a:t> </a:t>
            </a:r>
            <a:r>
              <a:rPr lang="ca-ES" sz="1600" dirty="0" err="1"/>
              <a:t>también</a:t>
            </a:r>
            <a:r>
              <a:rPr lang="ca-ES" sz="1600" dirty="0"/>
              <a:t> un </a:t>
            </a:r>
            <a:r>
              <a:rPr lang="ca-ES" sz="1600" dirty="0" err="1"/>
              <a:t>análisi</a:t>
            </a:r>
            <a:r>
              <a:rPr lang="ca-ES" sz="1600" dirty="0"/>
              <a:t> </a:t>
            </a:r>
            <a:r>
              <a:rPr lang="ca-ES" sz="1600" dirty="0" err="1"/>
              <a:t>enfocado</a:t>
            </a:r>
            <a:r>
              <a:rPr lang="ca-ES" sz="1600" dirty="0"/>
              <a:t> a la </a:t>
            </a:r>
            <a:r>
              <a:rPr lang="ca-ES" sz="1600" dirty="0" err="1"/>
              <a:t>popularidad</a:t>
            </a:r>
            <a:r>
              <a:rPr lang="ca-ES" sz="1600" dirty="0"/>
              <a:t>, </a:t>
            </a:r>
            <a:r>
              <a:rPr lang="ca-ES" sz="1600" dirty="0" err="1"/>
              <a:t>nuestra</a:t>
            </a:r>
            <a:r>
              <a:rPr lang="ca-ES" sz="1600" dirty="0"/>
              <a:t> variable objectivo. </a:t>
            </a:r>
          </a:p>
          <a:p>
            <a:pPr algn="just"/>
            <a:r>
              <a:rPr lang="ca-ES" sz="1600" dirty="0"/>
              <a:t>Explicar que el suport i el </a:t>
            </a:r>
            <a:r>
              <a:rPr lang="ca-ES" sz="1600" dirty="0" err="1"/>
              <a:t>confidence</a:t>
            </a:r>
            <a:r>
              <a:rPr lang="ca-ES" sz="1600" dirty="0"/>
              <a:t> ha de ser baix per començar a trobar </a:t>
            </a:r>
            <a:r>
              <a:rPr lang="ca-ES" sz="1600" dirty="0" err="1"/>
              <a:t>rules</a:t>
            </a:r>
            <a:r>
              <a:rPr lang="ca-ES" sz="1600" dirty="0"/>
              <a:t> que </a:t>
            </a:r>
            <a:r>
              <a:rPr lang="ca-ES" sz="1600" dirty="0" err="1"/>
              <a:t>explquin</a:t>
            </a:r>
            <a:r>
              <a:rPr lang="ca-ES" sz="1600" dirty="0"/>
              <a:t> </a:t>
            </a:r>
            <a:r>
              <a:rPr lang="ca-ES" sz="1600" dirty="0" err="1"/>
              <a:t>song</a:t>
            </a:r>
            <a:br>
              <a:rPr lang="ca-ES" sz="1600" dirty="0"/>
            </a:br>
            <a:r>
              <a:rPr lang="ca-ES" sz="1600" dirty="0"/>
              <a:t>_pop (tant </a:t>
            </a:r>
            <a:r>
              <a:rPr lang="ca-ES" sz="1600" dirty="0" err="1"/>
              <a:t>high</a:t>
            </a:r>
            <a:r>
              <a:rPr lang="ca-ES" sz="1600" dirty="0"/>
              <a:t> com </a:t>
            </a:r>
            <a:r>
              <a:rPr lang="ca-ES" sz="1600" dirty="0" err="1"/>
              <a:t>low</a:t>
            </a:r>
            <a:r>
              <a:rPr lang="ca-ES" sz="1600" dirty="0"/>
              <a:t>). Podem trobar </a:t>
            </a:r>
            <a:r>
              <a:rPr lang="ca-ES" sz="1600" dirty="0" err="1"/>
              <a:t>rules</a:t>
            </a:r>
            <a:r>
              <a:rPr lang="ca-ES" sz="1600" dirty="0"/>
              <a:t> amb major </a:t>
            </a:r>
            <a:r>
              <a:rPr lang="ca-ES" sz="1600" dirty="0" err="1"/>
              <a:t>confidence</a:t>
            </a:r>
            <a:r>
              <a:rPr lang="ca-ES" sz="1600" dirty="0"/>
              <a:t> però llavors suport ha de ser encara molt més baix.</a:t>
            </a:r>
            <a:endParaRPr lang="es-ES" sz="1600" dirty="0"/>
          </a:p>
        </p:txBody>
      </p:sp>
      <p:pic>
        <p:nvPicPr>
          <p:cNvPr id="6" name="Imatge 5">
            <a:extLst>
              <a:ext uri="{FF2B5EF4-FFF2-40B4-BE49-F238E27FC236}">
                <a16:creationId xmlns:a16="http://schemas.microsoft.com/office/drawing/2014/main" id="{1B846CC0-C56B-4138-8BBD-DCA557E10DF1}"/>
              </a:ext>
            </a:extLst>
          </p:cNvPr>
          <p:cNvPicPr>
            <a:picLocks noChangeAspect="1"/>
          </p:cNvPicPr>
          <p:nvPr/>
        </p:nvPicPr>
        <p:blipFill>
          <a:blip r:embed="rId2"/>
          <a:stretch>
            <a:fillRect/>
          </a:stretch>
        </p:blipFill>
        <p:spPr>
          <a:xfrm>
            <a:off x="678808" y="3232231"/>
            <a:ext cx="6906589" cy="1086002"/>
          </a:xfrm>
          <a:prstGeom prst="rect">
            <a:avLst/>
          </a:prstGeom>
        </p:spPr>
      </p:pic>
      <p:pic>
        <p:nvPicPr>
          <p:cNvPr id="8" name="Imatge 7">
            <a:extLst>
              <a:ext uri="{FF2B5EF4-FFF2-40B4-BE49-F238E27FC236}">
                <a16:creationId xmlns:a16="http://schemas.microsoft.com/office/drawing/2014/main" id="{37B2CE45-6D89-414D-A2D5-A50B02BD659C}"/>
              </a:ext>
            </a:extLst>
          </p:cNvPr>
          <p:cNvPicPr>
            <a:picLocks noChangeAspect="1"/>
          </p:cNvPicPr>
          <p:nvPr/>
        </p:nvPicPr>
        <p:blipFill>
          <a:blip r:embed="rId3"/>
          <a:stretch>
            <a:fillRect/>
          </a:stretch>
        </p:blipFill>
        <p:spPr>
          <a:xfrm>
            <a:off x="754310" y="2888652"/>
            <a:ext cx="7421011" cy="142895"/>
          </a:xfrm>
          <a:prstGeom prst="rect">
            <a:avLst/>
          </a:prstGeom>
        </p:spPr>
      </p:pic>
      <p:pic>
        <p:nvPicPr>
          <p:cNvPr id="10" name="Imatge 9">
            <a:extLst>
              <a:ext uri="{FF2B5EF4-FFF2-40B4-BE49-F238E27FC236}">
                <a16:creationId xmlns:a16="http://schemas.microsoft.com/office/drawing/2014/main" id="{4C5E1C17-BC6F-4CF2-ADAF-AF577998DE74}"/>
              </a:ext>
            </a:extLst>
          </p:cNvPr>
          <p:cNvPicPr>
            <a:picLocks noChangeAspect="1"/>
          </p:cNvPicPr>
          <p:nvPr/>
        </p:nvPicPr>
        <p:blipFill>
          <a:blip r:embed="rId4"/>
          <a:stretch>
            <a:fillRect/>
          </a:stretch>
        </p:blipFill>
        <p:spPr>
          <a:xfrm>
            <a:off x="678808" y="4346844"/>
            <a:ext cx="5143152" cy="2075739"/>
          </a:xfrm>
          <a:prstGeom prst="rect">
            <a:avLst/>
          </a:prstGeom>
        </p:spPr>
      </p:pic>
      <p:pic>
        <p:nvPicPr>
          <p:cNvPr id="12" name="Imatge 11">
            <a:extLst>
              <a:ext uri="{FF2B5EF4-FFF2-40B4-BE49-F238E27FC236}">
                <a16:creationId xmlns:a16="http://schemas.microsoft.com/office/drawing/2014/main" id="{B399E611-67E0-4F2A-957B-3AAE32A057B9}"/>
              </a:ext>
            </a:extLst>
          </p:cNvPr>
          <p:cNvPicPr>
            <a:picLocks noChangeAspect="1"/>
          </p:cNvPicPr>
          <p:nvPr/>
        </p:nvPicPr>
        <p:blipFill>
          <a:blip r:embed="rId5"/>
          <a:stretch>
            <a:fillRect/>
          </a:stretch>
        </p:blipFill>
        <p:spPr>
          <a:xfrm>
            <a:off x="6632202" y="4246786"/>
            <a:ext cx="3086237" cy="1978823"/>
          </a:xfrm>
          <a:prstGeom prst="rect">
            <a:avLst/>
          </a:prstGeom>
        </p:spPr>
      </p:pic>
    </p:spTree>
    <p:extLst>
      <p:ext uri="{BB962C8B-B14F-4D97-AF65-F5344CB8AC3E}">
        <p14:creationId xmlns:p14="http://schemas.microsoft.com/office/powerpoint/2010/main" val="2158781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26F8249-4057-A1B6-D24B-4F8C6D09B62E}"/>
              </a:ext>
            </a:extLst>
          </p:cNvPr>
          <p:cNvSpPr>
            <a:spLocks noGrp="1"/>
          </p:cNvSpPr>
          <p:nvPr>
            <p:ph type="title"/>
          </p:nvPr>
        </p:nvSpPr>
        <p:spPr/>
        <p:txBody>
          <a:bodyPr/>
          <a:lstStyle/>
          <a:p>
            <a:r>
              <a:rPr lang="ca-ES" dirty="0" err="1"/>
              <a:t>Preparación</a:t>
            </a:r>
            <a:r>
              <a:rPr lang="ca-ES" dirty="0"/>
              <a:t> para el </a:t>
            </a:r>
            <a:r>
              <a:rPr lang="ca-ES" dirty="0" err="1"/>
              <a:t>modelado</a:t>
            </a:r>
            <a:endParaRPr lang="ca-ES" dirty="0"/>
          </a:p>
        </p:txBody>
      </p:sp>
      <p:sp>
        <p:nvSpPr>
          <p:cNvPr id="3" name="Contenidor de contingut 2">
            <a:extLst>
              <a:ext uri="{FF2B5EF4-FFF2-40B4-BE49-F238E27FC236}">
                <a16:creationId xmlns:a16="http://schemas.microsoft.com/office/drawing/2014/main" id="{A33CB87B-B723-62D3-F721-B0EF0252DB12}"/>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028020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0DD33024-7E2F-19C8-8180-13323C4ADFB7}"/>
              </a:ext>
            </a:extLst>
          </p:cNvPr>
          <p:cNvSpPr>
            <a:spLocks noGrp="1"/>
          </p:cNvSpPr>
          <p:nvPr>
            <p:ph type="title"/>
          </p:nvPr>
        </p:nvSpPr>
        <p:spPr>
          <a:xfrm>
            <a:off x="1137034" y="609597"/>
            <a:ext cx="9392421" cy="1330841"/>
          </a:xfrm>
        </p:spPr>
        <p:txBody>
          <a:bodyPr>
            <a:normAutofit/>
          </a:bodyPr>
          <a:lstStyle/>
          <a:p>
            <a:r>
              <a:rPr lang="ca-ES" dirty="0"/>
              <a:t>KNN y </a:t>
            </a:r>
            <a:r>
              <a:rPr lang="ca-ES" dirty="0" err="1"/>
              <a:t>Naive</a:t>
            </a:r>
            <a:r>
              <a:rPr lang="ca-ES" dirty="0"/>
              <a:t> </a:t>
            </a:r>
            <a:r>
              <a:rPr lang="ca-ES" dirty="0" err="1"/>
              <a:t>Bayes</a:t>
            </a:r>
            <a:endParaRPr lang="ca-ES" dirty="0"/>
          </a:p>
        </p:txBody>
      </p:sp>
      <p:sp>
        <p:nvSpPr>
          <p:cNvPr id="3" name="Contenidor de contingut 2">
            <a:extLst>
              <a:ext uri="{FF2B5EF4-FFF2-40B4-BE49-F238E27FC236}">
                <a16:creationId xmlns:a16="http://schemas.microsoft.com/office/drawing/2014/main" id="{ABC7C7E8-B4C4-93D1-C547-35BDADFB754F}"/>
              </a:ext>
            </a:extLst>
          </p:cNvPr>
          <p:cNvSpPr>
            <a:spLocks noGrp="1"/>
          </p:cNvSpPr>
          <p:nvPr>
            <p:ph idx="1"/>
          </p:nvPr>
        </p:nvSpPr>
        <p:spPr>
          <a:xfrm>
            <a:off x="785614" y="2179076"/>
            <a:ext cx="5665428" cy="4162245"/>
          </a:xfrm>
        </p:spPr>
        <p:txBody>
          <a:bodyPr>
            <a:normAutofit fontScale="92500" lnSpcReduction="10000"/>
          </a:bodyPr>
          <a:lstStyle/>
          <a:p>
            <a:pPr marL="0" indent="0">
              <a:buNone/>
            </a:pPr>
            <a:r>
              <a:rPr lang="ca-ES" dirty="0"/>
              <a:t>KNN</a:t>
            </a:r>
          </a:p>
          <a:p>
            <a:pPr marL="0" indent="0">
              <a:buNone/>
            </a:pPr>
            <a:r>
              <a:rPr lang="en-US" sz="1500" dirty="0"/>
              <a:t>The first method applied is K-Nearest Neighbors (KNN) in a regression context. Initially, the cleaned and oversampled dataset was divided into a training and a test set, in order to obtain reliable results and assess the model’s ability to generalize to unseen data. The next step involved defining the features and the numerical target variable within these subsets. To ensure good KNN performance, all features were converted to numerical format and standardized, since differences in scale could otherwise strongly affect the computation of distances. The model was then trained and used to make predictions, which were evaluated using one of the most appropriate KPIs for regression tasks, the Root Mean Squared Error (RMSE), along with the correlation between predicted and actual values. </a:t>
            </a:r>
          </a:p>
          <a:p>
            <a:pPr marL="0" indent="0">
              <a:buNone/>
            </a:pPr>
            <a:r>
              <a:rPr lang="en-US" sz="1500" dirty="0"/>
              <a:t>Finally, the parameter k (number of neighbors) was optimized based on the RMSE results, with the best performance obtained for k = 25, the highest possible value of k. </a:t>
            </a:r>
          </a:p>
          <a:p>
            <a:pPr marL="0" indent="0">
              <a:buNone/>
            </a:pPr>
            <a:r>
              <a:rPr lang="en-US" sz="1500" dirty="0"/>
              <a:t>This analysis indicates that KNN is a computationally expensive method for further exploration, because the KPI gets better as k increases. Therefore, testing alternative models might be advisable for improved efficiency and scalability.</a:t>
            </a:r>
            <a:endParaRPr lang="ca-ES" sz="1500" dirty="0"/>
          </a:p>
        </p:txBody>
      </p:sp>
      <p:pic>
        <p:nvPicPr>
          <p:cNvPr id="4" name="Immagine 3" descr="Immagine che contiene testo, schermata, diagramma, linea&#10;&#10;Il contenuto generato dall'IA potrebbe non essere corretto.">
            <a:extLst>
              <a:ext uri="{FF2B5EF4-FFF2-40B4-BE49-F238E27FC236}">
                <a16:creationId xmlns:a16="http://schemas.microsoft.com/office/drawing/2014/main" id="{6157FDF4-E1D2-747F-4CD5-7587BC195310}"/>
              </a:ext>
            </a:extLst>
          </p:cNvPr>
          <p:cNvPicPr>
            <a:picLocks noChangeAspect="1"/>
          </p:cNvPicPr>
          <p:nvPr/>
        </p:nvPicPr>
        <p:blipFill>
          <a:blip r:embed="rId2"/>
          <a:stretch>
            <a:fillRect/>
          </a:stretch>
        </p:blipFill>
        <p:spPr>
          <a:xfrm>
            <a:off x="6820852" y="2184914"/>
            <a:ext cx="4585534" cy="3755915"/>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32939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5FAB87C2-CBC7-4CB6-1DD9-4EB3CF409640}"/>
              </a:ext>
            </a:extLst>
          </p:cNvPr>
          <p:cNvSpPr>
            <a:spLocks noGrp="1"/>
          </p:cNvSpPr>
          <p:nvPr>
            <p:ph type="title"/>
          </p:nvPr>
        </p:nvSpPr>
        <p:spPr>
          <a:xfrm>
            <a:off x="1137034" y="609597"/>
            <a:ext cx="9392421" cy="1330841"/>
          </a:xfrm>
        </p:spPr>
        <p:txBody>
          <a:bodyPr>
            <a:normAutofit/>
          </a:bodyPr>
          <a:lstStyle/>
          <a:p>
            <a:r>
              <a:rPr lang="ca-ES" dirty="0"/>
              <a:t>KNN y </a:t>
            </a:r>
            <a:r>
              <a:rPr lang="ca-ES" dirty="0" err="1"/>
              <a:t>Naive</a:t>
            </a:r>
            <a:r>
              <a:rPr lang="ca-ES" dirty="0"/>
              <a:t> </a:t>
            </a:r>
            <a:r>
              <a:rPr lang="ca-ES" dirty="0" err="1"/>
              <a:t>Bayes</a:t>
            </a:r>
            <a:endParaRPr lang="ca-ES" dirty="0"/>
          </a:p>
        </p:txBody>
      </p:sp>
      <p:sp>
        <p:nvSpPr>
          <p:cNvPr id="3" name="Contenidor de contingut 2">
            <a:extLst>
              <a:ext uri="{FF2B5EF4-FFF2-40B4-BE49-F238E27FC236}">
                <a16:creationId xmlns:a16="http://schemas.microsoft.com/office/drawing/2014/main" id="{B6D4A93A-E060-BC58-DB75-57FC8FCA630E}"/>
              </a:ext>
            </a:extLst>
          </p:cNvPr>
          <p:cNvSpPr>
            <a:spLocks noGrp="1"/>
          </p:cNvSpPr>
          <p:nvPr>
            <p:ph idx="1"/>
          </p:nvPr>
        </p:nvSpPr>
        <p:spPr>
          <a:xfrm>
            <a:off x="1137034" y="2198362"/>
            <a:ext cx="4958966" cy="3917773"/>
          </a:xfrm>
        </p:spPr>
        <p:txBody>
          <a:bodyPr>
            <a:normAutofit/>
          </a:bodyPr>
          <a:lstStyle/>
          <a:p>
            <a:pPr marL="0" indent="0">
              <a:buNone/>
            </a:pPr>
            <a:r>
              <a:rPr lang="ca-ES" sz="2400" dirty="0"/>
              <a:t>Naive Bayes</a:t>
            </a:r>
          </a:p>
          <a:p>
            <a:pPr marL="0" indent="0">
              <a:buNone/>
            </a:pPr>
            <a:r>
              <a:rPr lang="en-US" sz="1400" dirty="0"/>
              <a:t>At first glance, the use of the Naive Bayes algorithm appeared to be a forced approach for predicting song popularity. This mainly because Naive Bayes is designed for categorical target variables, whereas our target (song popularity) is continuous and numerical in </a:t>
            </a:r>
            <a:r>
              <a:rPr lang="en-US" sz="1400" dirty="0" err="1"/>
              <a:t>nature.To</a:t>
            </a:r>
            <a:r>
              <a:rPr lang="en-US" sz="1400" dirty="0"/>
              <a:t> make the method applicable, we transformed the target variable into three discrete categories representing low, medium, and high popularity levels. However, after applying the Naive Bayes model, the results were unsatisfactory: the predictions were heavily biased toward the “high” category, leading to an imbalanced outcome. Furthermore, the accuracy derived from the corresponding confusion matrix was quite low, indicating that Naive Bayes is not well suited for this regression-oriented problem.</a:t>
            </a:r>
          </a:p>
          <a:p>
            <a:pPr marL="0" indent="0">
              <a:buNone/>
            </a:pPr>
            <a:r>
              <a:rPr lang="en-US" sz="1400" i="1" dirty="0"/>
              <a:t>Accuracy: 0.33333</a:t>
            </a:r>
            <a:endParaRPr lang="ca-ES" sz="1400" i="1" dirty="0"/>
          </a:p>
        </p:txBody>
      </p:sp>
      <p:pic>
        <p:nvPicPr>
          <p:cNvPr id="5" name="Immagine 4" descr="Immagine che contiene testo, schermata, diagramma, Carattere&#10;&#10;Il contenuto generato dall'IA potrebbe non essere corretto.">
            <a:extLst>
              <a:ext uri="{FF2B5EF4-FFF2-40B4-BE49-F238E27FC236}">
                <a16:creationId xmlns:a16="http://schemas.microsoft.com/office/drawing/2014/main" id="{3EDE6CD4-8345-0074-37A6-577079C08159}"/>
              </a:ext>
            </a:extLst>
          </p:cNvPr>
          <p:cNvPicPr>
            <a:picLocks noChangeAspect="1"/>
          </p:cNvPicPr>
          <p:nvPr/>
        </p:nvPicPr>
        <p:blipFill>
          <a:blip r:embed="rId2"/>
          <a:stretch>
            <a:fillRect/>
          </a:stretch>
        </p:blipFill>
        <p:spPr>
          <a:xfrm>
            <a:off x="6853808" y="2061836"/>
            <a:ext cx="4580384"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15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B8151BF-4BC5-A36A-76CA-0669F59707FA}"/>
              </a:ext>
            </a:extLst>
          </p:cNvPr>
          <p:cNvSpPr>
            <a:spLocks noGrp="1"/>
          </p:cNvSpPr>
          <p:nvPr>
            <p:ph type="title"/>
          </p:nvPr>
        </p:nvSpPr>
        <p:spPr/>
        <p:txBody>
          <a:bodyPr/>
          <a:lstStyle/>
          <a:p>
            <a:r>
              <a:rPr lang="ca-ES" dirty="0" err="1"/>
              <a:t>Conclusiones</a:t>
            </a:r>
            <a:r>
              <a:rPr lang="ca-ES" dirty="0"/>
              <a:t> y </a:t>
            </a:r>
            <a:r>
              <a:rPr lang="ca-ES" dirty="0" err="1"/>
              <a:t>proximos</a:t>
            </a:r>
            <a:r>
              <a:rPr lang="ca-ES" dirty="0"/>
              <a:t> </a:t>
            </a:r>
            <a:r>
              <a:rPr lang="ca-ES" dirty="0" err="1"/>
              <a:t>pasos</a:t>
            </a:r>
            <a:endParaRPr lang="ca-ES" dirty="0"/>
          </a:p>
        </p:txBody>
      </p:sp>
      <p:sp>
        <p:nvSpPr>
          <p:cNvPr id="3" name="Contenidor de contingut 2">
            <a:extLst>
              <a:ext uri="{FF2B5EF4-FFF2-40B4-BE49-F238E27FC236}">
                <a16:creationId xmlns:a16="http://schemas.microsoft.com/office/drawing/2014/main" id="{B78B9F8F-42AE-77BD-C6EA-C1776209179F}"/>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455205633"/>
      </p:ext>
    </p:extLst>
  </p:cSld>
  <p:clrMapOvr>
    <a:masterClrMapping/>
  </p:clrMapOvr>
</p:sld>
</file>

<file path=ppt/theme/theme1.xml><?xml version="1.0" encoding="utf-8"?>
<a:theme xmlns:a="http://schemas.openxmlformats.org/drawingml/2006/main" name="Tema de l'Office">
  <a:themeElements>
    <a:clrScheme name="Oficin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cin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ici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999</TotalTime>
  <Words>1067</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17</vt:i4>
      </vt:variant>
    </vt:vector>
  </HeadingPairs>
  <TitlesOfParts>
    <vt:vector size="21" baseType="lpstr">
      <vt:lpstr>Aptos</vt:lpstr>
      <vt:lpstr>Aptos Display</vt:lpstr>
      <vt:lpstr>Arial</vt:lpstr>
      <vt:lpstr>Tema de l'Office</vt:lpstr>
      <vt:lpstr>PORTADA</vt:lpstr>
      <vt:lpstr>ENTENDIMIENTO DEL NEGOCIO</vt:lpstr>
      <vt:lpstr>ENTENDIMIENTO DE LOS DATOS</vt:lpstr>
      <vt:lpstr>FRAMEWORK METODOLÓGICO</vt:lpstr>
      <vt:lpstr>EDA 1</vt:lpstr>
      <vt:lpstr>EDA 2</vt:lpstr>
      <vt:lpstr>Missings y Outliers</vt:lpstr>
      <vt:lpstr>Missings y Outliers</vt:lpstr>
      <vt:lpstr>Feature Engineering</vt:lpstr>
      <vt:lpstr>Feature Engineering</vt:lpstr>
      <vt:lpstr>ASSOCITATION RULES</vt:lpstr>
      <vt:lpstr>ASSOCITATION RULES (acabr de comentar)</vt:lpstr>
      <vt:lpstr>ASSOCITATION RULES</vt:lpstr>
      <vt:lpstr>Preparación para el modelado</vt:lpstr>
      <vt:lpstr>KNN y Naive Bayes</vt:lpstr>
      <vt:lpstr>KNN y Naive Bayes</vt:lpstr>
      <vt:lpstr>Conclusiones y proximos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PORTADA</dc:title>
  <dc:creator>IKER MARIA MONTES</dc:creator>
  <cp:lastModifiedBy>Davide Rota</cp:lastModifiedBy>
  <cp:revision>15</cp:revision>
  <dcterms:created xsi:type="dcterms:W3CDTF">2025-11-09T14:38:01Z</dcterms:created>
  <dcterms:modified xsi:type="dcterms:W3CDTF">2025-11-10T09:13:56Z</dcterms:modified>
</cp:coreProperties>
</file>