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 mitjà 2 - èmfasi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7005" autoAdjust="0"/>
  </p:normalViewPr>
  <p:slideViewPr>
    <p:cSldViewPr snapToGrid="0">
      <p:cViewPr varScale="1">
        <p:scale>
          <a:sx n="136" d="100"/>
          <a:sy n="136" d="100"/>
        </p:scale>
        <p:origin x="326" y="6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7A29714D-2B8A-EAFC-206A-D4845180B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a-ES"/>
              <a:t>Feu clic aquí per editar l'estil</a:t>
            </a: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8675AC7F-3F75-37C3-A625-7B3C194C6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a-ES"/>
              <a:t>Feu clic aquí per editar l'estil de subtítols del patró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E74B5179-3DEA-451D-F1A7-240CFFC05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1A551AD4-90F7-2BBE-B8CA-39A874B7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9AFCA420-994D-029D-7405-F21FC789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22517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B59684A3-AACE-FF77-15D6-17C68EEA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32BB2663-E42E-BD64-6F58-FE3C7365A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C75D6770-F375-2F69-B4E1-ED0171F2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4C672929-C886-D18A-F947-2C4CBE919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9ECA1018-2075-4C0B-FAFF-0872D14A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3475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0FB0B85A-F966-4DF1-B9A1-939932B7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FACD047A-04FC-625D-04C6-F4F13002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3FF6D24D-E6EE-3022-F2CE-94828A3F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3222BC23-6EA5-5FD8-188F-367B4968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C03AABD9-A1AD-F855-2635-A81337637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2880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3B212CDE-9FF5-F303-19F3-F824D529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43E7CE53-3838-AB79-D076-15F223B57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C6F24B35-E0CC-9CBF-D582-B8406A777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7C2C9EC4-F619-1168-780C-98420220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4F3E343A-AE05-748D-0423-16F89298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2D50E1FF-5019-0CC2-209A-EAA97105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85045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93A549C1-2B29-CC33-B451-AE12DD3B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7A7638ED-7330-F7A1-6BF9-A7713EE3F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D81B9C43-3C00-2A99-0154-90E36552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5" name="Contenidor de text 4">
            <a:extLst>
              <a:ext uri="{FF2B5EF4-FFF2-40B4-BE49-F238E27FC236}">
                <a16:creationId xmlns:a16="http://schemas.microsoft.com/office/drawing/2014/main" id="{EE42454D-3D1E-9BC8-E0D6-4EFAB385B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95DF7220-4A63-1A05-7241-5A360AC43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7" name="Contenidor de data 6">
            <a:extLst>
              <a:ext uri="{FF2B5EF4-FFF2-40B4-BE49-F238E27FC236}">
                <a16:creationId xmlns:a16="http://schemas.microsoft.com/office/drawing/2014/main" id="{5E99A236-B43A-E812-54CC-95B756F7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8" name="Contenidor de peu de pàgina 7">
            <a:extLst>
              <a:ext uri="{FF2B5EF4-FFF2-40B4-BE49-F238E27FC236}">
                <a16:creationId xmlns:a16="http://schemas.microsoft.com/office/drawing/2014/main" id="{04804633-34A0-BC73-6D31-4F7DF4CE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Contenidor de número de diapositiva 8">
            <a:extLst>
              <a:ext uri="{FF2B5EF4-FFF2-40B4-BE49-F238E27FC236}">
                <a16:creationId xmlns:a16="http://schemas.microsoft.com/office/drawing/2014/main" id="{2C475C08-4ED9-C8B4-D553-71A55854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4587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893F88BC-9D88-2FC1-5DF9-06DB0C0F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data 2">
            <a:extLst>
              <a:ext uri="{FF2B5EF4-FFF2-40B4-BE49-F238E27FC236}">
                <a16:creationId xmlns:a16="http://schemas.microsoft.com/office/drawing/2014/main" id="{0CB7C43F-ADE3-C327-B30A-9591156A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4" name="Contenidor de peu de pàgina 3">
            <a:extLst>
              <a:ext uri="{FF2B5EF4-FFF2-40B4-BE49-F238E27FC236}">
                <a16:creationId xmlns:a16="http://schemas.microsoft.com/office/drawing/2014/main" id="{4C826A2F-052C-8AD2-E107-8344E7A8B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CD9AE553-CA43-E8B2-3EA4-1F85979C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85103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data 1">
            <a:extLst>
              <a:ext uri="{FF2B5EF4-FFF2-40B4-BE49-F238E27FC236}">
                <a16:creationId xmlns:a16="http://schemas.microsoft.com/office/drawing/2014/main" id="{D9D32662-D559-377E-661D-A5E1C58F9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3" name="Contenidor de peu de pàgina 2">
            <a:extLst>
              <a:ext uri="{FF2B5EF4-FFF2-40B4-BE49-F238E27FC236}">
                <a16:creationId xmlns:a16="http://schemas.microsoft.com/office/drawing/2014/main" id="{479CA6C3-81F7-AFE0-5C3D-41E6CA722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0AA555E0-09B2-01B1-73F3-1CEE65BF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132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2D38EB64-EEDD-5A52-AC60-44CF542E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5B7C4C07-554E-45EA-A52C-84D3DB66A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31D705F0-8C5B-A026-949C-0E87198B3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49BC92E8-22A6-FAE9-2E66-14F9D96F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D2C7483F-D403-CF9D-3D01-AE01052C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F2351E33-4728-1D7D-554E-063DF33C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17142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3569E56F-981F-6127-E9F0-8E45783E8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</a:p>
        </p:txBody>
      </p:sp>
      <p:sp>
        <p:nvSpPr>
          <p:cNvPr id="3" name="Contenidor d'imatge 2">
            <a:extLst>
              <a:ext uri="{FF2B5EF4-FFF2-40B4-BE49-F238E27FC236}">
                <a16:creationId xmlns:a16="http://schemas.microsoft.com/office/drawing/2014/main" id="{DED04847-20B5-E86C-29C4-9784D6516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08B0837D-5214-85AF-5597-B2E369261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20501F75-7C6A-7CF8-1D13-A3CEA29F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F83820CB-C629-7BB5-9A8E-52D3B68B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9A23E9BC-9540-0EE4-15D4-4AED02A7A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744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8FA7E26A-E180-22CC-8112-B0985538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1FEC636E-0A8D-D501-5DE6-13855A10B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00969A95-50F3-542B-5C9D-03D70253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07A384CC-CF57-C51B-7C8C-BB84A29A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ABB8C07D-B2FC-2280-C08E-14FE37EB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69735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>
            <a:extLst>
              <a:ext uri="{FF2B5EF4-FFF2-40B4-BE49-F238E27FC236}">
                <a16:creationId xmlns:a16="http://schemas.microsoft.com/office/drawing/2014/main" id="{456CE0C4-FAD3-10F6-8F58-50B6783B2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79F4F802-C3A3-9BA8-5C41-3012A0E1E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83D7FAAE-E579-8979-BF16-72CF24C05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F5CB72A9-71FC-5408-5DA4-13D9034D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58B35684-76E5-DDCE-AC2B-1EF0D793C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02280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títol 1">
            <a:extLst>
              <a:ext uri="{FF2B5EF4-FFF2-40B4-BE49-F238E27FC236}">
                <a16:creationId xmlns:a16="http://schemas.microsoft.com/office/drawing/2014/main" id="{FA40E8C6-B781-BAC8-7B39-9EE25B8E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8F45CB7E-D175-9992-36DE-48C1D5BE3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19D6C467-6FEE-9DFE-FE59-1E761D72A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BC102-9276-45BB-B360-46D8E32A348F}" type="datetimeFigureOut">
              <a:rPr lang="ca-ES" smtClean="0"/>
              <a:t>10/11/2025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A73C2953-F674-0D10-BE7A-9FD813433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DCC1D091-1DFF-FC03-BA13-ACE048E6A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F2B2A-F973-4D6E-A5A1-2124751B0C8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194671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net1one/Mineri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spotify.com/documentation/web-api" TargetMode="External"/><Relationship Id="rId2" Type="http://schemas.openxmlformats.org/officeDocument/2006/relationships/hyperlink" Target="https://www.kaggle.com/competitions/prediccion-de-la-popularidad-de-canciones/overview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spotify.com/documentation/web-api" TargetMode="External"/><Relationship Id="rId2" Type="http://schemas.openxmlformats.org/officeDocument/2006/relationships/hyperlink" Target="https://www.kaggle.com/competitions/prediccion-de-la-popularidad-de-canciones/overview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83E88293-82B5-0F75-ADAD-D3AD34FCB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/>
              <a:t>PORTADA</a:t>
            </a: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33BDF99F-C81A-EBF3-B1B3-39467C604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39394"/>
          </a:xfrm>
        </p:spPr>
        <p:txBody>
          <a:bodyPr>
            <a:normAutofit/>
          </a:bodyPr>
          <a:lstStyle/>
          <a:p>
            <a:r>
              <a:rPr lang="ca-ES" dirty="0"/>
              <a:t>Grupo 03</a:t>
            </a:r>
          </a:p>
          <a:p>
            <a:r>
              <a:rPr lang="ca-ES" dirty="0"/>
              <a:t>Kaggle: Grupo 03</a:t>
            </a:r>
          </a:p>
          <a:p>
            <a:r>
              <a:rPr lang="ca-ES" dirty="0"/>
              <a:t>Github: </a:t>
            </a:r>
            <a:r>
              <a:rPr lang="ca-ES" dirty="0">
                <a:hlinkClick r:id="rId2"/>
              </a:rPr>
              <a:t>https://github.com/benet1one/Mineria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85138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679FA6BF-6CE1-C1A1-3759-11DA52CE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ENTENDIMIENTO DEL NEGOCIO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C65C45E8-7975-F60E-7BCF-F68582BD9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001"/>
            <a:ext cx="10515600" cy="50878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2200" b="1" dirty="0"/>
              <a:t>Problema</a:t>
            </a:r>
            <a:endParaRPr lang="es-ES" sz="2200" dirty="0"/>
          </a:p>
          <a:p>
            <a:r>
              <a:rPr lang="es-ES" sz="2200" dirty="0"/>
              <a:t>Predecir la popularidad de canciones en Spotify usando atributos musicales y metadatos.</a:t>
            </a:r>
          </a:p>
          <a:p>
            <a:r>
              <a:rPr lang="es-ES" sz="2200" dirty="0"/>
              <a:t>Minimizar el error (MAPE) para obtener predicciones estables y útiles.</a:t>
            </a:r>
          </a:p>
          <a:p>
            <a:pPr marL="0" indent="0">
              <a:buNone/>
            </a:pPr>
            <a:r>
              <a:rPr lang="es-ES" sz="2200" b="1" dirty="0"/>
              <a:t>Objetivo Principal</a:t>
            </a:r>
            <a:endParaRPr lang="es-ES" sz="2200" dirty="0"/>
          </a:p>
          <a:p>
            <a:r>
              <a:rPr lang="es-ES" sz="2200" dirty="0"/>
              <a:t>Desarrollar un modelo de regresión que prediga </a:t>
            </a:r>
            <a:r>
              <a:rPr lang="es-ES" sz="2200" i="1" dirty="0" err="1"/>
              <a:t>song_popularity</a:t>
            </a:r>
            <a:r>
              <a:rPr lang="es-ES" sz="2200" dirty="0"/>
              <a:t>.</a:t>
            </a:r>
          </a:p>
          <a:p>
            <a:pPr marL="0" indent="0">
              <a:buNone/>
            </a:pPr>
            <a:r>
              <a:rPr lang="es-ES" sz="2200" b="1" dirty="0"/>
              <a:t>Objetivos Secundarios</a:t>
            </a:r>
            <a:endParaRPr lang="es-ES" sz="2200" dirty="0"/>
          </a:p>
          <a:p>
            <a:r>
              <a:rPr lang="es-ES" sz="2200" dirty="0"/>
              <a:t>Identificar qué variables musicales influyen más en la popularidad.</a:t>
            </a:r>
          </a:p>
          <a:p>
            <a:r>
              <a:rPr lang="es-ES" sz="2200" dirty="0"/>
              <a:t>Detectar problemas de calidad del </a:t>
            </a:r>
            <a:r>
              <a:rPr lang="es-ES" sz="2200" dirty="0" err="1"/>
              <a:t>dataset</a:t>
            </a:r>
            <a:r>
              <a:rPr lang="es-ES" sz="2200" dirty="0"/>
              <a:t>.</a:t>
            </a:r>
          </a:p>
          <a:p>
            <a:r>
              <a:rPr lang="es-ES" sz="2200" dirty="0"/>
              <a:t>Proponer mejoras futuras (nuevas variables, ajustes de metodología).</a:t>
            </a:r>
          </a:p>
          <a:p>
            <a:pPr marL="0" indent="0">
              <a:buNone/>
            </a:pPr>
            <a:r>
              <a:rPr lang="es-ES" sz="2200" b="1" dirty="0"/>
              <a:t>Fuentes Externas</a:t>
            </a:r>
            <a:endParaRPr lang="es-ES" sz="2200" dirty="0"/>
          </a:p>
          <a:p>
            <a:r>
              <a:rPr lang="es-ES" sz="2200" dirty="0" err="1"/>
              <a:t>Kaggle</a:t>
            </a:r>
            <a:r>
              <a:rPr lang="es-ES" sz="2200" dirty="0"/>
              <a:t> </a:t>
            </a:r>
            <a:r>
              <a:rPr lang="es-ES" sz="2200" dirty="0" err="1"/>
              <a:t>competition</a:t>
            </a:r>
            <a:r>
              <a:rPr lang="es-ES" sz="2200" dirty="0"/>
              <a:t>: </a:t>
            </a:r>
            <a:r>
              <a:rPr lang="es-ES" sz="2200" dirty="0">
                <a:hlinkClick r:id="rId2"/>
              </a:rPr>
              <a:t>https://www.kaggle.com/competitions/prediccion-de-la-popularidad-de-canciones/overview</a:t>
            </a:r>
            <a:endParaRPr lang="es-ES" sz="2200" dirty="0"/>
          </a:p>
          <a:p>
            <a:r>
              <a:rPr lang="pt-BR" sz="2400" dirty="0"/>
              <a:t>Spotify Web API (atributos </a:t>
            </a:r>
            <a:r>
              <a:rPr lang="pt-BR" sz="2400" dirty="0" err="1"/>
              <a:t>musicales</a:t>
            </a:r>
            <a:r>
              <a:rPr lang="pt-BR" sz="2400" dirty="0"/>
              <a:t>): </a:t>
            </a:r>
            <a:r>
              <a:rPr lang="pt-BR" sz="2400" dirty="0">
                <a:hlinkClick r:id="rId3"/>
              </a:rPr>
              <a:t>https://developer.spotify.com/documentation/web-api</a:t>
            </a:r>
            <a:endParaRPr lang="es-ES" sz="2200" dirty="0"/>
          </a:p>
          <a:p>
            <a:pPr marL="0" indent="0">
              <a:buNone/>
            </a:pPr>
            <a:endParaRPr lang="es-ES" sz="2200" dirty="0"/>
          </a:p>
          <a:p>
            <a:pPr marL="0" indent="0">
              <a:buNone/>
            </a:pP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42718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14E42910-7453-E355-36A6-C6865982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289"/>
            <a:ext cx="5450457" cy="1325563"/>
          </a:xfrm>
        </p:spPr>
        <p:txBody>
          <a:bodyPr/>
          <a:lstStyle/>
          <a:p>
            <a:r>
              <a:rPr lang="ca-ES" dirty="0"/>
              <a:t>ENTENDIMIENTO DE LOS DATOS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97CDA22B-0093-E606-839E-B4E0181FD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459"/>
            <a:ext cx="52578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sz="2000" b="1" dirty="0" err="1"/>
              <a:t>Dataset</a:t>
            </a:r>
            <a:endParaRPr lang="es-ES" sz="2000" dirty="0"/>
          </a:p>
          <a:p>
            <a:r>
              <a:rPr lang="es-ES" sz="2000" b="1" u="sng" dirty="0"/>
              <a:t>13.186</a:t>
            </a:r>
            <a:r>
              <a:rPr lang="es-ES" sz="2000" b="1" dirty="0"/>
              <a:t> registros</a:t>
            </a:r>
            <a:endParaRPr lang="es-ES" sz="2000" dirty="0"/>
          </a:p>
          <a:p>
            <a:r>
              <a:rPr lang="es-ES" sz="2000" b="1" dirty="0"/>
              <a:t>15 variables</a:t>
            </a:r>
            <a:r>
              <a:rPr lang="es-ES" sz="2000" dirty="0"/>
              <a:t> (12 cuantitativas, 3 cualitativas)</a:t>
            </a:r>
          </a:p>
          <a:p>
            <a:r>
              <a:rPr lang="es-ES" sz="2000" dirty="0"/>
              <a:t>Fuente: </a:t>
            </a:r>
            <a:r>
              <a:rPr lang="es-ES" sz="2000" i="1" dirty="0"/>
              <a:t>train.csv</a:t>
            </a:r>
            <a:r>
              <a:rPr lang="es-ES" sz="2000" dirty="0"/>
              <a:t> (</a:t>
            </a:r>
            <a:r>
              <a:rPr lang="es-ES" sz="2000" dirty="0" err="1"/>
              <a:t>Kaggle</a:t>
            </a:r>
            <a:r>
              <a:rPr lang="es-ES" sz="2000" dirty="0"/>
              <a:t>)</a:t>
            </a:r>
          </a:p>
          <a:p>
            <a:r>
              <a:rPr lang="es-ES" sz="2000" dirty="0"/>
              <a:t>Alcance: información técnica y musical de </a:t>
            </a:r>
            <a:r>
              <a:rPr lang="es-ES" sz="2000" dirty="0" err="1"/>
              <a:t>tracks</a:t>
            </a:r>
            <a:endParaRPr lang="es-ES" sz="2000" dirty="0"/>
          </a:p>
          <a:p>
            <a:pPr marL="0" indent="0">
              <a:buNone/>
            </a:pPr>
            <a:r>
              <a:rPr lang="es-ES" sz="2000" b="1" dirty="0"/>
              <a:t>Calidad de Datos</a:t>
            </a:r>
            <a:endParaRPr lang="es-ES" sz="2000" dirty="0"/>
          </a:p>
          <a:p>
            <a:r>
              <a:rPr lang="es-ES" sz="2000" dirty="0"/>
              <a:t>Sin </a:t>
            </a:r>
            <a:r>
              <a:rPr lang="es-ES" sz="2000" b="1" dirty="0" err="1"/>
              <a:t>missing</a:t>
            </a:r>
            <a:r>
              <a:rPr lang="es-ES" sz="2000" b="1" dirty="0"/>
              <a:t> </a:t>
            </a:r>
            <a:r>
              <a:rPr lang="es-ES" sz="2000" b="1" dirty="0" err="1"/>
              <a:t>values</a:t>
            </a:r>
            <a:r>
              <a:rPr lang="es-ES" sz="2000" dirty="0"/>
              <a:t> relevantes.</a:t>
            </a:r>
          </a:p>
          <a:p>
            <a:r>
              <a:rPr lang="es-ES" sz="2000" dirty="0"/>
              <a:t>Distribuciones correctas para variables ratio (0–1).</a:t>
            </a:r>
          </a:p>
          <a:p>
            <a:r>
              <a:rPr lang="es-ES" sz="2000" dirty="0"/>
              <a:t>Posibles </a:t>
            </a:r>
            <a:r>
              <a:rPr lang="es-ES" sz="2000" b="1" dirty="0" err="1"/>
              <a:t>outliers</a:t>
            </a:r>
            <a:r>
              <a:rPr lang="es-ES" sz="2000" dirty="0"/>
              <a:t> en </a:t>
            </a:r>
            <a:r>
              <a:rPr lang="es-ES" sz="2000" dirty="0" err="1"/>
              <a:t>loudness</a:t>
            </a:r>
            <a:r>
              <a:rPr lang="es-ES" sz="2000" dirty="0"/>
              <a:t>, tempo y </a:t>
            </a:r>
            <a:r>
              <a:rPr lang="es-ES" sz="2000" dirty="0" err="1"/>
              <a:t>duration_ms</a:t>
            </a:r>
            <a:r>
              <a:rPr lang="es-ES" sz="2000" dirty="0"/>
              <a:t>.</a:t>
            </a:r>
          </a:p>
          <a:p>
            <a:r>
              <a:rPr lang="es-ES" sz="2000" dirty="0"/>
              <a:t>Variables categóricas con valores completos y consistentes.</a:t>
            </a:r>
            <a:br>
              <a:rPr lang="es-ES" sz="2000" dirty="0"/>
            </a:br>
            <a:endParaRPr lang="es-ES" sz="2000" dirty="0"/>
          </a:p>
          <a:p>
            <a:pPr marL="0" indent="0">
              <a:buNone/>
            </a:pPr>
            <a:r>
              <a:rPr lang="es-ES" sz="2000" b="1" dirty="0"/>
              <a:t>Fuentes externas (datos)</a:t>
            </a:r>
            <a:endParaRPr lang="es-ES" sz="2000" dirty="0"/>
          </a:p>
          <a:p>
            <a:r>
              <a:rPr lang="es-ES" sz="2000" dirty="0"/>
              <a:t>train.csv (</a:t>
            </a:r>
            <a:r>
              <a:rPr lang="es-ES" sz="2000" dirty="0" err="1"/>
              <a:t>Kaggle</a:t>
            </a:r>
            <a:r>
              <a:rPr lang="es-ES" sz="2000" dirty="0"/>
              <a:t>): </a:t>
            </a:r>
            <a:r>
              <a:rPr lang="es-ES" sz="2000" dirty="0">
                <a:hlinkClick r:id="rId2"/>
              </a:rPr>
              <a:t>https://www.kaggle.com/competitions/prediccion-de-la-popularidad-de-canciones/overview</a:t>
            </a:r>
            <a:endParaRPr lang="es-ES" sz="2000" dirty="0"/>
          </a:p>
          <a:p>
            <a:r>
              <a:rPr lang="es-ES" sz="2000" dirty="0"/>
              <a:t>Documentación de atributos Spotify API: </a:t>
            </a:r>
            <a:r>
              <a:rPr lang="es-ES" sz="2000" dirty="0">
                <a:hlinkClick r:id="rId3"/>
              </a:rPr>
              <a:t>https://developer.spotify.com/documentation/web-api</a:t>
            </a:r>
            <a:endParaRPr lang="es-ES" sz="2000" dirty="0"/>
          </a:p>
          <a:p>
            <a:endParaRPr lang="es-ES" sz="2000" dirty="0"/>
          </a:p>
          <a:p>
            <a:pPr marL="0" indent="0">
              <a:buNone/>
            </a:pPr>
            <a:endParaRPr lang="ca-ES" dirty="0"/>
          </a:p>
        </p:txBody>
      </p:sp>
      <p:graphicFrame>
        <p:nvGraphicFramePr>
          <p:cNvPr id="4" name="Taula 3">
            <a:extLst>
              <a:ext uri="{FF2B5EF4-FFF2-40B4-BE49-F238E27FC236}">
                <a16:creationId xmlns:a16="http://schemas.microsoft.com/office/drawing/2014/main" id="{EAA95477-6E64-8DE7-633E-DB7BB148C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503030"/>
              </p:ext>
            </p:extLst>
          </p:nvPr>
        </p:nvGraphicFramePr>
        <p:xfrm>
          <a:off x="6359700" y="156289"/>
          <a:ext cx="5691404" cy="6545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851">
                  <a:extLst>
                    <a:ext uri="{9D8B030D-6E8A-4147-A177-3AD203B41FA5}">
                      <a16:colId xmlns:a16="http://schemas.microsoft.com/office/drawing/2014/main" val="523535755"/>
                    </a:ext>
                  </a:extLst>
                </a:gridCol>
                <a:gridCol w="1422851">
                  <a:extLst>
                    <a:ext uri="{9D8B030D-6E8A-4147-A177-3AD203B41FA5}">
                      <a16:colId xmlns:a16="http://schemas.microsoft.com/office/drawing/2014/main" val="2874694208"/>
                    </a:ext>
                  </a:extLst>
                </a:gridCol>
                <a:gridCol w="1422851">
                  <a:extLst>
                    <a:ext uri="{9D8B030D-6E8A-4147-A177-3AD203B41FA5}">
                      <a16:colId xmlns:a16="http://schemas.microsoft.com/office/drawing/2014/main" val="3077830386"/>
                    </a:ext>
                  </a:extLst>
                </a:gridCol>
                <a:gridCol w="1422851">
                  <a:extLst>
                    <a:ext uri="{9D8B030D-6E8A-4147-A177-3AD203B41FA5}">
                      <a16:colId xmlns:a16="http://schemas.microsoft.com/office/drawing/2014/main" val="868079831"/>
                    </a:ext>
                  </a:extLst>
                </a:gridCol>
              </a:tblGrid>
              <a:tr h="278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Rango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654581"/>
                  </a:ext>
                </a:extLst>
              </a:tr>
              <a:tr h="28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song_popularity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 err="1"/>
                        <a:t>Num</a:t>
                      </a:r>
                      <a:endParaRPr lang="es-E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Popularidad 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0–100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8382237"/>
                  </a:ext>
                </a:extLst>
              </a:tr>
              <a:tr h="398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danceability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 err="1"/>
                        <a:t>Num</a:t>
                      </a:r>
                      <a:r>
                        <a:rPr lang="es-ES" sz="1200" dirty="0"/>
                        <a:t> (0–1)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Ritmo y facilidad para bailar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0–1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487083"/>
                  </a:ext>
                </a:extLst>
              </a:tr>
              <a:tr h="28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Num (0–1)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Intensidad y actividad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0–1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201001"/>
                  </a:ext>
                </a:extLst>
              </a:tr>
              <a:tr h="28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valence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 err="1"/>
                        <a:t>Num</a:t>
                      </a:r>
                      <a:r>
                        <a:rPr lang="es-ES" sz="1200" dirty="0"/>
                        <a:t> (0–1)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Positividad emocional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0–1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973398"/>
                  </a:ext>
                </a:extLst>
              </a:tr>
              <a:tr h="517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liveness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Num (0–1)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Probabilidad de performance en vivo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0–1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549386"/>
                  </a:ext>
                </a:extLst>
              </a:tr>
              <a:tr h="398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 err="1"/>
                        <a:t>acousticness</a:t>
                      </a:r>
                      <a:endParaRPr lang="es-E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 err="1"/>
                        <a:t>Num</a:t>
                      </a:r>
                      <a:r>
                        <a:rPr lang="es-ES" sz="1200" dirty="0"/>
                        <a:t> (0–1)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Probabilidad de ser acústica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0–1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93698"/>
                  </a:ext>
                </a:extLst>
              </a:tr>
              <a:tr h="398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instrumentalness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Num (0–1)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Probabilidad de no tener voz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0–1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265884"/>
                  </a:ext>
                </a:extLst>
              </a:tr>
              <a:tr h="398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speechiness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Num (0–1)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Cantidad de palabras habladas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0–1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241798"/>
                  </a:ext>
                </a:extLst>
              </a:tr>
              <a:tr h="170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loudness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Nivel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-60–0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59792"/>
                  </a:ext>
                </a:extLst>
              </a:tr>
              <a:tr h="189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tempo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BPM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832266"/>
                  </a:ext>
                </a:extLst>
              </a:tr>
              <a:tr h="331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 err="1"/>
                        <a:t>duration_ms</a:t>
                      </a:r>
                      <a:endParaRPr lang="es-E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Duración en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134939"/>
                  </a:ext>
                </a:extLst>
              </a:tr>
              <a:tr h="47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Modo mayor/</a:t>
                      </a:r>
                      <a:r>
                        <a:rPr lang="es-ES" sz="1200" dirty="0" err="1"/>
                        <a:t>minor</a:t>
                      </a:r>
                      <a:endParaRPr lang="es-E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0–1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168997"/>
                  </a:ext>
                </a:extLst>
              </a:tr>
              <a:tr h="189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Tonalidad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-1–11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6964"/>
                  </a:ext>
                </a:extLst>
              </a:tr>
              <a:tr h="398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 err="1"/>
                        <a:t>time_signature</a:t>
                      </a:r>
                      <a:endParaRPr lang="es-E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Compás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3–7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571512"/>
                  </a:ext>
                </a:extLst>
              </a:tr>
              <a:tr h="398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 err="1"/>
                        <a:t>Num</a:t>
                      </a:r>
                      <a:endParaRPr lang="es-E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Identificador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1–13186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477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324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7E3799F-CE92-A2BC-0C09-96BF51B64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FRAMEWORK METODOLÓGICO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690535EB-0C1F-9D94-D931-11BCB927A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2698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B9C0711A-8F6C-0F12-CA6D-38BDEE32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EDA 1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B6C09E49-2314-CAAE-DB9C-8B5A3BC09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6899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9B8266C-E5D5-BEA2-10F3-12B0836E4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EDA 2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45B5C86D-5C1E-8905-982E-884180FD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6812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60C7F03-56CA-CA3B-1FA5-95D63F51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Imputación en dos pasos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B58AFD39-2AE6-3D17-B6E4-5E8CA1448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9"/>
            <a:ext cx="5146256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a-ES" sz="2000" dirty="0"/>
              <a:t>1. A partir del entendimiento del negocio i de </a:t>
            </a:r>
            <a:r>
              <a:rPr lang="ca-ES" sz="2000" b="1" dirty="0"/>
              <a:t>datos empíricos</a:t>
            </a:r>
            <a:r>
              <a:rPr lang="ca-ES" sz="2000" dirty="0"/>
              <a:t>, imputamos la modalidad.</a:t>
            </a:r>
          </a:p>
          <a:p>
            <a:pPr marL="0" indent="0" algn="ctr">
              <a:buNone/>
            </a:pPr>
            <a:r>
              <a:rPr lang="ca-E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key -&gt; prob_major -&gt; audio_mode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ca-ES" sz="2000" dirty="0"/>
          </a:p>
          <a:p>
            <a:pPr marL="0" indent="0">
              <a:buNone/>
            </a:pPr>
            <a:r>
              <a:rPr lang="ca-ES" sz="2000" dirty="0"/>
              <a:t>2. Imputamos del resto de valores con </a:t>
            </a:r>
            <a:r>
              <a:rPr lang="ca-ES" sz="2000" b="1" dirty="0"/>
              <a:t>MICE</a:t>
            </a:r>
            <a:r>
              <a:rPr lang="ca-ES" sz="2000" dirty="0"/>
              <a:t>, usando una matriz de predictores personalizada i diferentes métodos:</a:t>
            </a:r>
          </a:p>
          <a:p>
            <a:pPr>
              <a:buFontTx/>
              <a:buChar char="-"/>
            </a:pPr>
            <a:r>
              <a:rPr lang="ca-ES" sz="2000" dirty="0"/>
              <a:t>Predictive Mean Matching (pmm)</a:t>
            </a:r>
          </a:p>
          <a:p>
            <a:pPr>
              <a:buFontTx/>
              <a:buChar char="-"/>
            </a:pPr>
            <a:r>
              <a:rPr lang="ca-ES" sz="2000" dirty="0"/>
              <a:t>Ranfom Forest (rf)</a:t>
            </a:r>
          </a:p>
          <a:p>
            <a:pPr>
              <a:buFontTx/>
              <a:buChar char="-"/>
            </a:pPr>
            <a:r>
              <a:rPr lang="ca-ES" sz="2000" dirty="0"/>
              <a:t>Regressión Lasso (lasso.norm)</a:t>
            </a:r>
          </a:p>
          <a:p>
            <a:pPr marL="0" indent="0">
              <a:buNone/>
            </a:pPr>
            <a:endParaRPr lang="ca-ES" sz="2000" dirty="0"/>
          </a:p>
        </p:txBody>
      </p:sp>
      <p:pic>
        <p:nvPicPr>
          <p:cNvPr id="9" name="Picture 8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41C38051-4A9F-9D0F-0B0C-30CA15E1B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9947"/>
            <a:ext cx="5572875" cy="4839724"/>
          </a:xfrm>
          <a:prstGeom prst="rect">
            <a:avLst/>
          </a:prstGeom>
        </p:spPr>
      </p:pic>
      <p:sp>
        <p:nvSpPr>
          <p:cNvPr id="10" name="Títol 1">
            <a:extLst>
              <a:ext uri="{FF2B5EF4-FFF2-40B4-BE49-F238E27FC236}">
                <a16:creationId xmlns:a16="http://schemas.microsoft.com/office/drawing/2014/main" id="{A2F8ABFB-92DD-5E03-D185-EC6015165DAD}"/>
              </a:ext>
            </a:extLst>
          </p:cNvPr>
          <p:cNvSpPr txBox="1">
            <a:spLocks/>
          </p:cNvSpPr>
          <p:nvPr/>
        </p:nvSpPr>
        <p:spPr>
          <a:xfrm>
            <a:off x="8393025" y="1173945"/>
            <a:ext cx="1782110" cy="356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ca-ES" sz="1200" dirty="0">
                <a:latin typeface="+mn-lt"/>
              </a:rPr>
              <a:t>Uno de los gráficos para verificar la imputación</a:t>
            </a:r>
          </a:p>
        </p:txBody>
      </p:sp>
    </p:spTree>
    <p:extLst>
      <p:ext uri="{BB962C8B-B14F-4D97-AF65-F5344CB8AC3E}">
        <p14:creationId xmlns:p14="http://schemas.microsoft.com/office/powerpoint/2010/main" val="2014834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C9215775-B83B-FABB-7999-31CAA06A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Outliers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2DD47E32-EF7A-4F1C-B6BD-DAB29A43D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41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a-ES" sz="2000" dirty="0"/>
              <a:t>Para aprovechar la </a:t>
            </a:r>
            <a:r>
              <a:rPr lang="ca-ES" sz="2000" b="1" dirty="0"/>
              <a:t>fuerte relación </a:t>
            </a:r>
            <a:r>
              <a:rPr lang="ca-ES" sz="2000" dirty="0"/>
              <a:t>entre variables, se ha usado </a:t>
            </a:r>
            <a:r>
              <a:rPr lang="ca-ES" sz="2000" b="1" dirty="0"/>
              <a:t>ALSO </a:t>
            </a:r>
            <a:r>
              <a:rPr lang="ca-ES" sz="2000" dirty="0"/>
              <a:t>(Attribute Wise Learning Score for Outliers) para obtener un </a:t>
            </a:r>
            <a:r>
              <a:rPr lang="ca-ES" sz="2000" i="1" dirty="0"/>
              <a:t>score </a:t>
            </a:r>
            <a:r>
              <a:rPr lang="ca-ES" sz="2000" dirty="0"/>
              <a:t>para la mayoria de las variables. </a:t>
            </a:r>
          </a:p>
          <a:p>
            <a:pPr marL="0" indent="0">
              <a:buNone/>
            </a:pPr>
            <a:r>
              <a:rPr lang="ca-ES" sz="2000" dirty="0"/>
              <a:t>También se han detectado anomalias en la relación </a:t>
            </a:r>
            <a:r>
              <a:rPr lang="ca-ES" sz="2000" b="1" dirty="0"/>
              <a:t>instrumentalness-speechiness</a:t>
            </a:r>
            <a:r>
              <a:rPr lang="ca-ES" sz="2000" dirty="0"/>
              <a:t>, que se han calificado como outliers, pues una canción no puede ser instrumental i contener voces a la vez. </a:t>
            </a:r>
          </a:p>
          <a:p>
            <a:pPr marL="0" indent="0">
              <a:buNone/>
            </a:pPr>
            <a:r>
              <a:rPr lang="ca-ES" sz="2000" dirty="0"/>
              <a:t>Se han combinado los dos </a:t>
            </a:r>
            <a:r>
              <a:rPr lang="ca-ES" sz="2000" i="1" dirty="0"/>
              <a:t>scores</a:t>
            </a:r>
            <a:r>
              <a:rPr lang="ca-ES" sz="2000" dirty="0"/>
              <a:t> en uno, para usarlo como </a:t>
            </a:r>
            <a:r>
              <a:rPr lang="ca-ES" sz="2000" b="1" dirty="0"/>
              <a:t>peso</a:t>
            </a:r>
            <a:r>
              <a:rPr lang="ca-ES" sz="2000" dirty="0"/>
              <a:t> para los métodos de regresión.</a:t>
            </a:r>
          </a:p>
        </p:txBody>
      </p:sp>
      <p:pic>
        <p:nvPicPr>
          <p:cNvPr id="7" name="Picture 6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F0B81BD4-01B6-CA9B-68A7-5ADA51AB4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849" y="1389895"/>
            <a:ext cx="5431806" cy="4358365"/>
          </a:xfrm>
          <a:prstGeom prst="rect">
            <a:avLst/>
          </a:prstGeom>
        </p:spPr>
      </p:pic>
      <p:sp>
        <p:nvSpPr>
          <p:cNvPr id="8" name="Contenidor de contingut 2">
            <a:extLst>
              <a:ext uri="{FF2B5EF4-FFF2-40B4-BE49-F238E27FC236}">
                <a16:creationId xmlns:a16="http://schemas.microsoft.com/office/drawing/2014/main" id="{89BAC3D6-BEFE-46C8-45AA-25A177107D92}"/>
              </a:ext>
            </a:extLst>
          </p:cNvPr>
          <p:cNvSpPr txBox="1">
            <a:spLocks/>
          </p:cNvSpPr>
          <p:nvPr/>
        </p:nvSpPr>
        <p:spPr>
          <a:xfrm>
            <a:off x="8666961" y="1109740"/>
            <a:ext cx="1842742" cy="261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ca-ES" sz="1200" i="1" dirty="0"/>
              <a:t>outlier score combinado</a:t>
            </a:r>
          </a:p>
        </p:txBody>
      </p:sp>
    </p:spTree>
    <p:extLst>
      <p:ext uri="{BB962C8B-B14F-4D97-AF65-F5344CB8AC3E}">
        <p14:creationId xmlns:p14="http://schemas.microsoft.com/office/powerpoint/2010/main" val="214685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ABDAD233-203F-7C0A-15A4-B4D2118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Feature</a:t>
            </a:r>
            <a:r>
              <a:rPr lang="ca-ES" dirty="0"/>
              <a:t> </a:t>
            </a:r>
            <a:r>
              <a:rPr lang="ca-ES" dirty="0" err="1"/>
              <a:t>Engineering</a:t>
            </a:r>
            <a:endParaRPr lang="ca-ES" dirty="0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7C53B1F1-06EF-F5A9-6BEE-AE3F23B7F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708908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BA339733-BE23-C979-E416-86882860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Feature</a:t>
            </a:r>
            <a:r>
              <a:rPr lang="ca-ES" dirty="0"/>
              <a:t> </a:t>
            </a:r>
            <a:r>
              <a:rPr lang="ca-ES" dirty="0" err="1"/>
              <a:t>Engineering</a:t>
            </a:r>
            <a:endParaRPr lang="ca-ES" dirty="0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6CB79518-0958-33D4-E9B0-09B749824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237920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7FE225D6-96A5-6882-75E3-43C22398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Association</a:t>
            </a:r>
            <a:r>
              <a:rPr lang="ca-ES" dirty="0"/>
              <a:t> </a:t>
            </a:r>
            <a:r>
              <a:rPr lang="ca-ES" dirty="0" err="1"/>
              <a:t>Rules</a:t>
            </a:r>
            <a:endParaRPr lang="ca-ES" dirty="0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656CBB04-2387-1479-CB3A-FE475A125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64468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0D4ED629-6521-4830-4581-1954F7FC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Association</a:t>
            </a:r>
            <a:r>
              <a:rPr lang="ca-ES" dirty="0"/>
              <a:t> </a:t>
            </a:r>
            <a:r>
              <a:rPr lang="ca-ES" dirty="0" err="1"/>
              <a:t>Rules</a:t>
            </a:r>
            <a:endParaRPr lang="ca-ES" dirty="0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EBEEC56C-0F65-4A46-EC3E-65608F39C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58843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26F8249-4057-A1B6-D24B-4F8C6D09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Preparación</a:t>
            </a:r>
            <a:r>
              <a:rPr lang="ca-ES" dirty="0"/>
              <a:t> para el </a:t>
            </a:r>
            <a:r>
              <a:rPr lang="ca-ES" dirty="0" err="1"/>
              <a:t>modelado</a:t>
            </a:r>
            <a:endParaRPr lang="ca-ES" dirty="0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A33CB87B-B723-62D3-F721-B0EF0252D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028020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0DD33024-7E2F-19C8-8180-13323C4A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KNN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ABC7C7E8-B4C4-93D1-C547-35BDADFB7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32939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FAB87C2-CBC7-4CB6-1DD9-4EB3CF40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KNN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B6D4A93A-E060-BC58-DB75-57FC8FCA6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7153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B8151BF-4BC5-A36A-76CA-0669F597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Conclusiones</a:t>
            </a:r>
            <a:r>
              <a:rPr lang="ca-ES" dirty="0"/>
              <a:t> y </a:t>
            </a:r>
            <a:r>
              <a:rPr lang="ca-ES" dirty="0" err="1"/>
              <a:t>proximos</a:t>
            </a:r>
            <a:r>
              <a:rPr lang="ca-ES" dirty="0"/>
              <a:t> </a:t>
            </a:r>
            <a:r>
              <a:rPr lang="ca-ES" dirty="0" err="1"/>
              <a:t>pasos</a:t>
            </a:r>
            <a:endParaRPr lang="ca-ES" dirty="0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B78B9F8F-42AE-77BD-C6EA-C17762091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552056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c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542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Source Code Pro</vt:lpstr>
      <vt:lpstr>Tema de l'Office</vt:lpstr>
      <vt:lpstr>PORTADA</vt:lpstr>
      <vt:lpstr>ENTENDIMIENTO DEL NEGOCIO</vt:lpstr>
      <vt:lpstr>ENTENDIMIENTO DE LOS DATOS</vt:lpstr>
      <vt:lpstr>FRAMEWORK METODOLÓGICO</vt:lpstr>
      <vt:lpstr>EDA 1</vt:lpstr>
      <vt:lpstr>EDA 2</vt:lpstr>
      <vt:lpstr>Imputación en dos pasos</vt:lpstr>
      <vt:lpstr>Outliers</vt:lpstr>
      <vt:lpstr>Feature Engineering</vt:lpstr>
      <vt:lpstr>Feature Engineering</vt:lpstr>
      <vt:lpstr>Association Rules</vt:lpstr>
      <vt:lpstr>Association Rules</vt:lpstr>
      <vt:lpstr>Preparación para el modelado</vt:lpstr>
      <vt:lpstr>KNN</vt:lpstr>
      <vt:lpstr>KNN</vt:lpstr>
      <vt:lpstr>Conclusiones y proximos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IKER MARIA MONTES</dc:creator>
  <cp:lastModifiedBy>BERNAT GARCÍA GARCÍA</cp:lastModifiedBy>
  <cp:revision>8</cp:revision>
  <dcterms:created xsi:type="dcterms:W3CDTF">2025-11-09T14:38:01Z</dcterms:created>
  <dcterms:modified xsi:type="dcterms:W3CDTF">2025-11-10T08:36:42Z</dcterms:modified>
</cp:coreProperties>
</file>