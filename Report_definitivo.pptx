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74" r:id="rId8"/>
    <p:sldId id="275" r:id="rId9"/>
    <p:sldId id="264" r:id="rId10"/>
    <p:sldId id="265" r:id="rId11"/>
    <p:sldId id="276" r:id="rId12"/>
    <p:sldId id="277" r:id="rId13"/>
    <p:sldId id="278"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6247" autoAdjust="0"/>
  </p:normalViewPr>
  <p:slideViewPr>
    <p:cSldViewPr snapToGrid="0">
      <p:cViewPr varScale="1">
        <p:scale>
          <a:sx n="140" d="100"/>
          <a:sy n="140" d="100"/>
        </p:scale>
        <p:origin x="165" y="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davide.rota@estudiantat.upc.edu" TargetMode="External"/><Relationship Id="rId2" Type="http://schemas.openxmlformats.org/officeDocument/2006/relationships/hyperlink" Target="mailto:bernat.garcia.garcia@estudiantat.upc.edu" TargetMode="External"/><Relationship Id="rId1" Type="http://schemas.openxmlformats.org/officeDocument/2006/relationships/slideLayout" Target="../slideLayouts/slideLayout1.xml"/><Relationship Id="rId5" Type="http://schemas.openxmlformats.org/officeDocument/2006/relationships/hyperlink" Target="https://github.com/benet1one/Mineria" TargetMode="External"/><Relationship Id="rId4" Type="http://schemas.openxmlformats.org/officeDocument/2006/relationships/hyperlink" Target="mailto:ptobelja7@alumnes.ub.edu"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702733" y="1758462"/>
            <a:ext cx="10803467" cy="4371033"/>
          </a:xfrm>
        </p:spPr>
        <p:txBody>
          <a:bodyPr>
            <a:normAutofit/>
          </a:bodyPr>
          <a:lstStyle/>
          <a:p>
            <a:r>
              <a:rPr lang="ca-ES" sz="2000" dirty="0"/>
              <a:t>Group 03, ID Kaggle: Grupo 03</a:t>
            </a:r>
          </a:p>
          <a:p>
            <a:pPr algn="l"/>
            <a:endParaRPr lang="ca-ES" sz="2000" dirty="0"/>
          </a:p>
          <a:p>
            <a:pPr algn="l"/>
            <a:r>
              <a:rPr lang="it-IT" sz="2000" dirty="0"/>
              <a:t>Garcia Garcia, Bernat – </a:t>
            </a:r>
            <a:r>
              <a:rPr lang="it-IT" sz="2000" dirty="0">
                <a:hlinkClick r:id="rId2"/>
              </a:rPr>
              <a:t>bernat.garcia.garcia@estudiantat.upc.edu</a:t>
            </a:r>
            <a:r>
              <a:rPr lang="it-IT" sz="2000" dirty="0"/>
              <a:t> (UB, UPC)</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3"/>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a:t>Tobella Jacomet, Pol - </a:t>
            </a:r>
            <a:r>
              <a:rPr lang="it-IT" sz="2000" dirty="0">
                <a:hlinkClick r:id="rId4"/>
              </a:rPr>
              <a:t>ptobelja7@alumnes.ub.edu</a:t>
            </a:r>
            <a:r>
              <a:rPr lang="it-IT" sz="2000" dirty="0"/>
              <a:t> (Doble grado Economía-Estadística, UB-UPC)</a:t>
            </a:r>
            <a:endParaRPr lang="ca-ES" sz="2000" dirty="0"/>
          </a:p>
          <a:p>
            <a:pPr algn="l"/>
            <a:endParaRPr lang="ca-ES" sz="2000" dirty="0"/>
          </a:p>
          <a:p>
            <a:pPr algn="l"/>
            <a:endParaRPr lang="ca-ES" sz="2000" dirty="0"/>
          </a:p>
          <a:p>
            <a:pPr algn="l"/>
            <a:r>
              <a:rPr lang="ca-ES" sz="2000" dirty="0"/>
              <a:t>GitHub link: </a:t>
            </a:r>
            <a:r>
              <a:rPr lang="ca-ES" sz="2000" dirty="0">
                <a:hlinkClick r:id="rId5"/>
              </a:rPr>
              <a:t>https://github.com/benet1one/Mineria</a:t>
            </a:r>
            <a:endParaRPr lang="ca-ES" sz="2000" dirty="0"/>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920232"/>
          </a:xfrm>
        </p:spPr>
        <p:txBody>
          <a:bodyPr>
            <a:normAutofit fontScale="85000" lnSpcReduction="20000"/>
          </a:bodyPr>
          <a:lstStyle/>
          <a:p>
            <a:pPr marL="0" indent="0">
              <a:buNone/>
            </a:pPr>
            <a:r>
              <a:rPr lang="es-ES" sz="2000" b="1" dirty="0" err="1"/>
              <a:t>Dataset</a:t>
            </a:r>
            <a:endParaRPr lang="es-ES" sz="2000" dirty="0"/>
          </a:p>
          <a:p>
            <a:r>
              <a:rPr lang="es-ES" sz="2000" dirty="0"/>
              <a:t>13.186 registros</a:t>
            </a:r>
          </a:p>
          <a:p>
            <a:r>
              <a:rPr lang="es-ES" sz="2000" dirty="0"/>
              <a:t>15 variables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dirty="0" err="1"/>
              <a:t>missing</a:t>
            </a:r>
            <a:r>
              <a:rPr lang="es-ES" sz="2000" dirty="0"/>
              <a:t> </a:t>
            </a:r>
            <a:r>
              <a:rPr lang="es-ES" sz="2000" dirty="0" err="1"/>
              <a:t>values</a:t>
            </a:r>
            <a:r>
              <a:rPr lang="es-ES" sz="2000" dirty="0"/>
              <a:t> relevantes.</a:t>
            </a:r>
          </a:p>
          <a:p>
            <a:r>
              <a:rPr lang="es-ES" sz="2000" dirty="0"/>
              <a:t>Distribuciones correctas para variables ratio (0–1).</a:t>
            </a:r>
          </a:p>
          <a:p>
            <a:r>
              <a:rPr lang="es-ES" sz="2000" dirty="0"/>
              <a:t>Posibles </a:t>
            </a:r>
            <a:r>
              <a:rPr lang="es-ES" sz="2000"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a:xfrm>
            <a:off x="838200" y="1440611"/>
            <a:ext cx="10515600" cy="5052264"/>
          </a:xfrm>
        </p:spPr>
        <p:txBody>
          <a:bodyPr>
            <a:normAutofit fontScale="47500" lnSpcReduction="20000"/>
          </a:bodyPr>
          <a:lstStyle/>
          <a:p>
            <a:pPr marL="0" indent="0">
              <a:buNone/>
            </a:pPr>
            <a:r>
              <a:rPr lang="es-ES" b="1" dirty="0"/>
              <a:t>1. Business </a:t>
            </a:r>
            <a:r>
              <a:rPr lang="es-ES" b="1" dirty="0" err="1"/>
              <a:t>Understanding</a:t>
            </a:r>
            <a:endParaRPr lang="es-ES" b="1" dirty="0"/>
          </a:p>
          <a:p>
            <a:r>
              <a:rPr lang="es-ES" dirty="0"/>
              <a:t>Definición problemas, </a:t>
            </a:r>
            <a:r>
              <a:rPr lang="es-ES" dirty="0" err="1"/>
              <a:t>KPIs</a:t>
            </a:r>
            <a:r>
              <a:rPr lang="es-ES" dirty="0"/>
              <a:t>, alcance de predicción, alineación de objetivos de negocio con objetivos técnicos.</a:t>
            </a:r>
          </a:p>
          <a:p>
            <a:r>
              <a:rPr lang="es-ES" dirty="0"/>
              <a:t>Responsable: </a:t>
            </a:r>
            <a:r>
              <a:rPr lang="es-ES" b="1" dirty="0"/>
              <a:t>Iker</a:t>
            </a:r>
            <a:endParaRPr lang="es-ES" dirty="0"/>
          </a:p>
          <a:p>
            <a:pPr marL="0" indent="0">
              <a:buNone/>
            </a:pPr>
            <a:r>
              <a:rPr lang="es-ES" b="1" dirty="0"/>
              <a:t>2. Data </a:t>
            </a:r>
            <a:r>
              <a:rPr lang="es-ES" b="1" dirty="0" err="1"/>
              <a:t>Understanding</a:t>
            </a:r>
            <a:endParaRPr lang="es-ES" b="1" dirty="0"/>
          </a:p>
          <a:p>
            <a:r>
              <a:rPr lang="es-ES" dirty="0"/>
              <a:t>Exploración inicial, revisión metadatos, análisis de datos, identificación preliminar de anomalías y variables clave.</a:t>
            </a:r>
          </a:p>
          <a:p>
            <a:r>
              <a:rPr lang="es-ES" dirty="0"/>
              <a:t>Responsable: </a:t>
            </a:r>
            <a:r>
              <a:rPr lang="es-ES" b="1" dirty="0"/>
              <a:t>[Nombre del responsable]</a:t>
            </a:r>
            <a:endParaRPr lang="es-ES" dirty="0"/>
          </a:p>
          <a:p>
            <a:pPr marL="0" indent="0">
              <a:buNone/>
            </a:pPr>
            <a:r>
              <a:rPr lang="es-ES" b="1" dirty="0"/>
              <a:t>3. Data </a:t>
            </a:r>
            <a:r>
              <a:rPr lang="es-ES" b="1" dirty="0" err="1"/>
              <a:t>Preparation</a:t>
            </a:r>
            <a:endParaRPr lang="es-ES" b="1" dirty="0"/>
          </a:p>
          <a:p>
            <a:r>
              <a:rPr lang="es-ES" dirty="0"/>
              <a:t>Limpieza, transformación, tratamiento de </a:t>
            </a:r>
            <a:r>
              <a:rPr lang="es-ES" dirty="0" err="1"/>
              <a:t>missing</a:t>
            </a:r>
            <a:r>
              <a:rPr lang="es-ES" dirty="0"/>
              <a:t>/</a:t>
            </a:r>
            <a:r>
              <a:rPr lang="es-ES" dirty="0" err="1"/>
              <a:t>outliers</a:t>
            </a:r>
            <a:r>
              <a:rPr lang="es-ES" dirty="0"/>
              <a:t>, normalizaciones, </a:t>
            </a:r>
            <a:r>
              <a:rPr lang="es-ES" dirty="0" err="1"/>
              <a:t>encoding</a:t>
            </a:r>
            <a:r>
              <a:rPr lang="es-ES" dirty="0"/>
              <a:t>, </a:t>
            </a:r>
            <a:r>
              <a:rPr lang="es-ES" dirty="0" err="1"/>
              <a:t>feature</a:t>
            </a:r>
            <a:r>
              <a:rPr lang="es-ES" dirty="0"/>
              <a:t> </a:t>
            </a:r>
            <a:r>
              <a:rPr lang="es-ES" dirty="0" err="1"/>
              <a:t>engineering</a:t>
            </a:r>
            <a:r>
              <a:rPr lang="es-ES" dirty="0"/>
              <a:t>.</a:t>
            </a:r>
          </a:p>
          <a:p>
            <a:r>
              <a:rPr lang="es-ES" dirty="0"/>
              <a:t>Responsable: </a:t>
            </a:r>
            <a:r>
              <a:rPr lang="es-ES" b="1" dirty="0"/>
              <a:t>[Nombre del responsable]</a:t>
            </a:r>
            <a:endParaRPr lang="es-ES" dirty="0"/>
          </a:p>
          <a:p>
            <a:pPr marL="0" indent="0">
              <a:buNone/>
            </a:pPr>
            <a:r>
              <a:rPr lang="es-ES" b="1" dirty="0"/>
              <a:t>4. </a:t>
            </a:r>
            <a:r>
              <a:rPr lang="es-ES" b="1" dirty="0" err="1"/>
              <a:t>Modeling</a:t>
            </a:r>
            <a:endParaRPr lang="es-ES" b="1" dirty="0"/>
          </a:p>
          <a:p>
            <a:r>
              <a:rPr lang="es-ES" dirty="0"/>
              <a:t>Construcción de reglas tipo </a:t>
            </a:r>
            <a:r>
              <a:rPr lang="es-ES" dirty="0" err="1"/>
              <a:t>Market</a:t>
            </a:r>
            <a:r>
              <a:rPr lang="es-ES" dirty="0"/>
              <a:t> </a:t>
            </a:r>
            <a:r>
              <a:rPr lang="es-ES" dirty="0" err="1"/>
              <a:t>Basket</a:t>
            </a:r>
            <a:r>
              <a:rPr lang="es-ES" dirty="0"/>
              <a:t>, interpretación de patrones de </a:t>
            </a:r>
            <a:r>
              <a:rPr lang="es-ES" dirty="0" err="1"/>
              <a:t>co-ocurrencia</a:t>
            </a:r>
            <a:r>
              <a:rPr lang="es-ES" dirty="0"/>
              <a:t>.</a:t>
            </a:r>
          </a:p>
          <a:p>
            <a:r>
              <a:rPr lang="es-ES" dirty="0"/>
              <a:t>Selección de algoritmos, definición de particiones training/test, selección de predictores finales.</a:t>
            </a:r>
          </a:p>
          <a:p>
            <a:r>
              <a:rPr lang="es-ES" dirty="0"/>
              <a:t>Responsable: </a:t>
            </a:r>
            <a:r>
              <a:rPr lang="es-ES" b="1" dirty="0"/>
              <a:t>[Nombre del responsable]</a:t>
            </a:r>
            <a:endParaRPr lang="es-ES" dirty="0"/>
          </a:p>
          <a:p>
            <a:pPr marL="0" indent="0">
              <a:buNone/>
            </a:pPr>
            <a:r>
              <a:rPr lang="es-ES" b="1" dirty="0"/>
              <a:t>5. </a:t>
            </a:r>
            <a:r>
              <a:rPr lang="es-ES" b="1" dirty="0" err="1"/>
              <a:t>Evaluation</a:t>
            </a:r>
            <a:endParaRPr lang="es-ES" b="1" dirty="0"/>
          </a:p>
          <a:p>
            <a:r>
              <a:rPr lang="es-ES" dirty="0"/>
              <a:t>Comparación entre modelos, selección del mejor candidato, interpretabilidad de variables.</a:t>
            </a:r>
          </a:p>
          <a:p>
            <a:r>
              <a:rPr lang="es-ES" dirty="0"/>
              <a:t>Responsables: </a:t>
            </a:r>
            <a:r>
              <a:rPr lang="es-ES" b="1" dirty="0"/>
              <a:t>[Nombre(s)]</a:t>
            </a:r>
            <a:endParaRPr lang="es-ES" dirty="0"/>
          </a:p>
          <a:p>
            <a:pPr marL="0" indent="0">
              <a:buNone/>
            </a:pPr>
            <a:r>
              <a:rPr lang="es-ES" b="1" dirty="0"/>
              <a:t>6. </a:t>
            </a:r>
            <a:r>
              <a:rPr lang="es-ES" b="1" dirty="0" err="1"/>
              <a:t>Deployment</a:t>
            </a:r>
            <a:r>
              <a:rPr lang="es-ES" b="1" dirty="0"/>
              <a:t> (No incluido en alcance actual)</a:t>
            </a:r>
          </a:p>
          <a:p>
            <a:r>
              <a:rPr lang="es-ES" dirty="0"/>
              <a:t>Se deja conceptual por completitud del </a:t>
            </a:r>
            <a:r>
              <a:rPr lang="es-ES" dirty="0" err="1"/>
              <a:t>framework</a:t>
            </a:r>
            <a:r>
              <a:rPr lang="es-ES" dirty="0"/>
              <a:t>.</a:t>
            </a:r>
          </a:p>
          <a:p>
            <a:r>
              <a:rPr lang="es-ES" dirty="0"/>
              <a:t>Responsable: N/A</a:t>
            </a:r>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a:t>Imputación en dos pasos</a:t>
            </a:r>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a:xfrm>
            <a:off x="838201" y="1690689"/>
            <a:ext cx="5146256" cy="4486274"/>
          </a:xfrm>
        </p:spPr>
        <p:txBody>
          <a:bodyPr>
            <a:normAutofit/>
          </a:bodyPr>
          <a:lstStyle/>
          <a:p>
            <a:pPr marL="0" indent="0">
              <a:buNone/>
            </a:pPr>
            <a:r>
              <a:rPr lang="ca-ES" sz="2000" dirty="0"/>
              <a:t>1. A partir del entendimiento del negocio i de </a:t>
            </a:r>
            <a:r>
              <a:rPr lang="ca-ES" sz="2000" b="1" dirty="0"/>
              <a:t>datos empíricos</a:t>
            </a:r>
            <a:r>
              <a:rPr lang="ca-ES" sz="2000" dirty="0"/>
              <a:t>, imputamos la modalidad.</a:t>
            </a:r>
          </a:p>
          <a:p>
            <a:pPr marL="0" indent="0" algn="ctr">
              <a:buNone/>
            </a:pPr>
            <a:r>
              <a:rPr lang="ca-ES" sz="1600" dirty="0">
                <a:latin typeface="Source Code Pro" panose="020B0509030403020204" pitchFamily="49" charset="0"/>
                <a:ea typeface="Source Code Pro" panose="020B0509030403020204" pitchFamily="49" charset="0"/>
              </a:rPr>
              <a:t>key -&gt; prob_major -&gt; audio_mode</a:t>
            </a:r>
          </a:p>
          <a:p>
            <a:pPr marL="514350" indent="-514350">
              <a:buFont typeface="Arial" panose="020B0604020202020204" pitchFamily="34" charset="0"/>
              <a:buAutoNum type="arabicPeriod"/>
            </a:pPr>
            <a:endParaRPr lang="ca-ES" sz="2000" dirty="0"/>
          </a:p>
          <a:p>
            <a:pPr marL="0" indent="0">
              <a:buNone/>
            </a:pPr>
            <a:r>
              <a:rPr lang="ca-ES" sz="2000" dirty="0"/>
              <a:t>2. Imputamos del resto de valores con </a:t>
            </a:r>
            <a:r>
              <a:rPr lang="ca-ES" sz="2000" b="1" dirty="0"/>
              <a:t>MICE</a:t>
            </a:r>
            <a:r>
              <a:rPr lang="ca-ES" sz="2000" dirty="0"/>
              <a:t>, usando una matriz de predictores personalizada i diferentes métodos:</a:t>
            </a:r>
          </a:p>
          <a:p>
            <a:pPr>
              <a:buFontTx/>
              <a:buChar char="-"/>
            </a:pPr>
            <a:r>
              <a:rPr lang="ca-ES" sz="2000" dirty="0"/>
              <a:t>Predictive Mean Matching (pmm)</a:t>
            </a:r>
          </a:p>
          <a:p>
            <a:pPr>
              <a:buFontTx/>
              <a:buChar char="-"/>
            </a:pPr>
            <a:r>
              <a:rPr lang="ca-ES" sz="2000" dirty="0"/>
              <a:t>Ranfom Forest (rf)</a:t>
            </a:r>
          </a:p>
          <a:p>
            <a:pPr>
              <a:buFontTx/>
              <a:buChar char="-"/>
            </a:pPr>
            <a:r>
              <a:rPr lang="ca-ES" sz="2000" dirty="0"/>
              <a:t>Regressión Lasso (lasso.norm)</a:t>
            </a:r>
          </a:p>
          <a:p>
            <a:pPr marL="0" indent="0">
              <a:buNone/>
            </a:pPr>
            <a:endParaRPr lang="ca-ES" sz="2000" dirty="0"/>
          </a:p>
        </p:txBody>
      </p:sp>
      <p:pic>
        <p:nvPicPr>
          <p:cNvPr id="9" name="Picture 8" descr="A graph of different colored dots&#10;&#10;AI-generated content may be incorrect.">
            <a:extLst>
              <a:ext uri="{FF2B5EF4-FFF2-40B4-BE49-F238E27FC236}">
                <a16:creationId xmlns:a16="http://schemas.microsoft.com/office/drawing/2014/main" id="{41C38051-4A9F-9D0F-0B0C-30CA15E1B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529947"/>
            <a:ext cx="5572875" cy="4839724"/>
          </a:xfrm>
          <a:prstGeom prst="rect">
            <a:avLst/>
          </a:prstGeom>
        </p:spPr>
      </p:pic>
      <p:sp>
        <p:nvSpPr>
          <p:cNvPr id="10" name="Títol 1">
            <a:extLst>
              <a:ext uri="{FF2B5EF4-FFF2-40B4-BE49-F238E27FC236}">
                <a16:creationId xmlns:a16="http://schemas.microsoft.com/office/drawing/2014/main" id="{A2F8ABFB-92DD-5E03-D185-EC6015165DAD}"/>
              </a:ext>
            </a:extLst>
          </p:cNvPr>
          <p:cNvSpPr txBox="1">
            <a:spLocks/>
          </p:cNvSpPr>
          <p:nvPr/>
        </p:nvSpPr>
        <p:spPr>
          <a:xfrm>
            <a:off x="8393025" y="1173945"/>
            <a:ext cx="1782110" cy="35600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ca-ES" sz="1200" dirty="0">
                <a:latin typeface="+mn-lt"/>
              </a:rPr>
              <a:t>Uno de los gráficos para verificar la imputación</a:t>
            </a:r>
          </a:p>
        </p:txBody>
      </p:sp>
    </p:spTree>
    <p:extLst>
      <p:ext uri="{BB962C8B-B14F-4D97-AF65-F5344CB8AC3E}">
        <p14:creationId xmlns:p14="http://schemas.microsoft.com/office/powerpoint/2010/main" val="377501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a:t>Outliers</a:t>
            </a:r>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a:xfrm>
            <a:off x="838200" y="1825625"/>
            <a:ext cx="5364156" cy="4351338"/>
          </a:xfrm>
        </p:spPr>
        <p:txBody>
          <a:bodyPr>
            <a:normAutofit/>
          </a:bodyPr>
          <a:lstStyle/>
          <a:p>
            <a:pPr marL="0" indent="0">
              <a:buNone/>
            </a:pPr>
            <a:r>
              <a:rPr lang="ca-ES" sz="2000" dirty="0"/>
              <a:t>Para aprovechar la </a:t>
            </a:r>
            <a:r>
              <a:rPr lang="ca-ES" sz="2000" b="1" dirty="0"/>
              <a:t>fuerte relación </a:t>
            </a:r>
            <a:r>
              <a:rPr lang="ca-ES" sz="2000" dirty="0"/>
              <a:t>entre variables, se ha usado </a:t>
            </a:r>
            <a:r>
              <a:rPr lang="ca-ES" sz="2000" b="1" dirty="0"/>
              <a:t>ALSO </a:t>
            </a:r>
            <a:r>
              <a:rPr lang="ca-ES" sz="2000" dirty="0"/>
              <a:t>(Attribute Wise Learning Score for Outliers) para obtener un </a:t>
            </a:r>
            <a:r>
              <a:rPr lang="ca-ES" sz="2000" i="1" dirty="0"/>
              <a:t>score </a:t>
            </a:r>
            <a:r>
              <a:rPr lang="ca-ES" sz="2000" dirty="0"/>
              <a:t>para la mayoria de las variables. </a:t>
            </a:r>
          </a:p>
          <a:p>
            <a:pPr marL="0" indent="0">
              <a:buNone/>
            </a:pPr>
            <a:r>
              <a:rPr lang="ca-ES" sz="2000" dirty="0"/>
              <a:t>También se han detectado anomalias en la relación </a:t>
            </a:r>
            <a:r>
              <a:rPr lang="ca-ES" sz="2000" b="1" dirty="0"/>
              <a:t>instrumentalness-speechiness</a:t>
            </a:r>
            <a:r>
              <a:rPr lang="ca-ES" sz="2000" dirty="0"/>
              <a:t>, que se han calificado como outliers, pues una canción no puede ser instrumental i contener voces a la vez. </a:t>
            </a:r>
          </a:p>
          <a:p>
            <a:pPr marL="0" indent="0">
              <a:buNone/>
            </a:pPr>
            <a:r>
              <a:rPr lang="ca-ES" sz="2000" dirty="0"/>
              <a:t>Se han combinado los dos </a:t>
            </a:r>
            <a:r>
              <a:rPr lang="ca-ES" sz="2000" i="1" dirty="0"/>
              <a:t>scores</a:t>
            </a:r>
            <a:r>
              <a:rPr lang="ca-ES" sz="2000" dirty="0"/>
              <a:t> en uno, para usarlo como </a:t>
            </a:r>
            <a:r>
              <a:rPr lang="ca-ES" sz="2000" b="1" dirty="0"/>
              <a:t>peso</a:t>
            </a:r>
            <a:r>
              <a:rPr lang="ca-ES" sz="2000" dirty="0"/>
              <a:t> para los métodos de regresión.</a:t>
            </a:r>
          </a:p>
        </p:txBody>
      </p:sp>
      <p:pic>
        <p:nvPicPr>
          <p:cNvPr id="7" name="Picture 6" descr="A graph of different sizes and colors&#10;&#10;AI-generated content may be incorrect.">
            <a:extLst>
              <a:ext uri="{FF2B5EF4-FFF2-40B4-BE49-F238E27FC236}">
                <a16:creationId xmlns:a16="http://schemas.microsoft.com/office/drawing/2014/main" id="{F0B81BD4-01B6-CA9B-68A7-5ADA51AB43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91849" y="1389895"/>
            <a:ext cx="5431806" cy="4358365"/>
          </a:xfrm>
          <a:prstGeom prst="rect">
            <a:avLst/>
          </a:prstGeom>
        </p:spPr>
      </p:pic>
      <p:sp>
        <p:nvSpPr>
          <p:cNvPr id="8" name="Contenidor de contingut 2">
            <a:extLst>
              <a:ext uri="{FF2B5EF4-FFF2-40B4-BE49-F238E27FC236}">
                <a16:creationId xmlns:a16="http://schemas.microsoft.com/office/drawing/2014/main" id="{89BAC3D6-BEFE-46C8-45AA-25A177107D92}"/>
              </a:ext>
            </a:extLst>
          </p:cNvPr>
          <p:cNvSpPr txBox="1">
            <a:spLocks/>
          </p:cNvSpPr>
          <p:nvPr/>
        </p:nvSpPr>
        <p:spPr>
          <a:xfrm>
            <a:off x="8666961" y="1109740"/>
            <a:ext cx="1842742"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ca-ES" sz="1200" i="1" dirty="0"/>
              <a:t>outlier score combinado</a:t>
            </a:r>
          </a:p>
        </p:txBody>
      </p:sp>
    </p:spTree>
    <p:extLst>
      <p:ext uri="{BB962C8B-B14F-4D97-AF65-F5344CB8AC3E}">
        <p14:creationId xmlns:p14="http://schemas.microsoft.com/office/powerpoint/2010/main" val="434226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9975685" y="19050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5142188"/>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5142188"/>
            <a:ext cx="3439005" cy="790685"/>
          </a:xfrm>
          <a:prstGeom prst="rect">
            <a:avLst/>
          </a:prstGeom>
        </p:spPr>
      </p:pic>
    </p:spTree>
    <p:extLst>
      <p:ext uri="{BB962C8B-B14F-4D97-AF65-F5344CB8AC3E}">
        <p14:creationId xmlns:p14="http://schemas.microsoft.com/office/powerpoint/2010/main" val="411217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199" y="1492565"/>
            <a:ext cx="9955957" cy="106496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·Como hemos comentado antes, el primer análisis parte de niveles menos exigentes de soporte y confianza. Podemos observar que las reglas con mayor </a:t>
            </a:r>
            <a:r>
              <a:rPr lang="es-ES" sz="1600" i="1" dirty="0" err="1"/>
              <a:t>lift</a:t>
            </a:r>
            <a:r>
              <a:rPr lang="es-ES" sz="1600" dirty="0"/>
              <a:t> explican que la variable </a:t>
            </a:r>
            <a:r>
              <a:rPr lang="es-ES" sz="1600" i="1" dirty="0" err="1"/>
              <a:t>energy</a:t>
            </a:r>
            <a:r>
              <a:rPr lang="es-ES" sz="1600" dirty="0"/>
              <a:t> tome valores altos. Si nos fijamos, se tratan de reglas bastante evidentes cómo que canciones con: niveles de </a:t>
            </a:r>
            <a:r>
              <a:rPr lang="es-ES" sz="1600" i="1" dirty="0" err="1"/>
              <a:t>loudness</a:t>
            </a:r>
            <a:r>
              <a:rPr lang="es-ES" sz="1600" dirty="0"/>
              <a:t> altos, </a:t>
            </a:r>
            <a:r>
              <a:rPr lang="es-ES" sz="1600" i="1" dirty="0" err="1"/>
              <a:t>danceability</a:t>
            </a:r>
            <a:r>
              <a:rPr lang="es-ES" sz="1600" dirty="0"/>
              <a:t> medios, sentimientos positivos y que no son acústicas llevan asociadas un carácter energético.</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838199" y="4300474"/>
            <a:ext cx="9955957" cy="6024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·Para el segundo análisis llegamos a una conclusión similar. Se trata de reglas evidentes que no se enfocan en la variable objetivo </a:t>
            </a:r>
            <a:r>
              <a:rPr lang="es-ES" sz="1600" i="1" dirty="0" err="1"/>
              <a:t>popularity</a:t>
            </a:r>
            <a:r>
              <a:rPr lang="es-ES" sz="1600" dirty="0"/>
              <a:t>. En este caso las reglas con mayor </a:t>
            </a:r>
            <a:r>
              <a:rPr lang="es-ES" sz="1600" dirty="0" err="1"/>
              <a:t>lift</a:t>
            </a:r>
            <a:r>
              <a:rPr lang="es-ES" sz="1600" dirty="0"/>
              <a:t> explican niveles altos de </a:t>
            </a:r>
            <a:r>
              <a:rPr lang="es-ES" sz="1600" i="1" dirty="0" err="1"/>
              <a:t>loudness</a:t>
            </a:r>
            <a:r>
              <a:rPr lang="es-ES" sz="1600" i="1" dirty="0"/>
              <a:t>. </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939229" y="2557527"/>
            <a:ext cx="4597127" cy="1506474"/>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838198" y="4971575"/>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519557" y="4966076"/>
            <a:ext cx="2437201" cy="1573129"/>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6519557" y="2557526"/>
            <a:ext cx="2437201" cy="1553787"/>
          </a:xfrm>
          <a:prstGeom prst="rect">
            <a:avLst/>
          </a:prstGeom>
        </p:spPr>
      </p:pic>
    </p:spTree>
    <p:extLst>
      <p:ext uri="{BB962C8B-B14F-4D97-AF65-F5344CB8AC3E}">
        <p14:creationId xmlns:p14="http://schemas.microsoft.com/office/powerpoint/2010/main" val="435149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es-ES" sz="1600" noProof="0" dirty="0"/>
              <a:t>Para finalizar este apartado, hemos realizado también un análisis enfocado a la popularidad, nuestra variable objetivo. Para obtener reglas que explicaran la popularidad, en cualquier nivel, hemos tenido que realizar un análisis con un soporte y confianza notablemente bajos, concretamente de 0.02 y 0.3 respectivamente. Aunque se podrían encontrar reglas con mayor confianza, el soporte tendría que ser aún mucho menor.</a:t>
            </a:r>
          </a:p>
          <a:p>
            <a:pPr algn="just"/>
            <a:r>
              <a:rPr lang="es-ES" sz="1600" noProof="0" dirty="0"/>
              <a:t>El resultado de este análisis nos muestra que las reglas que explican niveles altos de popularidad con </a:t>
            </a:r>
            <a:r>
              <a:rPr lang="es-ES" sz="1600" i="1" noProof="0" dirty="0" err="1"/>
              <a:t>lift</a:t>
            </a:r>
            <a:r>
              <a:rPr lang="es-ES" sz="1600" noProof="0" dirty="0"/>
              <a:t> alto tienden a incluir: </a:t>
            </a:r>
            <a:r>
              <a:rPr lang="es-ES" sz="1600" i="1" noProof="0" dirty="0" err="1"/>
              <a:t>danceability</a:t>
            </a:r>
            <a:r>
              <a:rPr lang="es-ES" sz="1600" noProof="0" dirty="0"/>
              <a:t>=High, </a:t>
            </a:r>
            <a:r>
              <a:rPr lang="es-ES" sz="1600" i="1" noProof="0" dirty="0" err="1"/>
              <a:t>acousticness</a:t>
            </a:r>
            <a:r>
              <a:rPr lang="es-ES" sz="1600" noProof="0" dirty="0"/>
              <a:t>=Low, </a:t>
            </a:r>
            <a:r>
              <a:rPr lang="es-ES" sz="1600" i="1" noProof="0" dirty="0" err="1"/>
              <a:t>key</a:t>
            </a:r>
            <a:r>
              <a:rPr lang="es-ES" sz="1600" noProof="0" dirty="0"/>
              <a:t>=</a:t>
            </a:r>
            <a:r>
              <a:rPr lang="es-ES" sz="1600" noProof="0" dirty="0" err="1"/>
              <a:t>Db</a:t>
            </a:r>
            <a:r>
              <a:rPr lang="es-ES" sz="1600" noProof="0" dirty="0"/>
              <a:t>, </a:t>
            </a:r>
            <a:r>
              <a:rPr lang="es-ES" sz="1600" i="1" noProof="0" dirty="0" err="1"/>
              <a:t>instrumentalness</a:t>
            </a:r>
            <a:r>
              <a:rPr lang="es-ES" sz="1600" noProof="0" dirty="0"/>
              <a:t>=Low y </a:t>
            </a:r>
            <a:r>
              <a:rPr lang="es-ES" sz="1600" i="1" noProof="0" dirty="0" err="1"/>
              <a:t>loudness</a:t>
            </a:r>
            <a:r>
              <a:rPr lang="es-ES" sz="1600" noProof="0" dirty="0"/>
              <a:t>=High. Aún así debemos ser cautos al usar estos resultados pues están asociados a niveles de soporte cercanos a 0.02 y valores de confianza levemente superiores a 0.4.</a:t>
            </a:r>
          </a:p>
          <a:p>
            <a:pPr algn="just"/>
            <a:endParaRPr lang="ca-ES" sz="1600" dirty="0"/>
          </a:p>
        </p:txBody>
      </p:sp>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2"/>
          <a:stretch>
            <a:fillRect/>
          </a:stretch>
        </p:blipFill>
        <p:spPr>
          <a:xfrm>
            <a:off x="842628" y="3574733"/>
            <a:ext cx="6019726" cy="2429517"/>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3"/>
          <a:stretch>
            <a:fillRect/>
          </a:stretch>
        </p:blipFill>
        <p:spPr>
          <a:xfrm>
            <a:off x="7381233" y="3574733"/>
            <a:ext cx="3789156" cy="2429518"/>
          </a:xfrm>
          <a:prstGeom prst="rect">
            <a:avLst/>
          </a:prstGeom>
        </p:spPr>
      </p:pic>
    </p:spTree>
    <p:extLst>
      <p:ext uri="{BB962C8B-B14F-4D97-AF65-F5344CB8AC3E}">
        <p14:creationId xmlns:p14="http://schemas.microsoft.com/office/powerpoint/2010/main" val="1336004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a:xfrm>
            <a:off x="838200" y="1560317"/>
            <a:ext cx="7220193" cy="4616646"/>
          </a:xfrm>
        </p:spPr>
        <p:txBody>
          <a:bodyPr>
            <a:normAutofit/>
          </a:bodyPr>
          <a:lstStyle/>
          <a:p>
            <a:pPr marL="0" indent="0">
              <a:buNone/>
            </a:pPr>
            <a:r>
              <a:rPr lang="ca-ES" sz="2000" dirty="0"/>
              <a:t>En general, teniendo en cuenta la cantidad de datos i el KPI usado, hemos decidido dividir los datos entre 70% de entrenamiento i 30% de </a:t>
            </a:r>
            <a:r>
              <a:rPr lang="ca-ES" sz="2000" i="1" dirty="0"/>
              <a:t>testing.</a:t>
            </a:r>
            <a:endParaRPr lang="ca-ES" sz="2000" dirty="0"/>
          </a:p>
          <a:p>
            <a:pPr marL="0" indent="0">
              <a:buNone/>
            </a:pPr>
            <a:r>
              <a:rPr lang="ca-ES" sz="2000" dirty="0"/>
              <a:t>La base de datos está </a:t>
            </a:r>
            <a:r>
              <a:rPr lang="ca-ES" sz="2000" b="1" dirty="0"/>
              <a:t>altamente desbalanceada </a:t>
            </a:r>
            <a:r>
              <a:rPr lang="ca-ES" sz="2000" dirty="0"/>
              <a:t>según el compás (</a:t>
            </a:r>
            <a:r>
              <a:rPr lang="ca-ES" sz="2000" i="1" dirty="0"/>
              <a:t>time_signature</a:t>
            </a:r>
            <a:r>
              <a:rPr lang="ca-ES" sz="2000" dirty="0"/>
              <a:t>). Por lo tanto, al dividir los datos entre </a:t>
            </a:r>
            <a:r>
              <a:rPr lang="ca-ES" sz="2000" i="1" dirty="0"/>
              <a:t>training</a:t>
            </a:r>
            <a:r>
              <a:rPr lang="ca-ES" sz="2000" dirty="0"/>
              <a:t> i </a:t>
            </a:r>
            <a:r>
              <a:rPr lang="ca-ES" sz="2000" i="1" dirty="0"/>
              <a:t>testing</a:t>
            </a:r>
            <a:r>
              <a:rPr lang="ca-ES" sz="2000" dirty="0"/>
              <a:t>, es necesario que en todas las divisiones estén presentes todos los compases.</a:t>
            </a:r>
          </a:p>
          <a:p>
            <a:pPr marL="0" indent="0">
              <a:buNone/>
            </a:pPr>
            <a:r>
              <a:rPr lang="ca-ES" sz="2000" dirty="0"/>
              <a:t>Para aquellos métodos que necesiten datos balanceados, se ha creado una base de datos con </a:t>
            </a:r>
            <a:r>
              <a:rPr lang="ca-ES" sz="2000" i="1" dirty="0"/>
              <a:t>oversampling. </a:t>
            </a:r>
            <a:r>
              <a:rPr lang="ca-ES" sz="2000" dirty="0"/>
              <a:t>En particular, se ha usado una técnica inspirada en </a:t>
            </a:r>
            <a:r>
              <a:rPr lang="ca-ES" sz="2000" b="1" dirty="0"/>
              <a:t>SMOTE </a:t>
            </a:r>
            <a:r>
              <a:rPr lang="ca-ES" sz="2000" dirty="0"/>
              <a:t>(Synthetic Minority Over-sampling Technique), que interpola las variables numéricas entre observaciones cercanas. </a:t>
            </a:r>
          </a:p>
          <a:p>
            <a:pPr marL="0" indent="0">
              <a:buNone/>
            </a:pPr>
            <a:r>
              <a:rPr lang="ca-ES" sz="2000" dirty="0"/>
              <a:t>La base de datos sobremuestrada contiene 12.000 registros por cada compás.</a:t>
            </a:r>
          </a:p>
        </p:txBody>
      </p:sp>
      <p:pic>
        <p:nvPicPr>
          <p:cNvPr id="5" name="Picture 4" descr="A graph of a bar&#10;&#10;AI-generated content may be incorrect.">
            <a:extLst>
              <a:ext uri="{FF2B5EF4-FFF2-40B4-BE49-F238E27FC236}">
                <a16:creationId xmlns:a16="http://schemas.microsoft.com/office/drawing/2014/main" id="{836B74B4-740D-2F9C-1534-037CD16F9F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23166" y="655141"/>
            <a:ext cx="3891220" cy="5804528"/>
          </a:xfrm>
          <a:prstGeom prst="rect">
            <a:avLst/>
          </a:prstGeom>
        </p:spPr>
      </p:pic>
      <p:sp>
        <p:nvSpPr>
          <p:cNvPr id="6" name="Contenidor de contingut 2">
            <a:extLst>
              <a:ext uri="{FF2B5EF4-FFF2-40B4-BE49-F238E27FC236}">
                <a16:creationId xmlns:a16="http://schemas.microsoft.com/office/drawing/2014/main" id="{C54F8D16-4EF0-0B7C-B78A-212A2235E8D8}"/>
              </a:ext>
            </a:extLst>
          </p:cNvPr>
          <p:cNvSpPr txBox="1">
            <a:spLocks/>
          </p:cNvSpPr>
          <p:nvPr/>
        </p:nvSpPr>
        <p:spPr>
          <a:xfrm>
            <a:off x="8431935" y="897393"/>
            <a:ext cx="3544760" cy="26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ca-ES" sz="1200" dirty="0"/>
              <a:t>Numero de registros originales por compás</a:t>
            </a:r>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a:t>
            </a:r>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420168"/>
          </a:xfrm>
        </p:spPr>
        <p:txBody>
          <a:bodyPr>
            <a:normAutofit/>
          </a:bodyPr>
          <a:lstStyle/>
          <a:p>
            <a:pPr marL="0" indent="0">
              <a:buNone/>
            </a:pPr>
            <a:r>
              <a:rPr lang="en-US" sz="1500" dirty="0"/>
              <a:t>The first method applied is K-Nearest Neighbors (KNN) in a regression context. Initially, the cleaned dataset was divided into a training and a test set, in order to obtain reliable results and assess the model’s ability to generalize to unseen data. To ensure good KNN performance, all features were converted to numerical format and standardized, since differences in scale could otherwise strongly affect the computation of distances. </a:t>
            </a:r>
          </a:p>
          <a:p>
            <a:pPr marL="0" indent="0">
              <a:buNone/>
            </a:pPr>
            <a:r>
              <a:rPr lang="en-US" sz="1500" dirty="0"/>
              <a:t>Feature selection and feature weighting was done using a made up (but effective) method. Two variables were eliminated.</a:t>
            </a:r>
          </a:p>
          <a:p>
            <a:pPr marL="0" indent="0">
              <a:buNone/>
            </a:pPr>
            <a:r>
              <a:rPr lang="en-US" sz="1500" dirty="0"/>
              <a:t>The model was then trained and used to make predictions, which were evaluated using the project’s KPI, </a:t>
            </a:r>
            <a:r>
              <a:rPr lang="en-US" sz="1500" b="1" dirty="0"/>
              <a:t>Mean Absolute Percent Error </a:t>
            </a:r>
            <a:r>
              <a:rPr lang="en-US" sz="1500" dirty="0"/>
              <a:t>(MAPE), along with the </a:t>
            </a:r>
            <a:r>
              <a:rPr lang="en-US" sz="1500" b="1" dirty="0"/>
              <a:t>correlation</a:t>
            </a:r>
            <a:r>
              <a:rPr lang="en-US" sz="1500" dirty="0"/>
              <a:t> between predicted and actual values. </a:t>
            </a:r>
          </a:p>
          <a:p>
            <a:pPr marL="0" indent="0">
              <a:buNone/>
            </a:pPr>
            <a:r>
              <a:rPr lang="en-US" sz="1500" dirty="0"/>
              <a:t>Finally, the parameter k (number of neighbors) was optimized based on the MAPE results, with the best performance obtained for </a:t>
            </a:r>
            <a:r>
              <a:rPr lang="en-US" sz="1500" b="1" dirty="0"/>
              <a:t>k = 1</a:t>
            </a:r>
            <a:r>
              <a:rPr lang="en-US" sz="1500" dirty="0"/>
              <a:t>. This means KNN is very computationally efficient. The results for the </a:t>
            </a:r>
            <a:r>
              <a:rPr lang="en-US" sz="1500" dirty="0" err="1"/>
              <a:t>kaggle</a:t>
            </a:r>
            <a:r>
              <a:rPr lang="en-US" sz="1500" dirty="0"/>
              <a:t> test set were good: we’re first at the time of writing this.</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0D9BE353-93EA-1F5A-CDC7-6FE075C910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34107" y="1814154"/>
            <a:ext cx="4574016" cy="4368022"/>
          </a:xfrm>
          <a:prstGeom prst="rect">
            <a:avLst/>
          </a:prstGeom>
        </p:spPr>
      </p:pic>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Naive Bayes</a:t>
            </a:r>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a:xfrm>
            <a:off x="838200" y="1561382"/>
            <a:ext cx="10515600" cy="5106838"/>
          </a:xfrm>
        </p:spPr>
        <p:txBody>
          <a:bodyPr>
            <a:normAutofit fontScale="62500" lnSpcReduction="20000"/>
          </a:bodyPr>
          <a:lstStyle/>
          <a:p>
            <a:pPr marL="0" indent="0">
              <a:buNone/>
            </a:pPr>
            <a:r>
              <a:rPr lang="es-ES" b="1" dirty="0"/>
              <a:t>Conclusiones clave</a:t>
            </a:r>
          </a:p>
          <a:p>
            <a:r>
              <a:rPr lang="es-ES" dirty="0"/>
              <a:t>Tratamiento de calidad robusto: sin </a:t>
            </a:r>
            <a:r>
              <a:rPr lang="es-ES" dirty="0" err="1"/>
              <a:t>missings</a:t>
            </a:r>
            <a:r>
              <a:rPr lang="es-ES" dirty="0"/>
              <a:t> relevantes; </a:t>
            </a:r>
            <a:r>
              <a:rPr lang="es-ES" dirty="0" err="1"/>
              <a:t>outliers</a:t>
            </a:r>
            <a:r>
              <a:rPr lang="es-ES" dirty="0"/>
              <a:t> identificados con ALSO + lógica musical.</a:t>
            </a:r>
          </a:p>
          <a:p>
            <a:r>
              <a:rPr lang="es-ES" dirty="0"/>
              <a:t>Imputación en dos pasos validada visualmente → estabilidad en variables clave.</a:t>
            </a:r>
          </a:p>
          <a:p>
            <a:r>
              <a:rPr lang="es-ES" dirty="0"/>
              <a:t>EDA: dos variables eliminadas; correlaciones apoyan selección final de predictores.</a:t>
            </a:r>
          </a:p>
          <a:p>
            <a:r>
              <a:rPr lang="es-ES" dirty="0" err="1"/>
              <a:t>Feature</a:t>
            </a:r>
            <a:r>
              <a:rPr lang="es-ES" dirty="0"/>
              <a:t> </a:t>
            </a:r>
            <a:r>
              <a:rPr lang="es-ES" dirty="0" err="1"/>
              <a:t>Engineering</a:t>
            </a:r>
            <a:r>
              <a:rPr lang="es-ES" dirty="0"/>
              <a:t> mejora consistencia (</a:t>
            </a:r>
            <a:r>
              <a:rPr lang="es-ES" dirty="0" err="1"/>
              <a:t>prob_major</a:t>
            </a:r>
            <a:r>
              <a:rPr lang="es-ES" dirty="0"/>
              <a:t>, </a:t>
            </a:r>
            <a:r>
              <a:rPr lang="es-ES" dirty="0" err="1"/>
              <a:t>outlier_weight</a:t>
            </a:r>
            <a:r>
              <a:rPr lang="es-ES" dirty="0"/>
              <a:t>).</a:t>
            </a:r>
          </a:p>
          <a:p>
            <a:r>
              <a:rPr lang="es-ES" dirty="0" err="1"/>
              <a:t>Association</a:t>
            </a:r>
            <a:r>
              <a:rPr lang="es-ES" dirty="0"/>
              <a:t> Rules revela patrones, pero target continuo limita reglas sobre popularidad.</a:t>
            </a:r>
          </a:p>
          <a:p>
            <a:r>
              <a:rPr lang="es-ES" dirty="0"/>
              <a:t>KNN (k=1) obtiene mejor MAPE y buena correlación → método eficaz.</a:t>
            </a:r>
          </a:p>
          <a:p>
            <a:r>
              <a:rPr lang="es-ES" dirty="0" err="1"/>
              <a:t>Naive</a:t>
            </a:r>
            <a:r>
              <a:rPr lang="es-ES" dirty="0"/>
              <a:t> Bayes inadecuado → sesgo hacia “</a:t>
            </a:r>
            <a:r>
              <a:rPr lang="es-ES" dirty="0" err="1"/>
              <a:t>high</a:t>
            </a:r>
            <a:r>
              <a:rPr lang="es-ES" dirty="0"/>
              <a:t>” + baja </a:t>
            </a:r>
            <a:r>
              <a:rPr lang="es-ES" dirty="0" err="1"/>
              <a:t>accuracy</a:t>
            </a:r>
            <a:r>
              <a:rPr lang="es-ES" dirty="0"/>
              <a:t>.</a:t>
            </a:r>
          </a:p>
          <a:p>
            <a:pPr marL="0" indent="0">
              <a:buNone/>
            </a:pPr>
            <a:r>
              <a:rPr lang="es-ES" b="1" dirty="0"/>
              <a:t>Próximos pasos</a:t>
            </a:r>
            <a:endParaRPr lang="es-ES" dirty="0"/>
          </a:p>
          <a:p>
            <a:r>
              <a:rPr lang="es-ES" dirty="0"/>
              <a:t>Probar modelos más avanzados: RF, </a:t>
            </a:r>
            <a:r>
              <a:rPr lang="es-ES" dirty="0" err="1"/>
              <a:t>Gradient</a:t>
            </a:r>
            <a:r>
              <a:rPr lang="es-ES" dirty="0"/>
              <a:t> </a:t>
            </a:r>
            <a:r>
              <a:rPr lang="es-ES" dirty="0" err="1"/>
              <a:t>Boosting</a:t>
            </a:r>
            <a:r>
              <a:rPr lang="es-ES" dirty="0"/>
              <a:t>, árboles.</a:t>
            </a:r>
          </a:p>
          <a:p>
            <a:r>
              <a:rPr lang="es-ES" dirty="0"/>
              <a:t>Evaluar reducción de dimensionalidad (PCA/UMAP) para contrastar si la variabilidad del </a:t>
            </a:r>
            <a:r>
              <a:rPr lang="es-ES" dirty="0" err="1"/>
              <a:t>dataset</a:t>
            </a:r>
            <a:r>
              <a:rPr lang="es-ES" dirty="0"/>
              <a:t> puede representarse en menos componentes sin perder precisión.</a:t>
            </a:r>
          </a:p>
          <a:p>
            <a:r>
              <a:rPr lang="es-ES" dirty="0"/>
              <a:t>Aplicar validación cruzada para evaluar estabilidad del MAPE.</a:t>
            </a:r>
          </a:p>
          <a:p>
            <a:r>
              <a:rPr lang="es-ES" dirty="0"/>
              <a:t>Desarrollar prototipo de sistema de </a:t>
            </a:r>
            <a:r>
              <a:rPr lang="es-ES" dirty="0" err="1"/>
              <a:t>scoring</a:t>
            </a:r>
            <a:r>
              <a:rPr lang="es-ES" dirty="0"/>
              <a:t> para simular escenarios.</a:t>
            </a:r>
          </a:p>
          <a:p>
            <a:r>
              <a:rPr lang="es-ES" dirty="0"/>
              <a:t>Diseñar pipeline reproducible + prototipo </a:t>
            </a:r>
            <a:r>
              <a:rPr lang="es-ES" dirty="0" err="1"/>
              <a:t>dashboard</a:t>
            </a:r>
            <a:r>
              <a:rPr lang="es-ES" dirty="0"/>
              <a:t> (futuro </a:t>
            </a:r>
            <a:r>
              <a:rPr lang="es-ES" dirty="0" err="1"/>
              <a:t>deployment</a:t>
            </a:r>
            <a:r>
              <a:rPr lang="es-ES" dirty="0"/>
              <a:t>).</a:t>
            </a:r>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1059</TotalTime>
  <Words>1833</Words>
  <Application>Microsoft Office PowerPoint</Application>
  <PresentationFormat>Widescreen</PresentationFormat>
  <Paragraphs>180</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Source Code Pro</vt:lpstr>
      <vt:lpstr>Tema de l'Office</vt:lpstr>
      <vt:lpstr>PORTADA</vt:lpstr>
      <vt:lpstr>ENTENDIMIENTO DEL NEGOCIO</vt:lpstr>
      <vt:lpstr>ENTENDIMIENTO DE LOS DATOS</vt:lpstr>
      <vt:lpstr>FRAMEWORK METODOLÓGICO</vt:lpstr>
      <vt:lpstr>EDA 1</vt:lpstr>
      <vt:lpstr>EDA 2</vt:lpstr>
      <vt:lpstr>Imputación en dos pasos</vt:lpstr>
      <vt:lpstr>Outliers</vt:lpstr>
      <vt:lpstr>Feature Engineering</vt:lpstr>
      <vt:lpstr>Feature Engineering</vt:lpstr>
      <vt:lpstr>ASSOCITATION RULES</vt:lpstr>
      <vt:lpstr>ASSOCITATION RULES</vt:lpstr>
      <vt:lpstr>ASSOCITATION RULES</vt:lpstr>
      <vt:lpstr>Preparación para el modelado</vt:lpstr>
      <vt:lpstr>KNN</vt:lpstr>
      <vt:lpstr>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POL TOBELLA JACOMET</dc:creator>
  <cp:lastModifiedBy>BERNAT GARCÍA GARCÍA</cp:lastModifiedBy>
  <cp:revision>23</cp:revision>
  <dcterms:created xsi:type="dcterms:W3CDTF">2025-11-09T14:38:01Z</dcterms:created>
  <dcterms:modified xsi:type="dcterms:W3CDTF">2025-11-10T17:43:31Z</dcterms:modified>
</cp:coreProperties>
</file>