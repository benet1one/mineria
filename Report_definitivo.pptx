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9" r:id="rId7"/>
    <p:sldId id="274" r:id="rId8"/>
    <p:sldId id="275" r:id="rId9"/>
    <p:sldId id="276" r:id="rId10"/>
    <p:sldId id="277" r:id="rId11"/>
    <p:sldId id="278" r:id="rId12"/>
    <p:sldId id="268" r:id="rId13"/>
    <p:sldId id="269" r:id="rId14"/>
    <p:sldId id="270" r:id="rId15"/>
    <p:sldId id="271" r:id="rId16"/>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ikermaria.estudios@gmail.com"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6" Type="http://schemas.openxmlformats.org/officeDocument/2006/relationships/hyperlink" Target="https://github.com/benet1one/Mineria" TargetMode="External"/><Relationship Id="rId5" Type="http://schemas.openxmlformats.org/officeDocument/2006/relationships/hyperlink" Target="mailto:ptobelja7@alumnes.ub.edu" TargetMode="External"/><Relationship Id="rId4" Type="http://schemas.openxmlformats.org/officeDocument/2006/relationships/hyperlink" Target="mailto:davide.rota@estudiantat.upc.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Montes, Iker – </a:t>
            </a:r>
            <a:r>
              <a:rPr lang="it-IT" sz="1600" dirty="0">
                <a:hlinkClick r:id="rId3"/>
              </a:rPr>
              <a:t>ikermaria.estudios@gmail.com</a:t>
            </a:r>
            <a:r>
              <a:rPr lang="it-IT" sz="1600" dirty="0"/>
              <a:t> (Doble grado Economía-Estadística, UB-UPC)</a:t>
            </a:r>
          </a:p>
          <a:p>
            <a:pPr algn="l"/>
            <a:r>
              <a:rPr lang="it-IT" sz="1600" dirty="0"/>
              <a:t>Rota, Davide  - </a:t>
            </a:r>
            <a:r>
              <a:rPr lang="it-IT" sz="1600" dirty="0">
                <a:hlinkClick r:id="rId4"/>
              </a:rPr>
              <a:t>davide.rota@estudiantat.upc.edu</a:t>
            </a:r>
            <a:r>
              <a:rPr lang="it-IT" sz="1600" dirty="0"/>
              <a:t> (Mathematical engineering </a:t>
            </a:r>
            <a:r>
              <a:rPr lang="it-IT" sz="1600" dirty="0" err="1"/>
              <a:t>at</a:t>
            </a:r>
            <a:r>
              <a:rPr lang="it-IT" sz="1600" dirty="0"/>
              <a:t> </a:t>
            </a:r>
            <a:r>
              <a:rPr lang="it-IT" sz="1600" dirty="0" err="1"/>
              <a:t>PoliMi</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5"/>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6"/>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Análisis Exploratorio</a:t>
            </a:r>
          </a:p>
        </p:txBody>
      </p:sp>
      <p:pic>
        <p:nvPicPr>
          <p:cNvPr id="5" name="Content Placeholder 4">
            <a:extLst>
              <a:ext uri="{FF2B5EF4-FFF2-40B4-BE49-F238E27FC236}">
                <a16:creationId xmlns:a16="http://schemas.microsoft.com/office/drawing/2014/main" id="{8CB69615-9662-C7D4-A053-419D54A9A4A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843082" y="1825625"/>
            <a:ext cx="5931847" cy="4351338"/>
          </a:xfrm>
        </p:spPr>
      </p:pic>
      <p:pic>
        <p:nvPicPr>
          <p:cNvPr id="7" name="Picture 6">
            <a:extLst>
              <a:ext uri="{FF2B5EF4-FFF2-40B4-BE49-F238E27FC236}">
                <a16:creationId xmlns:a16="http://schemas.microsoft.com/office/drawing/2014/main" id="{9695E614-F292-CA34-BD4D-F33272288C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6494" y="2389113"/>
            <a:ext cx="5206588" cy="3787850"/>
          </a:xfrm>
          <a:prstGeom prst="rect">
            <a:avLst/>
          </a:prstGeom>
        </p:spPr>
      </p:pic>
      <p:sp>
        <p:nvSpPr>
          <p:cNvPr id="8" name="Títol 1">
            <a:extLst>
              <a:ext uri="{FF2B5EF4-FFF2-40B4-BE49-F238E27FC236}">
                <a16:creationId xmlns:a16="http://schemas.microsoft.com/office/drawing/2014/main" id="{1EAC4746-1186-4C66-8CB7-0F41C08EDC86}"/>
              </a:ext>
            </a:extLst>
          </p:cNvPr>
          <p:cNvSpPr txBox="1">
            <a:spLocks/>
          </p:cNvSpPr>
          <p:nvPr/>
        </p:nvSpPr>
        <p:spPr>
          <a:xfrm>
            <a:off x="801559" y="1489340"/>
            <a:ext cx="6642046" cy="6468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ca-ES" sz="1600" dirty="0">
                <a:latin typeface="+mn-lt"/>
              </a:rPr>
              <a:t>Existen muchas dependencias entre variables explicativas.</a:t>
            </a:r>
          </a:p>
          <a:p>
            <a:r>
              <a:rPr lang="ca-ES" sz="1600" dirty="0">
                <a:latin typeface="+mn-lt"/>
              </a:rPr>
              <a:t>Estas són algunas de ellas.</a:t>
            </a:r>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2122375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fontScale="92500"/>
          </a:bodyPr>
          <a:lstStyle/>
          <a:p>
            <a:pPr marL="0" indent="0">
              <a:buNone/>
            </a:pPr>
            <a:r>
              <a:rPr lang="es-ES" sz="1500" dirty="0"/>
              <a:t>El primer método aplicado fue el de los K Vecinos Más Cercanos (KNN) en un contexto de regresión. Inicialmente, el conjunto de datos depurado se dividió en un conjunto de entrenamiento y otro de prueba para obtener resultados fiables y evaluar la capacidad del modelo para generalizar a datos no vistos. Para garantizar un buen rendimiento del KNN, todas las características se convirtieron a formato numérico y se estandarizaron, ya que las diferencias de escala podrían afectar significativamente el cálculo de las distancias.</a:t>
            </a:r>
          </a:p>
          <a:p>
            <a:pPr marL="0" indent="0">
              <a:buNone/>
            </a:pPr>
            <a:r>
              <a:rPr lang="es-ES" sz="1500" dirty="0"/>
              <a:t>La selección y ponderación de características se realizó mediante un método propio (pero efectivo). Se eliminaron dos variables.</a:t>
            </a:r>
          </a:p>
          <a:p>
            <a:pPr marL="0" indent="0">
              <a:buNone/>
            </a:pPr>
            <a:r>
              <a:rPr lang="es-ES" sz="1500" dirty="0"/>
              <a:t>Posteriormente, se entrenó el modelo y se utilizó para realizar predicciones, las cuales se evaluaron mediante el indicador clave de rendimiento (KPI) del proyecto, el </a:t>
            </a:r>
            <a:r>
              <a:rPr lang="es-ES" sz="1500" b="1" dirty="0"/>
              <a:t>Error Porcentual Absoluto Medio </a:t>
            </a:r>
            <a:r>
              <a:rPr lang="es-ES" sz="1500" dirty="0"/>
              <a:t>(MAPE), junto con la </a:t>
            </a:r>
            <a:r>
              <a:rPr lang="es-ES" sz="1500" b="1" dirty="0"/>
              <a:t>correlación</a:t>
            </a:r>
            <a:r>
              <a:rPr lang="es-ES" sz="1500" dirty="0"/>
              <a:t> entre los valores predichos y reales.</a:t>
            </a:r>
          </a:p>
          <a:p>
            <a:pPr marL="0" indent="0">
              <a:buNone/>
            </a:pPr>
            <a:r>
              <a:rPr lang="es-ES" sz="1500" dirty="0"/>
              <a:t>Finalmente, se optimizó el parámetro k (número de vecinos) en función de los resultados del MAPE, obteniéndose el mejor rendimiento para la </a:t>
            </a:r>
            <a:r>
              <a:rPr lang="es-ES" sz="1500" b="1" dirty="0"/>
              <a:t>k = 1</a:t>
            </a:r>
            <a:r>
              <a:rPr lang="es-ES" sz="1500" dirty="0"/>
              <a:t>. Esto significa que el KNN es muy eficiente computacionalmente. Los resultados para el conjunto de prueba de Kaggle fueron buenos: ocupamos el primer lugar al momento de redactar este informe.</a:t>
            </a:r>
            <a:endParaRPr lang="en-US" sz="15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Autofit/>
          </a:bodyPr>
          <a:lstStyle/>
          <a:p>
            <a:pPr marL="0" indent="0">
              <a:buNone/>
            </a:pPr>
            <a:r>
              <a:rPr lang="es-ES" sz="1600" dirty="0"/>
              <a:t>A primera vista, el uso del algoritmo Naive Bayes parecía un enfoque forzado para predecir la popularidad de las canciones, ya que Naive Bayes está diseñado para variables categóricas, mientras que nuestra variable objetivo (la popularidad de las canciones) es continua y numérica. Para que el método fuera aplicable, transformamos la variable objetivo en tres categorías discretas que representan niveles de popularidad bajo, medio y alto. Sin embargo, tras aplicar el modelo Naive Bayes, los resultados fueron insatisfactorios: las predicciones estaban fuertemente sesgadas hacia la categoría "alta", lo que generó un resultado desequilibrado. Además, la precisión derivada de la matriz de confusión correspondiente fue bastante baja, lo que indica que Naive Bayes no es adecuado para este problema de regresión.</a:t>
            </a:r>
          </a:p>
          <a:p>
            <a:pPr marL="0" indent="0">
              <a:buNone/>
            </a:pPr>
            <a:r>
              <a:rPr lang="en-US" sz="1600" i="1" dirty="0"/>
              <a:t>Accuracy: 0.33333</a:t>
            </a:r>
            <a:endParaRPr lang="ca-ES" sz="16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1088</TotalTime>
  <Words>2088</Words>
  <Application>Microsoft Office PowerPoint</Application>
  <PresentationFormat>Widescreen</PresentationFormat>
  <Paragraphs>195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Análisis Exploratorio</vt:lpstr>
      <vt:lpstr>Feature Engineering</vt:lpstr>
      <vt:lpstr>Imputación en dos pasos</vt:lpstr>
      <vt:lpstr>Outliers</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31</cp:revision>
  <dcterms:created xsi:type="dcterms:W3CDTF">2025-11-09T14:38:01Z</dcterms:created>
  <dcterms:modified xsi:type="dcterms:W3CDTF">2025-11-11T11:06:40Z</dcterms:modified>
</cp:coreProperties>
</file>