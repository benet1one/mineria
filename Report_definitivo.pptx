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79" r:id="rId7"/>
    <p:sldId id="274" r:id="rId8"/>
    <p:sldId id="275" r:id="rId9"/>
    <p:sldId id="264" r:id="rId10"/>
    <p:sldId id="265" r:id="rId11"/>
    <p:sldId id="276" r:id="rId12"/>
    <p:sldId id="277" r:id="rId13"/>
    <p:sldId id="278"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varScale="1">
        <p:scale>
          <a:sx n="140" d="100"/>
          <a:sy n="140" d="100"/>
        </p:scale>
        <p:origin x="165"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ikermaria.estudios@gmail.com"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6" Type="http://schemas.openxmlformats.org/officeDocument/2006/relationships/hyperlink" Target="https://github.com/benet1one/Mineria" TargetMode="External"/><Relationship Id="rId5" Type="http://schemas.openxmlformats.org/officeDocument/2006/relationships/hyperlink" Target="mailto:ptobelja7@alumnes.ub.edu" TargetMode="External"/><Relationship Id="rId4" Type="http://schemas.openxmlformats.org/officeDocument/2006/relationships/hyperlink" Target="mailto:davide.rota@estudiantat.upc.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505838" y="381836"/>
            <a:ext cx="11180324" cy="1310775"/>
          </a:xfrm>
        </p:spPr>
        <p:txBody>
          <a:bodyPr>
            <a:noAutofit/>
          </a:bodyPr>
          <a:lstStyle/>
          <a:p>
            <a:r>
              <a:rPr lang="ca-ES" sz="3600" dirty="0"/>
              <a:t>Predicción de la Popularidad de Canciones</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692612"/>
            <a:ext cx="10803467" cy="4436883"/>
          </a:xfrm>
        </p:spPr>
        <p:txBody>
          <a:bodyPr>
            <a:normAutofit/>
          </a:bodyPr>
          <a:lstStyle/>
          <a:p>
            <a:r>
              <a:rPr lang="ca-ES" sz="1800" dirty="0"/>
              <a:t>Group 03, ID Kaggle: Grupo 03</a:t>
            </a:r>
          </a:p>
          <a:p>
            <a:pPr algn="l"/>
            <a:endParaRPr lang="ca-ES" sz="1600" dirty="0"/>
          </a:p>
          <a:p>
            <a:pPr algn="l"/>
            <a:endParaRPr lang="ca-ES" sz="1600" dirty="0"/>
          </a:p>
          <a:p>
            <a:pPr algn="l"/>
            <a:r>
              <a:rPr lang="it-IT" sz="1600" dirty="0"/>
              <a:t>Garcia Garcia, Bernat – </a:t>
            </a:r>
            <a:r>
              <a:rPr lang="it-IT" sz="1600" dirty="0">
                <a:hlinkClick r:id="rId2"/>
              </a:rPr>
              <a:t>bernat.garcia.garcia@estudiantat.upc.edu</a:t>
            </a:r>
            <a:r>
              <a:rPr lang="it-IT" sz="1600" dirty="0"/>
              <a:t> (Doble grado Economía-Estadística, UB-UPC)</a:t>
            </a:r>
          </a:p>
          <a:p>
            <a:pPr algn="l"/>
            <a:r>
              <a:rPr lang="it-IT" sz="1600" dirty="0"/>
              <a:t>Maria Montes, Iker – </a:t>
            </a:r>
            <a:r>
              <a:rPr lang="it-IT" sz="1600" dirty="0">
                <a:hlinkClick r:id="rId3"/>
              </a:rPr>
              <a:t>ikermaria.estudios@gmail.com</a:t>
            </a:r>
            <a:r>
              <a:rPr lang="it-IT" sz="1600" dirty="0"/>
              <a:t> (Doble grado Economía-Estadística, UB-UPC)</a:t>
            </a:r>
          </a:p>
          <a:p>
            <a:pPr algn="l"/>
            <a:r>
              <a:rPr lang="it-IT" sz="1600" dirty="0"/>
              <a:t>Rota, Davide  - </a:t>
            </a:r>
            <a:r>
              <a:rPr lang="it-IT" sz="1600" dirty="0">
                <a:hlinkClick r:id="rId4"/>
              </a:rPr>
              <a:t>davide.rota@estudiantat.upc.edu</a:t>
            </a:r>
            <a:r>
              <a:rPr lang="it-IT" sz="1600" dirty="0"/>
              <a:t> (</a:t>
            </a:r>
            <a:r>
              <a:rPr lang="it-IT" sz="1600" dirty="0" err="1"/>
              <a:t>currently</a:t>
            </a:r>
            <a:r>
              <a:rPr lang="it-IT" sz="1600" dirty="0"/>
              <a:t> </a:t>
            </a:r>
            <a:r>
              <a:rPr lang="it-IT" sz="1600" dirty="0" err="1"/>
              <a:t>at</a:t>
            </a:r>
            <a:r>
              <a:rPr lang="it-IT" sz="1600" dirty="0"/>
              <a:t> MESIO, UPC)</a:t>
            </a:r>
          </a:p>
          <a:p>
            <a:pPr algn="l"/>
            <a:r>
              <a:rPr lang="it-IT" sz="1600" dirty="0"/>
              <a:t>Tobella Jacomet, Pol - </a:t>
            </a:r>
            <a:r>
              <a:rPr lang="it-IT" sz="1600" dirty="0">
                <a:hlinkClick r:id="rId5"/>
              </a:rPr>
              <a:t>ptobelja7@alumnes.ub.edu</a:t>
            </a:r>
            <a:r>
              <a:rPr lang="it-IT" sz="1600" dirty="0"/>
              <a:t> (Doble grado Economía-Estadística, UB-UPC)</a:t>
            </a:r>
            <a:endParaRPr lang="ca-ES" sz="1600" dirty="0"/>
          </a:p>
          <a:p>
            <a:pPr algn="l"/>
            <a:endParaRPr lang="ca-ES" sz="1600" dirty="0"/>
          </a:p>
          <a:p>
            <a:pPr algn="l"/>
            <a:endParaRPr lang="ca-ES" sz="1600" dirty="0"/>
          </a:p>
          <a:p>
            <a:pPr algn="l"/>
            <a:r>
              <a:rPr lang="ca-ES" sz="1600" dirty="0"/>
              <a:t>GitHub link: </a:t>
            </a:r>
            <a:r>
              <a:rPr lang="ca-ES" sz="1600" dirty="0">
                <a:hlinkClick r:id="rId6"/>
              </a:rPr>
              <a:t>https://github.com/benet1one/Mineria</a:t>
            </a:r>
            <a:endParaRPr lang="ca-ES" sz="16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068435"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Bernat, Iker, Davide, Pol</a:t>
            </a:r>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Bernat, Iker</a:t>
            </a:r>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Davide, Pol</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Bernat, Davide</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Análisis Exploratorio</a:t>
            </a:r>
          </a:p>
        </p:txBody>
      </p:sp>
      <p:pic>
        <p:nvPicPr>
          <p:cNvPr id="5" name="Content Placeholder 4">
            <a:extLst>
              <a:ext uri="{FF2B5EF4-FFF2-40B4-BE49-F238E27FC236}">
                <a16:creationId xmlns:a16="http://schemas.microsoft.com/office/drawing/2014/main" id="{8CB69615-9662-C7D4-A053-419D54A9A4A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843082" y="1825625"/>
            <a:ext cx="5931847" cy="4351338"/>
          </a:xfrm>
        </p:spPr>
      </p:pic>
      <p:pic>
        <p:nvPicPr>
          <p:cNvPr id="7" name="Picture 6">
            <a:extLst>
              <a:ext uri="{FF2B5EF4-FFF2-40B4-BE49-F238E27FC236}">
                <a16:creationId xmlns:a16="http://schemas.microsoft.com/office/drawing/2014/main" id="{9695E614-F292-CA34-BD4D-F33272288C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6494" y="2389113"/>
            <a:ext cx="5206588" cy="3787850"/>
          </a:xfrm>
          <a:prstGeom prst="rect">
            <a:avLst/>
          </a:prstGeom>
        </p:spPr>
      </p:pic>
      <p:sp>
        <p:nvSpPr>
          <p:cNvPr id="8" name="Títol 1">
            <a:extLst>
              <a:ext uri="{FF2B5EF4-FFF2-40B4-BE49-F238E27FC236}">
                <a16:creationId xmlns:a16="http://schemas.microsoft.com/office/drawing/2014/main" id="{1EAC4746-1186-4C66-8CB7-0F41C08EDC86}"/>
              </a:ext>
            </a:extLst>
          </p:cNvPr>
          <p:cNvSpPr txBox="1">
            <a:spLocks/>
          </p:cNvSpPr>
          <p:nvPr/>
        </p:nvSpPr>
        <p:spPr>
          <a:xfrm>
            <a:off x="801559" y="1489340"/>
            <a:ext cx="6642046" cy="6468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ca-ES" sz="1600" dirty="0">
                <a:latin typeface="+mn-lt"/>
              </a:rPr>
              <a:t>Existen muchas dependencias entre variables explicativas.</a:t>
            </a:r>
          </a:p>
          <a:p>
            <a:r>
              <a:rPr lang="ca-ES" sz="1600" dirty="0">
                <a:latin typeface="+mn-lt"/>
              </a:rPr>
              <a:t>Estas són algunas de ellas.</a:t>
            </a:r>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a:xfrm>
            <a:off x="838201" y="1607009"/>
            <a:ext cx="7406964" cy="4569954"/>
          </a:xfrm>
        </p:spPr>
        <p:txBody>
          <a:bodyPr>
            <a:normAutofit/>
          </a:bodyPr>
          <a:lstStyle/>
          <a:p>
            <a:pPr marL="0" indent="0">
              <a:buNone/>
            </a:pPr>
            <a:r>
              <a:rPr lang="ca-ES" sz="1600" b="1" dirty="0"/>
              <a:t>Escala</a:t>
            </a:r>
          </a:p>
          <a:p>
            <a:pPr marL="0" indent="0">
              <a:buNone/>
            </a:pPr>
            <a:r>
              <a:rPr lang="ca-ES" sz="1600" dirty="0"/>
              <a:t>Las variables de tonalidad </a:t>
            </a:r>
            <a:r>
              <a:rPr lang="ca-ES" sz="1600" i="1" dirty="0"/>
              <a:t>(key)</a:t>
            </a:r>
            <a:r>
              <a:rPr lang="ca-ES" sz="1600" dirty="0"/>
              <a:t> i modalidad </a:t>
            </a:r>
            <a:r>
              <a:rPr lang="ca-ES" sz="1600" i="1" dirty="0"/>
              <a:t>(audio_mode)</a:t>
            </a:r>
            <a:r>
              <a:rPr lang="ca-ES" sz="1600" dirty="0"/>
              <a:t> están muy relacionadas. La escala </a:t>
            </a:r>
            <a:r>
              <a:rPr lang="ca-ES" sz="1600" i="1" dirty="0"/>
              <a:t>(key_signature)</a:t>
            </a:r>
            <a:r>
              <a:rPr lang="ca-ES" sz="1600" dirty="0"/>
              <a:t> se puede obtener a partir de estas dos variables, calculando el Mayor Relativo:</a:t>
            </a:r>
          </a:p>
          <a:p>
            <a:pPr>
              <a:buFontTx/>
              <a:buChar char="-"/>
            </a:pPr>
            <a:r>
              <a:rPr lang="ca-ES" sz="1100" dirty="0">
                <a:latin typeface="Source Code Pro" panose="020B0509030403020204" pitchFamily="49" charset="0"/>
                <a:ea typeface="Source Code Pro" panose="020B0509030403020204" pitchFamily="49" charset="0"/>
              </a:rPr>
              <a:t>Modalidad Mayor  =&gt;  Escala = Tonalidad</a:t>
            </a:r>
          </a:p>
          <a:p>
            <a:pPr>
              <a:buFontTx/>
              <a:buChar char="-"/>
            </a:pPr>
            <a:r>
              <a:rPr lang="ca-ES" sz="1100" dirty="0">
                <a:latin typeface="Source Code Pro" panose="020B0509030403020204" pitchFamily="49" charset="0"/>
                <a:ea typeface="Source Code Pro" panose="020B0509030403020204" pitchFamily="49" charset="0"/>
              </a:rPr>
              <a:t>Modalidad Menor  =&gt;  Escala = MayorRelativo(Tonalidad)</a:t>
            </a:r>
          </a:p>
          <a:p>
            <a:pPr>
              <a:buFontTx/>
              <a:buChar char="-"/>
            </a:pPr>
            <a:endParaRPr lang="ca-ES" sz="1100" dirty="0">
              <a:latin typeface="Source Code Pro" panose="020B0509030403020204" pitchFamily="49" charset="0"/>
              <a:ea typeface="Source Code Pro" panose="020B0509030403020204" pitchFamily="49" charset="0"/>
            </a:endParaRPr>
          </a:p>
          <a:p>
            <a:pPr marL="0" indent="0">
              <a:buNone/>
            </a:pPr>
            <a:r>
              <a:rPr lang="ca-ES" sz="1600" b="1" dirty="0"/>
              <a:t>Probabilidad de tener Modalidad Mayor</a:t>
            </a:r>
          </a:p>
          <a:p>
            <a:pPr marL="0" indent="0">
              <a:buNone/>
            </a:pPr>
            <a:r>
              <a:rPr lang="ca-ES" sz="1600" dirty="0"/>
              <a:t>Dado que algunas escalas són mucho más comunes que otras, es posible adivinar la modalidad a partir de la tonalidad. Por ejemplo, B Menor es mucho más frequente que B Mayor. Por lo tanto, si una canción está en B, es más probable que la modalidad sea Menor.</a:t>
            </a:r>
          </a:p>
          <a:p>
            <a:pPr marL="0" indent="0">
              <a:buNone/>
            </a:pPr>
            <a:r>
              <a:rPr lang="ca-ES" sz="1600" dirty="0"/>
              <a:t>A partir de esto hemos creado la variable </a:t>
            </a:r>
            <a:r>
              <a:rPr lang="ca-ES" sz="1600" i="1" dirty="0"/>
              <a:t>prob_major, </a:t>
            </a:r>
            <a:r>
              <a:rPr lang="ca-ES" sz="1600" dirty="0"/>
              <a:t>usando las proporciones empíricas de nuestros datos.</a:t>
            </a:r>
            <a:endParaRPr lang="ca-ES" sz="1600" i="1" dirty="0"/>
          </a:p>
          <a:p>
            <a:pPr>
              <a:buFontTx/>
              <a:buChar char="-"/>
            </a:pPr>
            <a:r>
              <a:rPr lang="ca-ES" sz="1100" dirty="0">
                <a:latin typeface="Source Code Pro" panose="020B0509030403020204" pitchFamily="49" charset="0"/>
                <a:ea typeface="Source Code Pro" panose="020B0509030403020204" pitchFamily="49" charset="0"/>
              </a:rPr>
              <a:t>Modalidad == NA  =&gt;  prob_major = Pr(Mayor | Tonalidad)</a:t>
            </a:r>
          </a:p>
          <a:p>
            <a:pPr>
              <a:buFontTx/>
              <a:buChar char="-"/>
            </a:pPr>
            <a:r>
              <a:rPr lang="ca-ES" sz="1100" dirty="0">
                <a:latin typeface="Source Code Pro" panose="020B0509030403020204" pitchFamily="49" charset="0"/>
                <a:ea typeface="Source Code Pro" panose="020B0509030403020204" pitchFamily="49" charset="0"/>
              </a:rPr>
              <a:t>Modalidad != NA  =&gt;  prob_major = [1 si es Mayor, 0 si es Menor]</a:t>
            </a:r>
          </a:p>
        </p:txBody>
      </p:sp>
      <p:pic>
        <p:nvPicPr>
          <p:cNvPr id="7" name="Picture 6">
            <a:extLst>
              <a:ext uri="{FF2B5EF4-FFF2-40B4-BE49-F238E27FC236}">
                <a16:creationId xmlns:a16="http://schemas.microsoft.com/office/drawing/2014/main" id="{7F6D2965-9A4D-2BD2-740B-3CC07529FC92}"/>
              </a:ext>
            </a:extLst>
          </p:cNvPr>
          <p:cNvPicPr>
            <a:picLocks noChangeAspect="1"/>
          </p:cNvPicPr>
          <p:nvPr/>
        </p:nvPicPr>
        <p:blipFill>
          <a:blip r:embed="rId2"/>
          <a:stretch>
            <a:fillRect/>
          </a:stretch>
        </p:blipFill>
        <p:spPr>
          <a:xfrm>
            <a:off x="8688746" y="1758759"/>
            <a:ext cx="3215624" cy="3759578"/>
          </a:xfrm>
          <a:prstGeom prst="rect">
            <a:avLst/>
          </a:prstGeom>
        </p:spPr>
      </p:pic>
      <p:sp>
        <p:nvSpPr>
          <p:cNvPr id="8" name="Títol 1">
            <a:extLst>
              <a:ext uri="{FF2B5EF4-FFF2-40B4-BE49-F238E27FC236}">
                <a16:creationId xmlns:a16="http://schemas.microsoft.com/office/drawing/2014/main" id="{542175FC-1F03-BC0C-7F94-2D22D22F959C}"/>
              </a:ext>
            </a:extLst>
          </p:cNvPr>
          <p:cNvSpPr txBox="1">
            <a:spLocks/>
          </p:cNvSpPr>
          <p:nvPr/>
        </p:nvSpPr>
        <p:spPr>
          <a:xfrm>
            <a:off x="9638165" y="1124518"/>
            <a:ext cx="2266205" cy="75501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Relación entre </a:t>
            </a:r>
          </a:p>
          <a:p>
            <a:pPr algn="r"/>
            <a:r>
              <a:rPr lang="ca-ES" sz="1200" dirty="0">
                <a:latin typeface="+mn-lt"/>
              </a:rPr>
              <a:t>relativo menor (minúsculas) </a:t>
            </a:r>
          </a:p>
          <a:p>
            <a:pPr algn="r"/>
            <a:r>
              <a:rPr lang="ca-ES" sz="1200" dirty="0">
                <a:latin typeface="+mn-lt"/>
              </a:rPr>
              <a:t>relativo mayor (mayúsculas) </a:t>
            </a:r>
          </a:p>
          <a:p>
            <a:pPr algn="r"/>
            <a:r>
              <a:rPr lang="ca-ES" sz="1200" dirty="0">
                <a:latin typeface="+mn-lt"/>
              </a:rPr>
              <a:t>i escala.</a:t>
            </a:r>
          </a:p>
        </p:txBody>
      </p:sp>
    </p:spTree>
    <p:extLst>
      <p:ext uri="{BB962C8B-B14F-4D97-AF65-F5344CB8AC3E}">
        <p14:creationId xmlns:p14="http://schemas.microsoft.com/office/powerpoint/2010/main" val="21223750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a:xfrm>
            <a:off x="838200" y="1560317"/>
            <a:ext cx="7220193" cy="4616646"/>
          </a:xfrm>
        </p:spPr>
        <p:txBody>
          <a:bodyPr>
            <a:normAutofit/>
          </a:bodyPr>
          <a:lstStyle/>
          <a:p>
            <a:pPr marL="0" indent="0">
              <a:buNone/>
            </a:pPr>
            <a:r>
              <a:rPr lang="ca-ES" sz="2000" dirty="0"/>
              <a:t>En general, teniendo en cuenta la cantidad de datos i el KPI usado, hemos decidido dividir los datos entre 70% de entrenamiento i 30% de </a:t>
            </a:r>
            <a:r>
              <a:rPr lang="ca-ES" sz="2000" i="1" dirty="0"/>
              <a:t>testing.</a:t>
            </a:r>
            <a:endParaRPr lang="ca-ES" sz="2000" dirty="0"/>
          </a:p>
          <a:p>
            <a:pPr marL="0" indent="0">
              <a:buNone/>
            </a:pPr>
            <a:r>
              <a:rPr lang="ca-ES" sz="2000" dirty="0"/>
              <a:t>La base de datos está </a:t>
            </a:r>
            <a:r>
              <a:rPr lang="ca-ES" sz="2000" b="1" dirty="0"/>
              <a:t>altamente desbalanceada </a:t>
            </a:r>
            <a:r>
              <a:rPr lang="ca-ES" sz="2000" dirty="0"/>
              <a:t>según el compás (</a:t>
            </a:r>
            <a:r>
              <a:rPr lang="ca-ES" sz="2000" i="1" dirty="0"/>
              <a:t>time_signature</a:t>
            </a:r>
            <a:r>
              <a:rPr lang="ca-ES" sz="2000" dirty="0"/>
              <a:t>). Por lo tanto, al dividir los datos entre </a:t>
            </a:r>
            <a:r>
              <a:rPr lang="ca-ES" sz="2000" i="1" dirty="0"/>
              <a:t>training</a:t>
            </a:r>
            <a:r>
              <a:rPr lang="ca-ES" sz="2000" dirty="0"/>
              <a:t> i </a:t>
            </a:r>
            <a:r>
              <a:rPr lang="ca-ES" sz="2000" i="1" dirty="0"/>
              <a:t>testing</a:t>
            </a:r>
            <a:r>
              <a:rPr lang="ca-ES" sz="2000" dirty="0"/>
              <a:t>, es necesario que en todas las divisiones estén presentes todos los compases.</a:t>
            </a:r>
          </a:p>
          <a:p>
            <a:pPr marL="0" indent="0">
              <a:buNone/>
            </a:pPr>
            <a:r>
              <a:rPr lang="ca-ES" sz="2000" dirty="0"/>
              <a:t>Para aquellos métodos que necesiten datos balanceados, se ha creado una base de datos con </a:t>
            </a:r>
            <a:r>
              <a:rPr lang="ca-ES" sz="2000" i="1" dirty="0"/>
              <a:t>oversampling. </a:t>
            </a:r>
            <a:r>
              <a:rPr lang="ca-ES" sz="2000" dirty="0"/>
              <a:t>En particular, se ha usado una técnica inspirada en </a:t>
            </a:r>
            <a:r>
              <a:rPr lang="ca-ES" sz="2000" b="1" dirty="0"/>
              <a:t>SMOTE </a:t>
            </a:r>
            <a:r>
              <a:rPr lang="ca-ES" sz="2000" dirty="0"/>
              <a:t>(Synthetic Minority Over-sampling Technique), que interpola las variables numéricas entre observaciones cercanas. </a:t>
            </a:r>
          </a:p>
          <a:p>
            <a:pPr marL="0" indent="0">
              <a:buNone/>
            </a:pPr>
            <a:r>
              <a:rPr lang="ca-ES" sz="2000" dirty="0"/>
              <a:t>La base de datos sobremuestrada contiene 12.000 registros por cada compás.</a:t>
            </a:r>
          </a:p>
        </p:txBody>
      </p:sp>
      <p:pic>
        <p:nvPicPr>
          <p:cNvPr id="5" name="Picture 4" descr="A graph of a bar&#10;&#10;AI-generated content may be incorrect.">
            <a:extLst>
              <a:ext uri="{FF2B5EF4-FFF2-40B4-BE49-F238E27FC236}">
                <a16:creationId xmlns:a16="http://schemas.microsoft.com/office/drawing/2014/main" id="{836B74B4-740D-2F9C-1534-037CD16F9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3166" y="655141"/>
            <a:ext cx="3891220" cy="5804528"/>
          </a:xfrm>
          <a:prstGeom prst="rect">
            <a:avLst/>
          </a:prstGeom>
        </p:spPr>
      </p:pic>
      <p:sp>
        <p:nvSpPr>
          <p:cNvPr id="6" name="Contenidor de contingut 2">
            <a:extLst>
              <a:ext uri="{FF2B5EF4-FFF2-40B4-BE49-F238E27FC236}">
                <a16:creationId xmlns:a16="http://schemas.microsoft.com/office/drawing/2014/main" id="{C54F8D16-4EF0-0B7C-B78A-212A2235E8D8}"/>
              </a:ext>
            </a:extLst>
          </p:cNvPr>
          <p:cNvSpPr txBox="1">
            <a:spLocks/>
          </p:cNvSpPr>
          <p:nvPr/>
        </p:nvSpPr>
        <p:spPr>
          <a:xfrm>
            <a:off x="8431935" y="897393"/>
            <a:ext cx="3544760"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ca-ES" sz="1200" dirty="0"/>
              <a:t>Numero de registros originales por compás</a:t>
            </a:r>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1085</TotalTime>
  <Words>2047</Words>
  <Application>Microsoft Office PowerPoint</Application>
  <PresentationFormat>Widescreen</PresentationFormat>
  <Paragraphs>197</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Source Code Pro</vt:lpstr>
      <vt:lpstr>Tema de l'Office</vt:lpstr>
      <vt:lpstr>Predicción de la Popularidad de Canciones</vt:lpstr>
      <vt:lpstr>Entendimiento Del Negocio</vt:lpstr>
      <vt:lpstr>Entendimiento de los Datos</vt:lpstr>
      <vt:lpstr>Framework Metodológico</vt:lpstr>
      <vt:lpstr>Análisis Exploratorio</vt:lpstr>
      <vt:lpstr>Feature Engineering</vt:lpstr>
      <vt:lpstr>Imputación en dos pasos</vt:lpstr>
      <vt:lpstr>Outliers</vt:lpstr>
      <vt:lpstr>Feature Engineering</vt:lpstr>
      <vt:lpstr>Feature Engineering</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BERNAT GARCÍA GARCÍA</cp:lastModifiedBy>
  <cp:revision>29</cp:revision>
  <dcterms:created xsi:type="dcterms:W3CDTF">2025-11-09T14:38:01Z</dcterms:created>
  <dcterms:modified xsi:type="dcterms:W3CDTF">2025-11-11T10:06:35Z</dcterms:modified>
</cp:coreProperties>
</file>