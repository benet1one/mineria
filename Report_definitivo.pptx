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75" r:id="rId9"/>
    <p:sldId id="264" r:id="rId10"/>
    <p:sldId id="265" r:id="rId11"/>
    <p:sldId id="276" r:id="rId12"/>
    <p:sldId id="277" r:id="rId13"/>
    <p:sldId id="278"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7" autoAdjust="0"/>
  </p:normalViewPr>
  <p:slideViewPr>
    <p:cSldViewPr snapToGrid="0">
      <p:cViewPr varScale="1">
        <p:scale>
          <a:sx n="140" d="100"/>
          <a:sy n="140" d="100"/>
        </p:scale>
        <p:origin x="165" y="7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avide.rota@estudiantat.upc.edu"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5" Type="http://schemas.openxmlformats.org/officeDocument/2006/relationships/hyperlink" Target="https://github.com/benet1one/Mineria" TargetMode="External"/><Relationship Id="rId4" Type="http://schemas.openxmlformats.org/officeDocument/2006/relationships/hyperlink" Target="mailto:ptobelja7@alumnes.ub.edu"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505838" y="381836"/>
            <a:ext cx="11180324" cy="1310775"/>
          </a:xfrm>
        </p:spPr>
        <p:txBody>
          <a:bodyPr>
            <a:noAutofit/>
          </a:bodyPr>
          <a:lstStyle/>
          <a:p>
            <a:r>
              <a:rPr lang="ca-ES" sz="3600" dirty="0"/>
              <a:t>Predicción de la Popularidad de Canciones</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702733" y="1692612"/>
            <a:ext cx="10803467" cy="4436883"/>
          </a:xfrm>
        </p:spPr>
        <p:txBody>
          <a:bodyPr>
            <a:normAutofit/>
          </a:bodyPr>
          <a:lstStyle/>
          <a:p>
            <a:r>
              <a:rPr lang="ca-ES" sz="1800" dirty="0"/>
              <a:t>Group 03, ID Kaggle: Grupo 03</a:t>
            </a:r>
          </a:p>
          <a:p>
            <a:pPr algn="l"/>
            <a:endParaRPr lang="ca-ES" sz="1600" dirty="0"/>
          </a:p>
          <a:p>
            <a:pPr algn="l"/>
            <a:endParaRPr lang="ca-ES" sz="1600" dirty="0"/>
          </a:p>
          <a:p>
            <a:pPr algn="l"/>
            <a:r>
              <a:rPr lang="it-IT" sz="1600" dirty="0"/>
              <a:t>Garcia Garcia, Bernat – </a:t>
            </a:r>
            <a:r>
              <a:rPr lang="it-IT" sz="1600" dirty="0">
                <a:hlinkClick r:id="rId2"/>
              </a:rPr>
              <a:t>bernat.garcia.garcia@estudiantat.upc.edu</a:t>
            </a:r>
            <a:r>
              <a:rPr lang="it-IT" sz="1600" dirty="0"/>
              <a:t> (Doble grado Economía-Estadística, UB-UPC)</a:t>
            </a:r>
          </a:p>
          <a:p>
            <a:pPr algn="l"/>
            <a:r>
              <a:rPr lang="it-IT" sz="1600" dirty="0"/>
              <a:t>Maria </a:t>
            </a:r>
            <a:r>
              <a:rPr lang="it-IT" sz="1600" dirty="0" err="1"/>
              <a:t>Montés</a:t>
            </a:r>
            <a:r>
              <a:rPr lang="it-IT" sz="1600" dirty="0"/>
              <a:t>, Iker - </a:t>
            </a:r>
          </a:p>
          <a:p>
            <a:pPr algn="l"/>
            <a:r>
              <a:rPr lang="it-IT" sz="1600" dirty="0"/>
              <a:t>Rota, Davide  - </a:t>
            </a:r>
            <a:r>
              <a:rPr lang="it-IT" sz="1600" dirty="0">
                <a:hlinkClick r:id="rId3"/>
              </a:rPr>
              <a:t>davide.rota@estudiantat.upc.edu</a:t>
            </a:r>
            <a:r>
              <a:rPr lang="it-IT" sz="1600" dirty="0"/>
              <a:t> (</a:t>
            </a:r>
            <a:r>
              <a:rPr lang="it-IT" sz="1600" dirty="0" err="1"/>
              <a:t>currently</a:t>
            </a:r>
            <a:r>
              <a:rPr lang="it-IT" sz="1600" dirty="0"/>
              <a:t> </a:t>
            </a:r>
            <a:r>
              <a:rPr lang="it-IT" sz="1600" dirty="0" err="1"/>
              <a:t>at</a:t>
            </a:r>
            <a:r>
              <a:rPr lang="it-IT" sz="1600" dirty="0"/>
              <a:t> MESIO, UPC)</a:t>
            </a:r>
          </a:p>
          <a:p>
            <a:pPr algn="l"/>
            <a:r>
              <a:rPr lang="it-IT" sz="1600" dirty="0"/>
              <a:t>Tobella Jacomet, Pol - </a:t>
            </a:r>
            <a:r>
              <a:rPr lang="it-IT" sz="1600" dirty="0">
                <a:hlinkClick r:id="rId4"/>
              </a:rPr>
              <a:t>ptobelja7@alumnes.ub.edu</a:t>
            </a:r>
            <a:r>
              <a:rPr lang="it-IT" sz="1600" dirty="0"/>
              <a:t> (Doble grado Economía-Estadística, UB-UPC)</a:t>
            </a:r>
            <a:endParaRPr lang="ca-ES" sz="1600" dirty="0"/>
          </a:p>
          <a:p>
            <a:pPr algn="l"/>
            <a:endParaRPr lang="ca-ES" sz="1600" dirty="0"/>
          </a:p>
          <a:p>
            <a:pPr algn="l"/>
            <a:endParaRPr lang="ca-ES" sz="1600" dirty="0"/>
          </a:p>
          <a:p>
            <a:pPr algn="l"/>
            <a:r>
              <a:rPr lang="ca-ES" sz="1600" dirty="0"/>
              <a:t>GitHub link: </a:t>
            </a:r>
            <a:r>
              <a:rPr lang="ca-ES" sz="1600" dirty="0">
                <a:hlinkClick r:id="rId5"/>
              </a:rPr>
              <a:t>https://github.com/benet1one/Mineria</a:t>
            </a:r>
            <a:endParaRPr lang="ca-ES" sz="16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068435"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Bernat, Iker, Davide, Pol</a:t>
            </a:r>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Bernat, Iker</a:t>
            </a:r>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Davide, Pol</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Bernat, Davide</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9975685" y="19050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5142188"/>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5142188"/>
            <a:ext cx="3439005" cy="790685"/>
          </a:xfrm>
          <a:prstGeom prst="rect">
            <a:avLst/>
          </a:prstGeom>
        </p:spPr>
      </p:pic>
    </p:spTree>
    <p:extLst>
      <p:ext uri="{BB962C8B-B14F-4D97-AF65-F5344CB8AC3E}">
        <p14:creationId xmlns:p14="http://schemas.microsoft.com/office/powerpoint/2010/main" val="4112176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199" y="1492565"/>
            <a:ext cx="9955957" cy="10649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·Como hemos comentado antes, el primer análisis parte de niveles menos exigentes de soporte y confianza. Podemos observar que las reglas con mayor </a:t>
            </a:r>
            <a:r>
              <a:rPr lang="es-ES" sz="1600" i="1" dirty="0" err="1"/>
              <a:t>lift</a:t>
            </a:r>
            <a:r>
              <a:rPr lang="es-ES" sz="1600" dirty="0"/>
              <a:t> explican que la variable </a:t>
            </a:r>
            <a:r>
              <a:rPr lang="es-ES" sz="1600" i="1" dirty="0" err="1"/>
              <a:t>energy</a:t>
            </a:r>
            <a:r>
              <a:rPr lang="es-ES" sz="1600" dirty="0"/>
              <a:t> tome valores altos. Si nos fijamos, se tratan de reglas bastante evidentes cómo que canciones con: niveles de </a:t>
            </a:r>
            <a:r>
              <a:rPr lang="es-ES" sz="1600" i="1" dirty="0" err="1"/>
              <a:t>loudness</a:t>
            </a:r>
            <a:r>
              <a:rPr lang="es-ES" sz="1600" dirty="0"/>
              <a:t> altos, </a:t>
            </a:r>
            <a:r>
              <a:rPr lang="es-ES" sz="1600" i="1" dirty="0" err="1"/>
              <a:t>danceability</a:t>
            </a:r>
            <a:r>
              <a:rPr lang="es-ES" sz="1600" dirty="0"/>
              <a:t> medios, sentimientos positivos y que no son acústicas llevan asociadas un carácter energético.</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838199" y="4300474"/>
            <a:ext cx="9955957" cy="6024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·Para el segundo análisis llegamos a una conclusión similar. Se trata de reglas evidentes que no se enfocan en la variable objetivo </a:t>
            </a:r>
            <a:r>
              <a:rPr lang="es-ES" sz="1600" i="1" dirty="0" err="1"/>
              <a:t>popularity</a:t>
            </a:r>
            <a:r>
              <a:rPr lang="es-ES" sz="1600" dirty="0"/>
              <a:t>. En este caso las reglas con mayor </a:t>
            </a:r>
            <a:r>
              <a:rPr lang="es-ES" sz="1600" dirty="0" err="1"/>
              <a:t>lift</a:t>
            </a:r>
            <a:r>
              <a:rPr lang="es-ES" sz="1600" dirty="0"/>
              <a:t> explican niveles altos de </a:t>
            </a:r>
            <a:r>
              <a:rPr lang="es-ES" sz="1600" i="1" dirty="0" err="1"/>
              <a:t>loudness</a:t>
            </a:r>
            <a:r>
              <a:rPr lang="es-ES" sz="1600" i="1" dirty="0"/>
              <a:t>. </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939229" y="2557527"/>
            <a:ext cx="4597127" cy="1506474"/>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838198" y="4971575"/>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519557" y="4966076"/>
            <a:ext cx="2437201" cy="1573129"/>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6519557" y="2557526"/>
            <a:ext cx="2437201" cy="1553787"/>
          </a:xfrm>
          <a:prstGeom prst="rect">
            <a:avLst/>
          </a:prstGeom>
        </p:spPr>
      </p:pic>
    </p:spTree>
    <p:extLst>
      <p:ext uri="{BB962C8B-B14F-4D97-AF65-F5344CB8AC3E}">
        <p14:creationId xmlns:p14="http://schemas.microsoft.com/office/powerpoint/2010/main" val="435149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es-ES" sz="1600" noProof="0" dirty="0"/>
              <a:t>Para finalizar este apartado, hemos realizado también un análisis enfocado a la popularidad, nuestra variable objetivo. Para obtener reglas que explicaran la popularidad, en cualquier nivel, hemos tenido que realizar un análisis con un soporte y confianza notablemente bajos, concretamente de 0.02 y 0.3 respectivamente. Aunque se podrían encontrar reglas con mayor confianza, el soporte tendría que ser aún mucho menor.</a:t>
            </a:r>
          </a:p>
          <a:p>
            <a:pPr algn="just"/>
            <a:r>
              <a:rPr lang="es-ES" sz="1600" noProof="0" dirty="0"/>
              <a:t>El resultado de este análisis nos muestra que las reglas que explican niveles altos de popularidad con </a:t>
            </a:r>
            <a:r>
              <a:rPr lang="es-ES" sz="1600" i="1" noProof="0" dirty="0" err="1"/>
              <a:t>lift</a:t>
            </a:r>
            <a:r>
              <a:rPr lang="es-ES" sz="1600" noProof="0" dirty="0"/>
              <a:t> alto tienden a incluir: </a:t>
            </a:r>
            <a:r>
              <a:rPr lang="es-ES" sz="1600" i="1" noProof="0" dirty="0" err="1"/>
              <a:t>danceability</a:t>
            </a:r>
            <a:r>
              <a:rPr lang="es-ES" sz="1600" noProof="0" dirty="0"/>
              <a:t>=High, </a:t>
            </a:r>
            <a:r>
              <a:rPr lang="es-ES" sz="1600" i="1" noProof="0" dirty="0" err="1"/>
              <a:t>acousticness</a:t>
            </a:r>
            <a:r>
              <a:rPr lang="es-ES" sz="1600" noProof="0" dirty="0"/>
              <a:t>=Low, </a:t>
            </a:r>
            <a:r>
              <a:rPr lang="es-ES" sz="1600" i="1" noProof="0" dirty="0" err="1"/>
              <a:t>key</a:t>
            </a:r>
            <a:r>
              <a:rPr lang="es-ES" sz="1600" noProof="0" dirty="0"/>
              <a:t>=</a:t>
            </a:r>
            <a:r>
              <a:rPr lang="es-ES" sz="1600" noProof="0" dirty="0" err="1"/>
              <a:t>Db</a:t>
            </a:r>
            <a:r>
              <a:rPr lang="es-ES" sz="1600" noProof="0" dirty="0"/>
              <a:t>, </a:t>
            </a:r>
            <a:r>
              <a:rPr lang="es-ES" sz="1600" i="1" noProof="0" dirty="0" err="1"/>
              <a:t>instrumentalness</a:t>
            </a:r>
            <a:r>
              <a:rPr lang="es-ES" sz="1600" noProof="0" dirty="0"/>
              <a:t>=Low y </a:t>
            </a:r>
            <a:r>
              <a:rPr lang="es-ES" sz="1600" i="1" noProof="0" dirty="0" err="1"/>
              <a:t>loudness</a:t>
            </a:r>
            <a:r>
              <a:rPr lang="es-ES" sz="1600" noProof="0" dirty="0"/>
              <a:t>=High. Aún así debemos ser cautos al usar estos resultados pues están asociados a niveles de soporte cercanos a 0.02 y valores de confianza levemente superiores a 0.4.</a:t>
            </a:r>
          </a:p>
          <a:p>
            <a:pPr algn="just"/>
            <a:endParaRPr lang="ca-ES" sz="1600" dirty="0"/>
          </a:p>
        </p:txBody>
      </p:sp>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2"/>
          <a:stretch>
            <a:fillRect/>
          </a:stretch>
        </p:blipFill>
        <p:spPr>
          <a:xfrm>
            <a:off x="842628" y="3574733"/>
            <a:ext cx="6019726" cy="2429517"/>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3"/>
          <a:stretch>
            <a:fillRect/>
          </a:stretch>
        </p:blipFill>
        <p:spPr>
          <a:xfrm>
            <a:off x="7381233" y="3574733"/>
            <a:ext cx="3789156" cy="2429518"/>
          </a:xfrm>
          <a:prstGeom prst="rect">
            <a:avLst/>
          </a:prstGeom>
        </p:spPr>
      </p:pic>
    </p:spTree>
    <p:extLst>
      <p:ext uri="{BB962C8B-B14F-4D97-AF65-F5344CB8AC3E}">
        <p14:creationId xmlns:p14="http://schemas.microsoft.com/office/powerpoint/2010/main" val="1336004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a:xfrm>
            <a:off x="838200" y="1560317"/>
            <a:ext cx="7220193" cy="4616646"/>
          </a:xfrm>
        </p:spPr>
        <p:txBody>
          <a:bodyPr>
            <a:normAutofit/>
          </a:bodyPr>
          <a:lstStyle/>
          <a:p>
            <a:pPr marL="0" indent="0">
              <a:buNone/>
            </a:pPr>
            <a:r>
              <a:rPr lang="ca-ES" sz="2000" dirty="0"/>
              <a:t>En general, teniendo en cuenta la cantidad de datos i el KPI usado, hemos decidido dividir los datos entre 70% de entrenamiento i 30% de </a:t>
            </a:r>
            <a:r>
              <a:rPr lang="ca-ES" sz="2000" i="1" dirty="0"/>
              <a:t>testing.</a:t>
            </a:r>
            <a:endParaRPr lang="ca-ES" sz="2000" dirty="0"/>
          </a:p>
          <a:p>
            <a:pPr marL="0" indent="0">
              <a:buNone/>
            </a:pPr>
            <a:r>
              <a:rPr lang="ca-ES" sz="2000" dirty="0"/>
              <a:t>La base de datos está </a:t>
            </a:r>
            <a:r>
              <a:rPr lang="ca-ES" sz="2000" b="1" dirty="0"/>
              <a:t>altamente desbalanceada </a:t>
            </a:r>
            <a:r>
              <a:rPr lang="ca-ES" sz="2000" dirty="0"/>
              <a:t>según el compás (</a:t>
            </a:r>
            <a:r>
              <a:rPr lang="ca-ES" sz="2000" i="1" dirty="0"/>
              <a:t>time_signature</a:t>
            </a:r>
            <a:r>
              <a:rPr lang="ca-ES" sz="2000" dirty="0"/>
              <a:t>). Por lo tanto, al dividir los datos entre </a:t>
            </a:r>
            <a:r>
              <a:rPr lang="ca-ES" sz="2000" i="1" dirty="0"/>
              <a:t>training</a:t>
            </a:r>
            <a:r>
              <a:rPr lang="ca-ES" sz="2000" dirty="0"/>
              <a:t> i </a:t>
            </a:r>
            <a:r>
              <a:rPr lang="ca-ES" sz="2000" i="1" dirty="0"/>
              <a:t>testing</a:t>
            </a:r>
            <a:r>
              <a:rPr lang="ca-ES" sz="2000" dirty="0"/>
              <a:t>, es necesario que en todas las divisiones estén presentes todos los compases.</a:t>
            </a:r>
          </a:p>
          <a:p>
            <a:pPr marL="0" indent="0">
              <a:buNone/>
            </a:pPr>
            <a:r>
              <a:rPr lang="ca-ES" sz="2000" dirty="0"/>
              <a:t>Para aquellos métodos que necesiten datos balanceados, se ha creado una base de datos con </a:t>
            </a:r>
            <a:r>
              <a:rPr lang="ca-ES" sz="2000" i="1" dirty="0"/>
              <a:t>oversampling. </a:t>
            </a:r>
            <a:r>
              <a:rPr lang="ca-ES" sz="2000" dirty="0"/>
              <a:t>En particular, se ha usado una técnica inspirada en </a:t>
            </a:r>
            <a:r>
              <a:rPr lang="ca-ES" sz="2000" b="1" dirty="0"/>
              <a:t>SMOTE </a:t>
            </a:r>
            <a:r>
              <a:rPr lang="ca-ES" sz="2000" dirty="0"/>
              <a:t>(Synthetic Minority Over-sampling Technique), que interpola las variables numéricas entre observaciones cercanas. </a:t>
            </a:r>
          </a:p>
          <a:p>
            <a:pPr marL="0" indent="0">
              <a:buNone/>
            </a:pPr>
            <a:r>
              <a:rPr lang="ca-ES" sz="2000" dirty="0"/>
              <a:t>La base de datos sobremuestrada contiene 12.000 registros por cada compás.</a:t>
            </a:r>
          </a:p>
        </p:txBody>
      </p:sp>
      <p:pic>
        <p:nvPicPr>
          <p:cNvPr id="5" name="Picture 4" descr="A graph of a bar&#10;&#10;AI-generated content may be incorrect.">
            <a:extLst>
              <a:ext uri="{FF2B5EF4-FFF2-40B4-BE49-F238E27FC236}">
                <a16:creationId xmlns:a16="http://schemas.microsoft.com/office/drawing/2014/main" id="{836B74B4-740D-2F9C-1534-037CD16F9F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23166" y="655141"/>
            <a:ext cx="3891220" cy="5804528"/>
          </a:xfrm>
          <a:prstGeom prst="rect">
            <a:avLst/>
          </a:prstGeom>
        </p:spPr>
      </p:pic>
      <p:sp>
        <p:nvSpPr>
          <p:cNvPr id="6" name="Contenidor de contingut 2">
            <a:extLst>
              <a:ext uri="{FF2B5EF4-FFF2-40B4-BE49-F238E27FC236}">
                <a16:creationId xmlns:a16="http://schemas.microsoft.com/office/drawing/2014/main" id="{C54F8D16-4EF0-0B7C-B78A-212A2235E8D8}"/>
              </a:ext>
            </a:extLst>
          </p:cNvPr>
          <p:cNvSpPr txBox="1">
            <a:spLocks/>
          </p:cNvSpPr>
          <p:nvPr/>
        </p:nvSpPr>
        <p:spPr>
          <a:xfrm>
            <a:off x="8431935" y="897393"/>
            <a:ext cx="3544760"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ca-ES" sz="1200" dirty="0"/>
              <a:t>Numero de registros originales por compás</a:t>
            </a:r>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1066</TotalTime>
  <Words>1836</Words>
  <Application>Microsoft Office PowerPoint</Application>
  <PresentationFormat>Widescreen</PresentationFormat>
  <Paragraphs>181</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Source Code Pro</vt:lpstr>
      <vt:lpstr>Tema de l'Office</vt:lpstr>
      <vt:lpstr>Predicción de la Popularidad de Canciones</vt:lpstr>
      <vt:lpstr>Entendimiento Del Negocio</vt:lpstr>
      <vt:lpstr>Entendimiento de los Datos</vt:lpstr>
      <vt:lpstr>Framework Metodológico</vt:lpstr>
      <vt:lpstr>EDA 1</vt:lpstr>
      <vt:lpstr>EDA 2</vt:lpstr>
      <vt:lpstr>Imputación en dos pasos</vt:lpstr>
      <vt:lpstr>Outliers</vt:lpstr>
      <vt:lpstr>Feature Engineering</vt:lpstr>
      <vt:lpstr>Feature Engineering</vt:lpstr>
      <vt:lpstr>Associtation Rules</vt:lpstr>
      <vt:lpstr>Associtation Rules</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POL TOBELLA JACOMET</dc:creator>
  <cp:lastModifiedBy>BERNAT GARCÍA GARCÍA</cp:lastModifiedBy>
  <cp:revision>26</cp:revision>
  <dcterms:created xsi:type="dcterms:W3CDTF">2025-11-09T14:38:01Z</dcterms:created>
  <dcterms:modified xsi:type="dcterms:W3CDTF">2025-11-11T07:57:17Z</dcterms:modified>
</cp:coreProperties>
</file>