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75" r:id="rId9"/>
    <p:sldId id="264" r:id="rId10"/>
    <p:sldId id="265" r:id="rId11"/>
    <p:sldId id="276" r:id="rId12"/>
    <p:sldId id="277" r:id="rId13"/>
    <p:sldId id="278" r:id="rId14"/>
    <p:sldId id="268" r:id="rId15"/>
    <p:sldId id="269" r:id="rId16"/>
    <p:sldId id="270" r:id="rId17"/>
    <p:sldId id="271"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 mitjà 2 - èmfasi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47" autoAdjust="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A29714D-2B8A-EAFC-206A-D4845180B770}"/>
              </a:ext>
            </a:extLst>
          </p:cNvPr>
          <p:cNvSpPr>
            <a:spLocks noGrp="1"/>
          </p:cNvSpPr>
          <p:nvPr>
            <p:ph type="ctrTitle"/>
          </p:nvPr>
        </p:nvSpPr>
        <p:spPr>
          <a:xfrm>
            <a:off x="1524000" y="1122363"/>
            <a:ext cx="9144000" cy="2387600"/>
          </a:xfrm>
        </p:spPr>
        <p:txBody>
          <a:bodyPr anchor="b"/>
          <a:lstStyle>
            <a:lvl1pPr algn="ctr">
              <a:defRPr sz="6000"/>
            </a:lvl1pPr>
          </a:lstStyle>
          <a:p>
            <a:r>
              <a:rPr lang="ca-ES"/>
              <a:t>Feu clic aquí per editar l'estil</a:t>
            </a:r>
          </a:p>
        </p:txBody>
      </p:sp>
      <p:sp>
        <p:nvSpPr>
          <p:cNvPr id="3" name="Subtítol 2">
            <a:extLst>
              <a:ext uri="{FF2B5EF4-FFF2-40B4-BE49-F238E27FC236}">
                <a16:creationId xmlns:a16="http://schemas.microsoft.com/office/drawing/2014/main" id="{8675AC7F-3F75-37C3-A625-7B3C194C6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a-ES"/>
              <a:t>Feu clic aquí per editar l'estil de subtítols del patró</a:t>
            </a:r>
          </a:p>
        </p:txBody>
      </p:sp>
      <p:sp>
        <p:nvSpPr>
          <p:cNvPr id="4" name="Contenidor de data 3">
            <a:extLst>
              <a:ext uri="{FF2B5EF4-FFF2-40B4-BE49-F238E27FC236}">
                <a16:creationId xmlns:a16="http://schemas.microsoft.com/office/drawing/2014/main" id="{E74B5179-3DEA-451D-F1A7-240CFFC05826}"/>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1A551AD4-90F7-2BBE-B8CA-39A874B7B094}"/>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AFCA420-994D-029D-7405-F21FC789045A}"/>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122517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59684A3-AACE-FF77-15D6-17C68EEAC103}"/>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32BB2663-E42E-BD64-6F58-FE3C7365A1B9}"/>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C75D6770-F375-2F69-B4E1-ED0171F2AEB8}"/>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4C672929-C886-D18A-F947-2C4CBE9194D6}"/>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9ECA1018-2075-4C0B-FAFF-0872D14A0BB0}"/>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1134755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FB0B85A-F966-4DF1-B9A1-939932B71955}"/>
              </a:ext>
            </a:extLst>
          </p:cNvPr>
          <p:cNvSpPr>
            <a:spLocks noGrp="1"/>
          </p:cNvSpPr>
          <p:nvPr>
            <p:ph type="title"/>
          </p:nvPr>
        </p:nvSpPr>
        <p:spPr>
          <a:xfrm>
            <a:off x="831850" y="1709738"/>
            <a:ext cx="10515600" cy="2852737"/>
          </a:xfrm>
        </p:spPr>
        <p:txBody>
          <a:bodyPr anchor="b"/>
          <a:lstStyle>
            <a:lvl1pPr>
              <a:defRPr sz="6000"/>
            </a:lvl1pPr>
          </a:lstStyle>
          <a:p>
            <a:r>
              <a:rPr lang="ca-ES"/>
              <a:t>Feu clic aquí per editar l'estil</a:t>
            </a:r>
          </a:p>
        </p:txBody>
      </p:sp>
      <p:sp>
        <p:nvSpPr>
          <p:cNvPr id="3" name="Contenidor de text 2">
            <a:extLst>
              <a:ext uri="{FF2B5EF4-FFF2-40B4-BE49-F238E27FC236}">
                <a16:creationId xmlns:a16="http://schemas.microsoft.com/office/drawing/2014/main" id="{FACD047A-04FC-625D-04C6-F4F130026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3FF6D24D-E6EE-3022-F2CE-94828A3F066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3222BC23-6EA5-5FD8-188F-367B49687EFE}"/>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C03AABD9-A1AD-F855-2635-A81337637A4F}"/>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52880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B212CDE-9FF5-F303-19F3-F824D529563E}"/>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43E7CE53-3838-AB79-D076-15F223B57B93}"/>
              </a:ext>
            </a:extLst>
          </p:cNvPr>
          <p:cNvSpPr>
            <a:spLocks noGrp="1"/>
          </p:cNvSpPr>
          <p:nvPr>
            <p:ph sz="half" idx="1"/>
          </p:nvPr>
        </p:nvSpPr>
        <p:spPr>
          <a:xfrm>
            <a:off x="838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contingut 3">
            <a:extLst>
              <a:ext uri="{FF2B5EF4-FFF2-40B4-BE49-F238E27FC236}">
                <a16:creationId xmlns:a16="http://schemas.microsoft.com/office/drawing/2014/main" id="{C6F24B35-E0CC-9CBF-D582-B8406A77770E}"/>
              </a:ext>
            </a:extLst>
          </p:cNvPr>
          <p:cNvSpPr>
            <a:spLocks noGrp="1"/>
          </p:cNvSpPr>
          <p:nvPr>
            <p:ph sz="half" idx="2"/>
          </p:nvPr>
        </p:nvSpPr>
        <p:spPr>
          <a:xfrm>
            <a:off x="6172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data 4">
            <a:extLst>
              <a:ext uri="{FF2B5EF4-FFF2-40B4-BE49-F238E27FC236}">
                <a16:creationId xmlns:a16="http://schemas.microsoft.com/office/drawing/2014/main" id="{7C2C9EC4-F619-1168-780C-984202203B0D}"/>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4F3E343A-AE05-748D-0423-16F8929861E9}"/>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2D50E1FF-5019-0CC2-209A-EAA97105D656}"/>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8504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93A549C1-2B29-CC33-B451-AE12DD3B4FD3}"/>
              </a:ext>
            </a:extLst>
          </p:cNvPr>
          <p:cNvSpPr>
            <a:spLocks noGrp="1"/>
          </p:cNvSpPr>
          <p:nvPr>
            <p:ph type="title"/>
          </p:nvPr>
        </p:nvSpPr>
        <p:spPr>
          <a:xfrm>
            <a:off x="839788" y="365125"/>
            <a:ext cx="10515600" cy="1325563"/>
          </a:xfrm>
        </p:spPr>
        <p:txBody>
          <a:bodyPr/>
          <a:lstStyle/>
          <a:p>
            <a:r>
              <a:rPr lang="ca-ES"/>
              <a:t>Feu clic aquí per editar l'estil</a:t>
            </a:r>
          </a:p>
        </p:txBody>
      </p:sp>
      <p:sp>
        <p:nvSpPr>
          <p:cNvPr id="3" name="Contenidor de text 2">
            <a:extLst>
              <a:ext uri="{FF2B5EF4-FFF2-40B4-BE49-F238E27FC236}">
                <a16:creationId xmlns:a16="http://schemas.microsoft.com/office/drawing/2014/main" id="{7A7638ED-7330-F7A1-6BF9-A7713EE3F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D81B9C43-3C00-2A99-0154-90E365529222}"/>
              </a:ext>
            </a:extLst>
          </p:cNvPr>
          <p:cNvSpPr>
            <a:spLocks noGrp="1"/>
          </p:cNvSpPr>
          <p:nvPr>
            <p:ph sz="half" idx="2"/>
          </p:nvPr>
        </p:nvSpPr>
        <p:spPr>
          <a:xfrm>
            <a:off x="839788" y="2505075"/>
            <a:ext cx="5157787"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text 4">
            <a:extLst>
              <a:ext uri="{FF2B5EF4-FFF2-40B4-BE49-F238E27FC236}">
                <a16:creationId xmlns:a16="http://schemas.microsoft.com/office/drawing/2014/main" id="{EE42454D-3D1E-9BC8-E0D6-4EFAB385B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95DF7220-4A63-1A05-7241-5A360AC43CF0}"/>
              </a:ext>
            </a:extLst>
          </p:cNvPr>
          <p:cNvSpPr>
            <a:spLocks noGrp="1"/>
          </p:cNvSpPr>
          <p:nvPr>
            <p:ph sz="quarter" idx="4"/>
          </p:nvPr>
        </p:nvSpPr>
        <p:spPr>
          <a:xfrm>
            <a:off x="6172200" y="2505075"/>
            <a:ext cx="5183188"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7" name="Contenidor de data 6">
            <a:extLst>
              <a:ext uri="{FF2B5EF4-FFF2-40B4-BE49-F238E27FC236}">
                <a16:creationId xmlns:a16="http://schemas.microsoft.com/office/drawing/2014/main" id="{5E99A236-B43A-E812-54CC-95B756F7498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8" name="Contenidor de peu de pàgina 7">
            <a:extLst>
              <a:ext uri="{FF2B5EF4-FFF2-40B4-BE49-F238E27FC236}">
                <a16:creationId xmlns:a16="http://schemas.microsoft.com/office/drawing/2014/main" id="{04804633-34A0-BC73-6D31-4F7DF4CEDABC}"/>
              </a:ext>
            </a:extLst>
          </p:cNvPr>
          <p:cNvSpPr>
            <a:spLocks noGrp="1"/>
          </p:cNvSpPr>
          <p:nvPr>
            <p:ph type="ftr" sz="quarter" idx="11"/>
          </p:nvPr>
        </p:nvSpPr>
        <p:spPr/>
        <p:txBody>
          <a:bodyPr/>
          <a:lstStyle/>
          <a:p>
            <a:endParaRPr lang="ca-ES"/>
          </a:p>
        </p:txBody>
      </p:sp>
      <p:sp>
        <p:nvSpPr>
          <p:cNvPr id="9" name="Contenidor de número de diapositiva 8">
            <a:extLst>
              <a:ext uri="{FF2B5EF4-FFF2-40B4-BE49-F238E27FC236}">
                <a16:creationId xmlns:a16="http://schemas.microsoft.com/office/drawing/2014/main" id="{2C475C08-4ED9-C8B4-D553-71A5585421D5}"/>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1145870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93F88BC-9D88-2FC1-5DF9-06DB0C0FECEE}"/>
              </a:ext>
            </a:extLst>
          </p:cNvPr>
          <p:cNvSpPr>
            <a:spLocks noGrp="1"/>
          </p:cNvSpPr>
          <p:nvPr>
            <p:ph type="title"/>
          </p:nvPr>
        </p:nvSpPr>
        <p:spPr/>
        <p:txBody>
          <a:bodyPr/>
          <a:lstStyle/>
          <a:p>
            <a:r>
              <a:rPr lang="ca-ES"/>
              <a:t>Feu clic aquí per editar l'estil</a:t>
            </a:r>
          </a:p>
        </p:txBody>
      </p:sp>
      <p:sp>
        <p:nvSpPr>
          <p:cNvPr id="3" name="Contenidor de data 2">
            <a:extLst>
              <a:ext uri="{FF2B5EF4-FFF2-40B4-BE49-F238E27FC236}">
                <a16:creationId xmlns:a16="http://schemas.microsoft.com/office/drawing/2014/main" id="{0CB7C43F-ADE3-C327-B30A-9591156AD7E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4" name="Contenidor de peu de pàgina 3">
            <a:extLst>
              <a:ext uri="{FF2B5EF4-FFF2-40B4-BE49-F238E27FC236}">
                <a16:creationId xmlns:a16="http://schemas.microsoft.com/office/drawing/2014/main" id="{4C826A2F-052C-8AD2-E107-8344E7A8BA5D}"/>
              </a:ext>
            </a:extLst>
          </p:cNvPr>
          <p:cNvSpPr>
            <a:spLocks noGrp="1"/>
          </p:cNvSpPr>
          <p:nvPr>
            <p:ph type="ftr" sz="quarter" idx="11"/>
          </p:nvPr>
        </p:nvSpPr>
        <p:spPr/>
        <p:txBody>
          <a:bodyPr/>
          <a:lstStyle/>
          <a:p>
            <a:endParaRPr lang="ca-ES"/>
          </a:p>
        </p:txBody>
      </p:sp>
      <p:sp>
        <p:nvSpPr>
          <p:cNvPr id="5" name="Contenidor de número de diapositiva 4">
            <a:extLst>
              <a:ext uri="{FF2B5EF4-FFF2-40B4-BE49-F238E27FC236}">
                <a16:creationId xmlns:a16="http://schemas.microsoft.com/office/drawing/2014/main" id="{CD9AE553-CA43-E8B2-3EA4-1F85979CD123}"/>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85103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D9D32662-D559-377E-661D-A5E1C58F9709}"/>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3" name="Contenidor de peu de pàgina 2">
            <a:extLst>
              <a:ext uri="{FF2B5EF4-FFF2-40B4-BE49-F238E27FC236}">
                <a16:creationId xmlns:a16="http://schemas.microsoft.com/office/drawing/2014/main" id="{479CA6C3-81F7-AFE0-5C3D-41E6CA722EFD}"/>
              </a:ext>
            </a:extLst>
          </p:cNvPr>
          <p:cNvSpPr>
            <a:spLocks noGrp="1"/>
          </p:cNvSpPr>
          <p:nvPr>
            <p:ph type="ftr" sz="quarter" idx="11"/>
          </p:nvPr>
        </p:nvSpPr>
        <p:spPr/>
        <p:txBody>
          <a:bodyPr/>
          <a:lstStyle/>
          <a:p>
            <a:endParaRPr lang="ca-ES"/>
          </a:p>
        </p:txBody>
      </p:sp>
      <p:sp>
        <p:nvSpPr>
          <p:cNvPr id="4" name="Contenidor de número de diapositiva 3">
            <a:extLst>
              <a:ext uri="{FF2B5EF4-FFF2-40B4-BE49-F238E27FC236}">
                <a16:creationId xmlns:a16="http://schemas.microsoft.com/office/drawing/2014/main" id="{0AA555E0-09B2-01B1-73F3-1CEE65BF1A84}"/>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5132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D38EB64-EEDD-5A52-AC60-44CF542EBE6D}"/>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e contingut 2">
            <a:extLst>
              <a:ext uri="{FF2B5EF4-FFF2-40B4-BE49-F238E27FC236}">
                <a16:creationId xmlns:a16="http://schemas.microsoft.com/office/drawing/2014/main" id="{5B7C4C07-554E-45EA-A52C-84D3DB66A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text 3">
            <a:extLst>
              <a:ext uri="{FF2B5EF4-FFF2-40B4-BE49-F238E27FC236}">
                <a16:creationId xmlns:a16="http://schemas.microsoft.com/office/drawing/2014/main" id="{31D705F0-8C5B-A026-949C-0E87198B3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49BC92E8-22A6-FAE9-2E66-14F9D96F4EE7}"/>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D2C7483F-D403-CF9D-3D01-AE01052CB92C}"/>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F2351E33-4728-1D7D-554E-063DF33CCA50}"/>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3417142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569E56F-981F-6127-E9F0-8E45783E8D58}"/>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imatge 2">
            <a:extLst>
              <a:ext uri="{FF2B5EF4-FFF2-40B4-BE49-F238E27FC236}">
                <a16:creationId xmlns:a16="http://schemas.microsoft.com/office/drawing/2014/main" id="{DED04847-20B5-E86C-29C4-9784D6516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Contenidor de text 3">
            <a:extLst>
              <a:ext uri="{FF2B5EF4-FFF2-40B4-BE49-F238E27FC236}">
                <a16:creationId xmlns:a16="http://schemas.microsoft.com/office/drawing/2014/main" id="{08B0837D-5214-85AF-5597-B2E369261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20501F75-7C6A-7CF8-1D13-A3CEA29FCD20}"/>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6" name="Contenidor de peu de pàgina 5">
            <a:extLst>
              <a:ext uri="{FF2B5EF4-FFF2-40B4-BE49-F238E27FC236}">
                <a16:creationId xmlns:a16="http://schemas.microsoft.com/office/drawing/2014/main" id="{F83820CB-C629-7BB5-9A8E-52D3B68BC07F}"/>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9A23E9BC-9540-0EE4-15D4-4AED02A7AC50}"/>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29744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FA7E26A-E180-22CC-8112-B098553871CD}"/>
              </a:ext>
            </a:extLst>
          </p:cNvPr>
          <p:cNvSpPr>
            <a:spLocks noGrp="1"/>
          </p:cNvSpPr>
          <p:nvPr>
            <p:ph type="title"/>
          </p:nvPr>
        </p:nvSpPr>
        <p:spPr/>
        <p:txBody>
          <a:bodyPr/>
          <a:lstStyle/>
          <a:p>
            <a:r>
              <a:rPr lang="ca-ES"/>
              <a:t>Feu clic aquí per editar l'estil</a:t>
            </a:r>
          </a:p>
        </p:txBody>
      </p:sp>
      <p:sp>
        <p:nvSpPr>
          <p:cNvPr id="3" name="Contenidor de text vertical 2">
            <a:extLst>
              <a:ext uri="{FF2B5EF4-FFF2-40B4-BE49-F238E27FC236}">
                <a16:creationId xmlns:a16="http://schemas.microsoft.com/office/drawing/2014/main" id="{1FEC636E-0A8D-D501-5DE6-13855A10BFAD}"/>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00969A95-50F3-542B-5C9D-03D702533B8B}"/>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07A384CC-CF57-C51B-7C8C-BB84A29A4E3A}"/>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ABB8C07D-B2FC-2280-C08E-14FE37EB5B78}"/>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369735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456CE0C4-FAD3-10F6-8F58-50B6783B2D0C}"/>
              </a:ext>
            </a:extLst>
          </p:cNvPr>
          <p:cNvSpPr>
            <a:spLocks noGrp="1"/>
          </p:cNvSpPr>
          <p:nvPr>
            <p:ph type="title" orient="vert"/>
          </p:nvPr>
        </p:nvSpPr>
        <p:spPr>
          <a:xfrm>
            <a:off x="8724900" y="365125"/>
            <a:ext cx="2628900" cy="5811838"/>
          </a:xfrm>
        </p:spPr>
        <p:txBody>
          <a:bodyPr vert="eaVert"/>
          <a:lstStyle/>
          <a:p>
            <a:r>
              <a:rPr lang="ca-ES"/>
              <a:t>Feu clic aquí per editar l'estil</a:t>
            </a:r>
          </a:p>
        </p:txBody>
      </p:sp>
      <p:sp>
        <p:nvSpPr>
          <p:cNvPr id="3" name="Contenidor de text vertical 2">
            <a:extLst>
              <a:ext uri="{FF2B5EF4-FFF2-40B4-BE49-F238E27FC236}">
                <a16:creationId xmlns:a16="http://schemas.microsoft.com/office/drawing/2014/main" id="{79F4F802-C3A3-9BA8-5C41-3012A0E1EC3E}"/>
              </a:ext>
            </a:extLst>
          </p:cNvPr>
          <p:cNvSpPr>
            <a:spLocks noGrp="1"/>
          </p:cNvSpPr>
          <p:nvPr>
            <p:ph type="body" orient="vert" idx="1"/>
          </p:nvPr>
        </p:nvSpPr>
        <p:spPr>
          <a:xfrm>
            <a:off x="838200" y="365125"/>
            <a:ext cx="7734300"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83D7FAAE-E579-8979-BF16-72CF24C0573E}"/>
              </a:ext>
            </a:extLst>
          </p:cNvPr>
          <p:cNvSpPr>
            <a:spLocks noGrp="1"/>
          </p:cNvSpPr>
          <p:nvPr>
            <p:ph type="dt" sz="half" idx="10"/>
          </p:nvPr>
        </p:nvSpPr>
        <p:spPr/>
        <p:txBody>
          <a:body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F5CB72A9-71FC-5408-5DA4-13D9034D71BB}"/>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58B35684-76E5-DDCE-AC2B-1EF0D793C7CE}"/>
              </a:ext>
            </a:extLst>
          </p:cNvPr>
          <p:cNvSpPr>
            <a:spLocks noGrp="1"/>
          </p:cNvSpPr>
          <p:nvPr>
            <p:ph type="sldNum" sz="quarter" idx="12"/>
          </p:nvPr>
        </p:nvSpPr>
        <p:spPr/>
        <p:txBody>
          <a:bodyPr/>
          <a:lstStyle/>
          <a:p>
            <a:fld id="{5A6F2B2A-F973-4D6E-A5A1-2124751B0C8B}" type="slidenum">
              <a:rPr lang="ca-ES" smtClean="0"/>
              <a:t>‹Nº›</a:t>
            </a:fld>
            <a:endParaRPr lang="ca-ES"/>
          </a:p>
        </p:txBody>
      </p:sp>
    </p:spTree>
    <p:extLst>
      <p:ext uri="{BB962C8B-B14F-4D97-AF65-F5344CB8AC3E}">
        <p14:creationId xmlns:p14="http://schemas.microsoft.com/office/powerpoint/2010/main" val="2022806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FA40E8C6-B781-BAC8-7B39-9EE25B8ED9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a-ES"/>
              <a:t>Feu clic aquí per editar l'estil</a:t>
            </a:r>
          </a:p>
        </p:txBody>
      </p:sp>
      <p:sp>
        <p:nvSpPr>
          <p:cNvPr id="3" name="Contenidor de text 2">
            <a:extLst>
              <a:ext uri="{FF2B5EF4-FFF2-40B4-BE49-F238E27FC236}">
                <a16:creationId xmlns:a16="http://schemas.microsoft.com/office/drawing/2014/main" id="{8F45CB7E-D175-9992-36DE-48C1D5BE3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19D6C467-6FEE-9DFE-FE59-1E761D72A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BC102-9276-45BB-B360-46D8E32A348F}" type="datetimeFigureOut">
              <a:rPr lang="ca-ES" smtClean="0"/>
              <a:t>10/11/2025</a:t>
            </a:fld>
            <a:endParaRPr lang="ca-ES"/>
          </a:p>
        </p:txBody>
      </p:sp>
      <p:sp>
        <p:nvSpPr>
          <p:cNvPr id="5" name="Contenidor de peu de pàgina 4">
            <a:extLst>
              <a:ext uri="{FF2B5EF4-FFF2-40B4-BE49-F238E27FC236}">
                <a16:creationId xmlns:a16="http://schemas.microsoft.com/office/drawing/2014/main" id="{A73C2953-F674-0D10-BE7A-9FD813433C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a-ES"/>
          </a:p>
        </p:txBody>
      </p:sp>
      <p:sp>
        <p:nvSpPr>
          <p:cNvPr id="6" name="Contenidor de número de diapositiva 5">
            <a:extLst>
              <a:ext uri="{FF2B5EF4-FFF2-40B4-BE49-F238E27FC236}">
                <a16:creationId xmlns:a16="http://schemas.microsoft.com/office/drawing/2014/main" id="{DCC1D091-1DFF-FC03-BA13-ACE048E6A1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6F2B2A-F973-4D6E-A5A1-2124751B0C8B}" type="slidenum">
              <a:rPr lang="ca-ES" smtClean="0"/>
              <a:t>‹Nº›</a:t>
            </a:fld>
            <a:endParaRPr lang="ca-ES"/>
          </a:p>
        </p:txBody>
      </p:sp>
    </p:spTree>
    <p:extLst>
      <p:ext uri="{BB962C8B-B14F-4D97-AF65-F5344CB8AC3E}">
        <p14:creationId xmlns:p14="http://schemas.microsoft.com/office/powerpoint/2010/main" val="2194671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avide.rota@estudiantat.upc.edu" TargetMode="External"/><Relationship Id="rId2" Type="http://schemas.openxmlformats.org/officeDocument/2006/relationships/hyperlink" Target="mailto:bernat.garcia.garcia@estudiantat.upc.edu" TargetMode="External"/><Relationship Id="rId1" Type="http://schemas.openxmlformats.org/officeDocument/2006/relationships/slideLayout" Target="../slideLayouts/slideLayout1.xml"/><Relationship Id="rId4" Type="http://schemas.openxmlformats.org/officeDocument/2006/relationships/hyperlink" Target="https://github.com/benet1one/Mineria"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veloper.spotify.com/documentation/web-api" TargetMode="External"/><Relationship Id="rId2" Type="http://schemas.openxmlformats.org/officeDocument/2006/relationships/hyperlink" Target="https://www.kaggle.com/competitions/prediccion-de-la-popularidad-de-canciones/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83E88293-82B5-0F75-ADAD-D3AD34FCBE0E}"/>
              </a:ext>
            </a:extLst>
          </p:cNvPr>
          <p:cNvSpPr>
            <a:spLocks noGrp="1"/>
          </p:cNvSpPr>
          <p:nvPr>
            <p:ph type="ctrTitle"/>
          </p:nvPr>
        </p:nvSpPr>
        <p:spPr>
          <a:xfrm>
            <a:off x="1524000" y="381837"/>
            <a:ext cx="9144000" cy="1078262"/>
          </a:xfrm>
        </p:spPr>
        <p:txBody>
          <a:bodyPr/>
          <a:lstStyle/>
          <a:p>
            <a:r>
              <a:rPr lang="ca-ES" dirty="0"/>
              <a:t>PORTADA</a:t>
            </a:r>
          </a:p>
        </p:txBody>
      </p:sp>
      <p:sp>
        <p:nvSpPr>
          <p:cNvPr id="3" name="Subtítol 2">
            <a:extLst>
              <a:ext uri="{FF2B5EF4-FFF2-40B4-BE49-F238E27FC236}">
                <a16:creationId xmlns:a16="http://schemas.microsoft.com/office/drawing/2014/main" id="{33BDF99F-C81A-EBF3-B1B3-39467C604284}"/>
              </a:ext>
            </a:extLst>
          </p:cNvPr>
          <p:cNvSpPr>
            <a:spLocks noGrp="1"/>
          </p:cNvSpPr>
          <p:nvPr>
            <p:ph type="subTitle" idx="1"/>
          </p:nvPr>
        </p:nvSpPr>
        <p:spPr>
          <a:xfrm>
            <a:off x="1524000" y="1758462"/>
            <a:ext cx="9144000" cy="4371033"/>
          </a:xfrm>
        </p:spPr>
        <p:txBody>
          <a:bodyPr>
            <a:normAutofit/>
          </a:bodyPr>
          <a:lstStyle/>
          <a:p>
            <a:r>
              <a:rPr lang="ca-ES" sz="2000" dirty="0"/>
              <a:t>Group 03, ID Kaggle: Grupo 03</a:t>
            </a:r>
          </a:p>
          <a:p>
            <a:pPr algn="l"/>
            <a:endParaRPr lang="ca-ES" sz="2000" dirty="0"/>
          </a:p>
          <a:p>
            <a:pPr algn="l"/>
            <a:r>
              <a:rPr lang="it-IT" sz="2000" dirty="0"/>
              <a:t>Garcia Garcia, Bernat – </a:t>
            </a:r>
            <a:r>
              <a:rPr lang="it-IT" sz="2000" dirty="0">
                <a:hlinkClick r:id="rId2"/>
              </a:rPr>
              <a:t>bernat.garcia.garcia@estudiantat.upc.edu</a:t>
            </a:r>
            <a:r>
              <a:rPr lang="it-IT" sz="2000" dirty="0"/>
              <a:t> (UB, UPC)</a:t>
            </a:r>
          </a:p>
          <a:p>
            <a:pPr algn="l"/>
            <a:r>
              <a:rPr lang="it-IT" sz="2000" dirty="0"/>
              <a:t>Maria </a:t>
            </a:r>
            <a:r>
              <a:rPr lang="it-IT" sz="2000" dirty="0" err="1"/>
              <a:t>Montés</a:t>
            </a:r>
            <a:r>
              <a:rPr lang="it-IT" sz="2000" dirty="0"/>
              <a:t>, Iker - </a:t>
            </a:r>
          </a:p>
          <a:p>
            <a:pPr algn="l"/>
            <a:r>
              <a:rPr lang="it-IT" sz="2000" dirty="0"/>
              <a:t>Rota, Davide  - </a:t>
            </a:r>
            <a:r>
              <a:rPr lang="it-IT" sz="2000" dirty="0">
                <a:hlinkClick r:id="rId3"/>
              </a:rPr>
              <a:t>davide.rota@estudiantat.upc.edu</a:t>
            </a:r>
            <a:r>
              <a:rPr lang="it-IT" sz="2000" dirty="0"/>
              <a:t> (</a:t>
            </a:r>
            <a:r>
              <a:rPr lang="it-IT" sz="2000" dirty="0" err="1"/>
              <a:t>currently</a:t>
            </a:r>
            <a:r>
              <a:rPr lang="it-IT" sz="2000" dirty="0"/>
              <a:t> </a:t>
            </a:r>
            <a:r>
              <a:rPr lang="it-IT" sz="2000" dirty="0" err="1"/>
              <a:t>at</a:t>
            </a:r>
            <a:r>
              <a:rPr lang="it-IT" sz="2000" dirty="0"/>
              <a:t> MESIO, UPC)</a:t>
            </a:r>
          </a:p>
          <a:p>
            <a:pPr algn="l"/>
            <a:r>
              <a:rPr lang="it-IT" sz="2000" dirty="0" err="1"/>
              <a:t>Tobella</a:t>
            </a:r>
            <a:r>
              <a:rPr lang="it-IT" sz="2000" dirty="0"/>
              <a:t> </a:t>
            </a:r>
            <a:r>
              <a:rPr lang="it-IT" sz="2000" dirty="0" err="1"/>
              <a:t>Jacomet</a:t>
            </a:r>
            <a:r>
              <a:rPr lang="it-IT" sz="2000" dirty="0"/>
              <a:t>, Pol - </a:t>
            </a:r>
            <a:endParaRPr lang="ca-ES" sz="2000" dirty="0"/>
          </a:p>
          <a:p>
            <a:pPr algn="l"/>
            <a:endParaRPr lang="ca-ES" sz="2000" dirty="0"/>
          </a:p>
          <a:p>
            <a:pPr algn="l"/>
            <a:r>
              <a:rPr lang="ca-ES" sz="2000" dirty="0"/>
              <a:t>GitHub link: </a:t>
            </a:r>
            <a:r>
              <a:rPr lang="ca-ES" sz="2000" dirty="0">
                <a:hlinkClick r:id="rId4"/>
              </a:rPr>
              <a:t>https://github.com/benet1one/Mineria</a:t>
            </a:r>
            <a:endParaRPr lang="ca-ES" sz="2000" dirty="0"/>
          </a:p>
          <a:p>
            <a:endParaRPr lang="ca-ES" dirty="0"/>
          </a:p>
        </p:txBody>
      </p:sp>
    </p:spTree>
    <p:extLst>
      <p:ext uri="{BB962C8B-B14F-4D97-AF65-F5344CB8AC3E}">
        <p14:creationId xmlns:p14="http://schemas.microsoft.com/office/powerpoint/2010/main" val="1851389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679FA6BF-6CE1-C1A1-3759-11DA52CE0879}"/>
              </a:ext>
            </a:extLst>
          </p:cNvPr>
          <p:cNvSpPr>
            <a:spLocks noGrp="1"/>
          </p:cNvSpPr>
          <p:nvPr>
            <p:ph type="title"/>
          </p:nvPr>
        </p:nvSpPr>
        <p:spPr/>
        <p:txBody>
          <a:bodyPr/>
          <a:lstStyle/>
          <a:p>
            <a:r>
              <a:rPr lang="ca-ES" dirty="0"/>
              <a:t>ENTENDIMIENTO DEL NEGOCIO</a:t>
            </a:r>
          </a:p>
        </p:txBody>
      </p:sp>
      <p:sp>
        <p:nvSpPr>
          <p:cNvPr id="3" name="Contenidor de contingut 2">
            <a:extLst>
              <a:ext uri="{FF2B5EF4-FFF2-40B4-BE49-F238E27FC236}">
                <a16:creationId xmlns:a16="http://schemas.microsoft.com/office/drawing/2014/main" id="{C65C45E8-7975-F60E-7BCF-F68582BD99D3}"/>
              </a:ext>
            </a:extLst>
          </p:cNvPr>
          <p:cNvSpPr>
            <a:spLocks noGrp="1"/>
          </p:cNvSpPr>
          <p:nvPr>
            <p:ph idx="1"/>
          </p:nvPr>
        </p:nvSpPr>
        <p:spPr>
          <a:xfrm>
            <a:off x="838200" y="1405001"/>
            <a:ext cx="10515600" cy="5087874"/>
          </a:xfrm>
        </p:spPr>
        <p:txBody>
          <a:bodyPr>
            <a:normAutofit fontScale="92500" lnSpcReduction="10000"/>
          </a:bodyPr>
          <a:lstStyle/>
          <a:p>
            <a:pPr marL="0" indent="0">
              <a:buNone/>
            </a:pPr>
            <a:r>
              <a:rPr lang="es-ES" sz="2200" b="1" dirty="0"/>
              <a:t>Problema</a:t>
            </a:r>
            <a:endParaRPr lang="es-ES" sz="2200" dirty="0"/>
          </a:p>
          <a:p>
            <a:r>
              <a:rPr lang="es-ES" sz="2200" dirty="0"/>
              <a:t>Predecir la popularidad de canciones en Spotify usando atributos musicales y metadatos.</a:t>
            </a:r>
          </a:p>
          <a:p>
            <a:r>
              <a:rPr lang="es-ES" sz="2200" dirty="0"/>
              <a:t>Minimizar el error (MAPE) para obtener predicciones estables y útiles.</a:t>
            </a:r>
          </a:p>
          <a:p>
            <a:pPr marL="0" indent="0">
              <a:buNone/>
            </a:pPr>
            <a:r>
              <a:rPr lang="es-ES" sz="2200" b="1" dirty="0"/>
              <a:t>Objetivo Principal</a:t>
            </a:r>
            <a:endParaRPr lang="es-ES" sz="2200" dirty="0"/>
          </a:p>
          <a:p>
            <a:r>
              <a:rPr lang="es-ES" sz="2200" dirty="0"/>
              <a:t>Desarrollar un modelo de regresión que prediga </a:t>
            </a:r>
            <a:r>
              <a:rPr lang="es-ES" sz="2200" i="1" dirty="0" err="1"/>
              <a:t>song_popularity</a:t>
            </a:r>
            <a:r>
              <a:rPr lang="es-ES" sz="2200" dirty="0"/>
              <a:t>.</a:t>
            </a:r>
          </a:p>
          <a:p>
            <a:pPr marL="0" indent="0">
              <a:buNone/>
            </a:pPr>
            <a:r>
              <a:rPr lang="es-ES" sz="2200" b="1" dirty="0"/>
              <a:t>Objetivos Secundarios</a:t>
            </a:r>
            <a:endParaRPr lang="es-ES" sz="2200" dirty="0"/>
          </a:p>
          <a:p>
            <a:r>
              <a:rPr lang="es-ES" sz="2200" dirty="0"/>
              <a:t>Identificar qué variables musicales influyen más en la popularidad.</a:t>
            </a:r>
          </a:p>
          <a:p>
            <a:r>
              <a:rPr lang="es-ES" sz="2200" dirty="0"/>
              <a:t>Detectar problemas de calidad del </a:t>
            </a:r>
            <a:r>
              <a:rPr lang="es-ES" sz="2200" dirty="0" err="1"/>
              <a:t>dataset</a:t>
            </a:r>
            <a:r>
              <a:rPr lang="es-ES" sz="2200" dirty="0"/>
              <a:t>.</a:t>
            </a:r>
          </a:p>
          <a:p>
            <a:r>
              <a:rPr lang="es-ES" sz="2200" dirty="0"/>
              <a:t>Proponer mejoras futuras (nuevas variables, ajustes de metodología).</a:t>
            </a:r>
          </a:p>
          <a:p>
            <a:pPr marL="0" indent="0">
              <a:buNone/>
            </a:pPr>
            <a:r>
              <a:rPr lang="es-ES" sz="2200" b="1" dirty="0"/>
              <a:t>Fuentes Externas</a:t>
            </a:r>
            <a:endParaRPr lang="es-ES" sz="2200" dirty="0"/>
          </a:p>
          <a:p>
            <a:r>
              <a:rPr lang="es-ES" sz="2200" dirty="0" err="1"/>
              <a:t>Kaggle</a:t>
            </a:r>
            <a:r>
              <a:rPr lang="es-ES" sz="2200" dirty="0"/>
              <a:t> </a:t>
            </a:r>
            <a:r>
              <a:rPr lang="es-ES" sz="2200" dirty="0" err="1"/>
              <a:t>competition</a:t>
            </a:r>
            <a:r>
              <a:rPr lang="es-ES" sz="2200" dirty="0"/>
              <a:t>: </a:t>
            </a:r>
            <a:r>
              <a:rPr lang="es-ES" sz="2200" dirty="0">
                <a:hlinkClick r:id="rId2"/>
              </a:rPr>
              <a:t>https://www.kaggle.com/competitions/prediccion-de-la-popularidad-de-canciones/overview</a:t>
            </a:r>
            <a:endParaRPr lang="es-ES" sz="2200" dirty="0"/>
          </a:p>
          <a:p>
            <a:r>
              <a:rPr lang="pt-BR" sz="2400" dirty="0"/>
              <a:t>Spotify Web API (atributos </a:t>
            </a:r>
            <a:r>
              <a:rPr lang="pt-BR" sz="2400" dirty="0" err="1"/>
              <a:t>musicales</a:t>
            </a:r>
            <a:r>
              <a:rPr lang="pt-BR" sz="2400" dirty="0"/>
              <a:t>): </a:t>
            </a:r>
            <a:r>
              <a:rPr lang="pt-BR" sz="2400" dirty="0">
                <a:hlinkClick r:id="rId3"/>
              </a:rPr>
              <a:t>https://developer.spotify.com/documentation/web-api</a:t>
            </a:r>
            <a:endParaRPr lang="es-ES" sz="2200" dirty="0"/>
          </a:p>
          <a:p>
            <a:pPr marL="0" indent="0">
              <a:buNone/>
            </a:pPr>
            <a:endParaRPr lang="es-ES" sz="2200" dirty="0"/>
          </a:p>
          <a:p>
            <a:pPr marL="0" indent="0">
              <a:buNone/>
            </a:pPr>
            <a:endParaRPr lang="ca-ES" dirty="0"/>
          </a:p>
        </p:txBody>
      </p:sp>
    </p:spTree>
    <p:extLst>
      <p:ext uri="{BB962C8B-B14F-4D97-AF65-F5344CB8AC3E}">
        <p14:creationId xmlns:p14="http://schemas.microsoft.com/office/powerpoint/2010/main" val="34271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4E42910-7453-E355-36A6-C6865982AD8F}"/>
              </a:ext>
            </a:extLst>
          </p:cNvPr>
          <p:cNvSpPr>
            <a:spLocks noGrp="1"/>
          </p:cNvSpPr>
          <p:nvPr>
            <p:ph type="title"/>
          </p:nvPr>
        </p:nvSpPr>
        <p:spPr>
          <a:xfrm>
            <a:off x="838200" y="156289"/>
            <a:ext cx="5450457" cy="1325563"/>
          </a:xfrm>
        </p:spPr>
        <p:txBody>
          <a:bodyPr/>
          <a:lstStyle/>
          <a:p>
            <a:r>
              <a:rPr lang="ca-ES" dirty="0"/>
              <a:t>ENTENDIMIENTO DE LOS DATOS</a:t>
            </a:r>
          </a:p>
        </p:txBody>
      </p:sp>
      <p:sp>
        <p:nvSpPr>
          <p:cNvPr id="3" name="Contenidor de contingut 2">
            <a:extLst>
              <a:ext uri="{FF2B5EF4-FFF2-40B4-BE49-F238E27FC236}">
                <a16:creationId xmlns:a16="http://schemas.microsoft.com/office/drawing/2014/main" id="{97CDA22B-0093-E606-839E-B4E0181FDBB6}"/>
              </a:ext>
            </a:extLst>
          </p:cNvPr>
          <p:cNvSpPr>
            <a:spLocks noGrp="1"/>
          </p:cNvSpPr>
          <p:nvPr>
            <p:ph idx="1"/>
          </p:nvPr>
        </p:nvSpPr>
        <p:spPr>
          <a:xfrm>
            <a:off x="838200" y="1575459"/>
            <a:ext cx="5257800" cy="4351338"/>
          </a:xfrm>
        </p:spPr>
        <p:txBody>
          <a:bodyPr>
            <a:normAutofit fontScale="70000" lnSpcReduction="20000"/>
          </a:bodyPr>
          <a:lstStyle/>
          <a:p>
            <a:pPr marL="0" indent="0">
              <a:buNone/>
            </a:pPr>
            <a:r>
              <a:rPr lang="es-ES" sz="2000" b="1" dirty="0" err="1"/>
              <a:t>Dataset</a:t>
            </a:r>
            <a:endParaRPr lang="es-ES" sz="2000" dirty="0"/>
          </a:p>
          <a:p>
            <a:r>
              <a:rPr lang="es-ES" sz="2000" b="1" u="sng" dirty="0"/>
              <a:t>13.186</a:t>
            </a:r>
            <a:r>
              <a:rPr lang="es-ES" sz="2000" b="1" dirty="0"/>
              <a:t> registros</a:t>
            </a:r>
            <a:endParaRPr lang="es-ES" sz="2000" dirty="0"/>
          </a:p>
          <a:p>
            <a:r>
              <a:rPr lang="es-ES" sz="2000" b="1" dirty="0"/>
              <a:t>15 variables</a:t>
            </a:r>
            <a:r>
              <a:rPr lang="es-ES" sz="2000" dirty="0"/>
              <a:t> (12 cuantitativas, 3 cualitativas)</a:t>
            </a:r>
          </a:p>
          <a:p>
            <a:r>
              <a:rPr lang="es-ES" sz="2000" dirty="0"/>
              <a:t>Fuente: </a:t>
            </a:r>
            <a:r>
              <a:rPr lang="es-ES" sz="2000" i="1" dirty="0"/>
              <a:t>train.csv</a:t>
            </a:r>
            <a:r>
              <a:rPr lang="es-ES" sz="2000" dirty="0"/>
              <a:t> (</a:t>
            </a:r>
            <a:r>
              <a:rPr lang="es-ES" sz="2000" dirty="0" err="1"/>
              <a:t>Kaggle</a:t>
            </a:r>
            <a:r>
              <a:rPr lang="es-ES" sz="2000" dirty="0"/>
              <a:t>)</a:t>
            </a:r>
          </a:p>
          <a:p>
            <a:r>
              <a:rPr lang="es-ES" sz="2000" dirty="0"/>
              <a:t>Alcance: información técnica y musical de </a:t>
            </a:r>
            <a:r>
              <a:rPr lang="es-ES" sz="2000" dirty="0" err="1"/>
              <a:t>tracks</a:t>
            </a:r>
            <a:endParaRPr lang="es-ES" sz="2000" dirty="0"/>
          </a:p>
          <a:p>
            <a:pPr marL="0" indent="0">
              <a:buNone/>
            </a:pPr>
            <a:r>
              <a:rPr lang="es-ES" sz="2000" b="1" dirty="0"/>
              <a:t>Calidad de Datos</a:t>
            </a:r>
            <a:endParaRPr lang="es-ES" sz="2000" dirty="0"/>
          </a:p>
          <a:p>
            <a:r>
              <a:rPr lang="es-ES" sz="2000" dirty="0"/>
              <a:t>Sin </a:t>
            </a:r>
            <a:r>
              <a:rPr lang="es-ES" sz="2000" b="1" dirty="0" err="1"/>
              <a:t>missing</a:t>
            </a:r>
            <a:r>
              <a:rPr lang="es-ES" sz="2000" b="1" dirty="0"/>
              <a:t> </a:t>
            </a:r>
            <a:r>
              <a:rPr lang="es-ES" sz="2000" b="1" dirty="0" err="1"/>
              <a:t>values</a:t>
            </a:r>
            <a:r>
              <a:rPr lang="es-ES" sz="2000" dirty="0"/>
              <a:t> relevantes.</a:t>
            </a:r>
          </a:p>
          <a:p>
            <a:r>
              <a:rPr lang="es-ES" sz="2000" dirty="0"/>
              <a:t>Distribuciones correctas para variables ratio (0–1).</a:t>
            </a:r>
          </a:p>
          <a:p>
            <a:r>
              <a:rPr lang="es-ES" sz="2000" dirty="0"/>
              <a:t>Posibles </a:t>
            </a:r>
            <a:r>
              <a:rPr lang="es-ES" sz="2000" b="1" dirty="0" err="1"/>
              <a:t>outliers</a:t>
            </a:r>
            <a:r>
              <a:rPr lang="es-ES" sz="2000" dirty="0"/>
              <a:t> en </a:t>
            </a:r>
            <a:r>
              <a:rPr lang="es-ES" sz="2000" dirty="0" err="1"/>
              <a:t>loudness</a:t>
            </a:r>
            <a:r>
              <a:rPr lang="es-ES" sz="2000" dirty="0"/>
              <a:t>, tempo y </a:t>
            </a:r>
            <a:r>
              <a:rPr lang="es-ES" sz="2000" dirty="0" err="1"/>
              <a:t>duration_ms</a:t>
            </a:r>
            <a:r>
              <a:rPr lang="es-ES" sz="2000" dirty="0"/>
              <a:t>.</a:t>
            </a:r>
          </a:p>
          <a:p>
            <a:r>
              <a:rPr lang="es-ES" sz="2000" dirty="0"/>
              <a:t>Variables categóricas con valores completos y consistentes.</a:t>
            </a:r>
            <a:br>
              <a:rPr lang="es-ES" sz="2000" dirty="0"/>
            </a:br>
            <a:endParaRPr lang="es-ES" sz="2000" dirty="0"/>
          </a:p>
          <a:p>
            <a:pPr marL="0" indent="0">
              <a:buNone/>
            </a:pPr>
            <a:r>
              <a:rPr lang="es-ES" sz="2000" b="1" dirty="0"/>
              <a:t>Fuentes externas (datos)</a:t>
            </a:r>
            <a:endParaRPr lang="es-ES" sz="2000" dirty="0"/>
          </a:p>
          <a:p>
            <a:r>
              <a:rPr lang="es-ES" sz="2000" dirty="0"/>
              <a:t>train.csv (</a:t>
            </a:r>
            <a:r>
              <a:rPr lang="es-ES" sz="2000" dirty="0" err="1"/>
              <a:t>Kaggle</a:t>
            </a:r>
            <a:r>
              <a:rPr lang="es-ES" sz="2000" dirty="0"/>
              <a:t>): </a:t>
            </a:r>
            <a:r>
              <a:rPr lang="es-ES" sz="2000" dirty="0">
                <a:hlinkClick r:id="rId2"/>
              </a:rPr>
              <a:t>https://www.kaggle.com/competitions/prediccion-de-la-popularidad-de-canciones/overview</a:t>
            </a:r>
            <a:endParaRPr lang="es-ES" sz="2000" dirty="0"/>
          </a:p>
          <a:p>
            <a:r>
              <a:rPr lang="es-ES" sz="2000" dirty="0"/>
              <a:t>Documentación de atributos Spotify API: </a:t>
            </a:r>
            <a:r>
              <a:rPr lang="es-ES" sz="2000" dirty="0">
                <a:hlinkClick r:id="rId3"/>
              </a:rPr>
              <a:t>https://developer.spotify.com/documentation/web-api</a:t>
            </a:r>
            <a:endParaRPr lang="es-ES" sz="2000" dirty="0"/>
          </a:p>
          <a:p>
            <a:endParaRPr lang="es-ES" sz="2000" dirty="0"/>
          </a:p>
          <a:p>
            <a:pPr marL="0" indent="0">
              <a:buNone/>
            </a:pPr>
            <a:endParaRPr lang="ca-ES" dirty="0"/>
          </a:p>
        </p:txBody>
      </p:sp>
      <p:graphicFrame>
        <p:nvGraphicFramePr>
          <p:cNvPr id="4" name="Taula 3">
            <a:extLst>
              <a:ext uri="{FF2B5EF4-FFF2-40B4-BE49-F238E27FC236}">
                <a16:creationId xmlns:a16="http://schemas.microsoft.com/office/drawing/2014/main" id="{EAA95477-6E64-8DE7-633E-DB7BB148C65F}"/>
              </a:ext>
            </a:extLst>
          </p:cNvPr>
          <p:cNvGraphicFramePr>
            <a:graphicFrameLocks noGrp="1"/>
          </p:cNvGraphicFramePr>
          <p:nvPr>
            <p:extLst>
              <p:ext uri="{D42A27DB-BD31-4B8C-83A1-F6EECF244321}">
                <p14:modId xmlns:p14="http://schemas.microsoft.com/office/powerpoint/2010/main" val="1612503030"/>
              </p:ext>
            </p:extLst>
          </p:nvPr>
        </p:nvGraphicFramePr>
        <p:xfrm>
          <a:off x="6359700" y="156289"/>
          <a:ext cx="5691404" cy="6545422"/>
        </p:xfrm>
        <a:graphic>
          <a:graphicData uri="http://schemas.openxmlformats.org/drawingml/2006/table">
            <a:tbl>
              <a:tblPr firstRow="1" bandRow="1">
                <a:tableStyleId>{5C22544A-7EE6-4342-B048-85BDC9FD1C3A}</a:tableStyleId>
              </a:tblPr>
              <a:tblGrid>
                <a:gridCol w="1422851">
                  <a:extLst>
                    <a:ext uri="{9D8B030D-6E8A-4147-A177-3AD203B41FA5}">
                      <a16:colId xmlns:a16="http://schemas.microsoft.com/office/drawing/2014/main" val="523535755"/>
                    </a:ext>
                  </a:extLst>
                </a:gridCol>
                <a:gridCol w="1422851">
                  <a:extLst>
                    <a:ext uri="{9D8B030D-6E8A-4147-A177-3AD203B41FA5}">
                      <a16:colId xmlns:a16="http://schemas.microsoft.com/office/drawing/2014/main" val="2874694208"/>
                    </a:ext>
                  </a:extLst>
                </a:gridCol>
                <a:gridCol w="1422851">
                  <a:extLst>
                    <a:ext uri="{9D8B030D-6E8A-4147-A177-3AD203B41FA5}">
                      <a16:colId xmlns:a16="http://schemas.microsoft.com/office/drawing/2014/main" val="3077830386"/>
                    </a:ext>
                  </a:extLst>
                </a:gridCol>
                <a:gridCol w="1422851">
                  <a:extLst>
                    <a:ext uri="{9D8B030D-6E8A-4147-A177-3AD203B41FA5}">
                      <a16:colId xmlns:a16="http://schemas.microsoft.com/office/drawing/2014/main" val="868079831"/>
                    </a:ext>
                  </a:extLst>
                </a:gridCol>
              </a:tblGrid>
              <a:tr h="278803">
                <a:tc>
                  <a:txBody>
                    <a:bodyPr/>
                    <a:lstStyle/>
                    <a:p>
                      <a:pPr>
                        <a:buNone/>
                      </a:pPr>
                      <a:r>
                        <a:rPr lang="es-ES" sz="1200" dirty="0"/>
                        <a:t>Variable</a:t>
                      </a:r>
                    </a:p>
                  </a:txBody>
                  <a:tcPr anchor="ctr"/>
                </a:tc>
                <a:tc>
                  <a:txBody>
                    <a:bodyPr/>
                    <a:lstStyle/>
                    <a:p>
                      <a:pPr>
                        <a:buNone/>
                      </a:pPr>
                      <a:r>
                        <a:rPr lang="es-ES" sz="1200" dirty="0"/>
                        <a:t>Tipo</a:t>
                      </a:r>
                    </a:p>
                  </a:txBody>
                  <a:tcPr anchor="ctr"/>
                </a:tc>
                <a:tc>
                  <a:txBody>
                    <a:bodyPr/>
                    <a:lstStyle/>
                    <a:p>
                      <a:pPr>
                        <a:buNone/>
                      </a:pPr>
                      <a:r>
                        <a:rPr lang="es-ES" sz="1200" dirty="0"/>
                        <a:t>Descripción</a:t>
                      </a:r>
                    </a:p>
                  </a:txBody>
                  <a:tcPr anchor="ctr"/>
                </a:tc>
                <a:tc>
                  <a:txBody>
                    <a:bodyPr/>
                    <a:lstStyle/>
                    <a:p>
                      <a:pPr>
                        <a:buNone/>
                      </a:pPr>
                      <a:r>
                        <a:rPr lang="es-ES" sz="1200"/>
                        <a:t>Rango</a:t>
                      </a:r>
                    </a:p>
                  </a:txBody>
                  <a:tcPr anchor="ctr"/>
                </a:tc>
                <a:extLst>
                  <a:ext uri="{0D108BD9-81ED-4DB2-BD59-A6C34878D82A}">
                    <a16:rowId xmlns:a16="http://schemas.microsoft.com/office/drawing/2014/main" val="1976654581"/>
                  </a:ext>
                </a:extLst>
              </a:tr>
              <a:tr h="284725">
                <a:tc>
                  <a:txBody>
                    <a:bodyPr/>
                    <a:lstStyle/>
                    <a:p>
                      <a:pPr>
                        <a:buNone/>
                      </a:pPr>
                      <a:r>
                        <a:rPr lang="es-ES" sz="1200"/>
                        <a:t>song_popularity</a:t>
                      </a:r>
                    </a:p>
                  </a:txBody>
                  <a:tcPr anchor="ctr"/>
                </a:tc>
                <a:tc>
                  <a:txBody>
                    <a:bodyPr/>
                    <a:lstStyle/>
                    <a:p>
                      <a:pPr>
                        <a:buNone/>
                      </a:pPr>
                      <a:r>
                        <a:rPr lang="es-ES" sz="1200" dirty="0" err="1"/>
                        <a:t>Num</a:t>
                      </a:r>
                      <a:endParaRPr lang="es-ES" sz="1200" dirty="0"/>
                    </a:p>
                  </a:txBody>
                  <a:tcPr anchor="ctr"/>
                </a:tc>
                <a:tc>
                  <a:txBody>
                    <a:bodyPr/>
                    <a:lstStyle/>
                    <a:p>
                      <a:pPr>
                        <a:buNone/>
                      </a:pPr>
                      <a:r>
                        <a:rPr lang="es-ES" sz="1200"/>
                        <a:t>Popularidad objetivo</a:t>
                      </a:r>
                    </a:p>
                  </a:txBody>
                  <a:tcPr anchor="ctr"/>
                </a:tc>
                <a:tc>
                  <a:txBody>
                    <a:bodyPr/>
                    <a:lstStyle/>
                    <a:p>
                      <a:pPr>
                        <a:buNone/>
                      </a:pPr>
                      <a:r>
                        <a:rPr lang="es-ES" sz="1200"/>
                        <a:t>0–100</a:t>
                      </a:r>
                    </a:p>
                  </a:txBody>
                  <a:tcPr anchor="ctr"/>
                </a:tc>
                <a:extLst>
                  <a:ext uri="{0D108BD9-81ED-4DB2-BD59-A6C34878D82A}">
                    <a16:rowId xmlns:a16="http://schemas.microsoft.com/office/drawing/2014/main" val="3408382237"/>
                  </a:ext>
                </a:extLst>
              </a:tr>
              <a:tr h="398290">
                <a:tc>
                  <a:txBody>
                    <a:bodyPr/>
                    <a:lstStyle/>
                    <a:p>
                      <a:pPr>
                        <a:buNone/>
                      </a:pPr>
                      <a:r>
                        <a:rPr lang="es-ES" sz="1200"/>
                        <a:t>danceability</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Ritmo y facilidad para bailar</a:t>
                      </a:r>
                    </a:p>
                  </a:txBody>
                  <a:tcPr anchor="ctr"/>
                </a:tc>
                <a:tc>
                  <a:txBody>
                    <a:bodyPr/>
                    <a:lstStyle/>
                    <a:p>
                      <a:pPr>
                        <a:buNone/>
                      </a:pPr>
                      <a:r>
                        <a:rPr lang="es-ES" sz="1200"/>
                        <a:t>0–1</a:t>
                      </a:r>
                    </a:p>
                  </a:txBody>
                  <a:tcPr anchor="ctr"/>
                </a:tc>
                <a:extLst>
                  <a:ext uri="{0D108BD9-81ED-4DB2-BD59-A6C34878D82A}">
                    <a16:rowId xmlns:a16="http://schemas.microsoft.com/office/drawing/2014/main" val="1901487083"/>
                  </a:ext>
                </a:extLst>
              </a:tr>
              <a:tr h="284725">
                <a:tc>
                  <a:txBody>
                    <a:bodyPr/>
                    <a:lstStyle/>
                    <a:p>
                      <a:pPr>
                        <a:buNone/>
                      </a:pPr>
                      <a:r>
                        <a:rPr lang="es-ES" sz="1200"/>
                        <a:t>energy</a:t>
                      </a:r>
                    </a:p>
                  </a:txBody>
                  <a:tcPr anchor="ctr"/>
                </a:tc>
                <a:tc>
                  <a:txBody>
                    <a:bodyPr/>
                    <a:lstStyle/>
                    <a:p>
                      <a:pPr>
                        <a:buNone/>
                      </a:pPr>
                      <a:r>
                        <a:rPr lang="es-ES" sz="1200"/>
                        <a:t>Num (0–1)</a:t>
                      </a:r>
                    </a:p>
                  </a:txBody>
                  <a:tcPr anchor="ctr"/>
                </a:tc>
                <a:tc>
                  <a:txBody>
                    <a:bodyPr/>
                    <a:lstStyle/>
                    <a:p>
                      <a:pPr>
                        <a:buNone/>
                      </a:pPr>
                      <a:r>
                        <a:rPr lang="es-ES" sz="1200"/>
                        <a:t>Intensidad y actividad</a:t>
                      </a:r>
                    </a:p>
                  </a:txBody>
                  <a:tcPr anchor="ctr"/>
                </a:tc>
                <a:tc>
                  <a:txBody>
                    <a:bodyPr/>
                    <a:lstStyle/>
                    <a:p>
                      <a:pPr>
                        <a:buNone/>
                      </a:pPr>
                      <a:r>
                        <a:rPr lang="es-ES" sz="1200"/>
                        <a:t>0–1</a:t>
                      </a:r>
                    </a:p>
                  </a:txBody>
                  <a:tcPr anchor="ctr"/>
                </a:tc>
                <a:extLst>
                  <a:ext uri="{0D108BD9-81ED-4DB2-BD59-A6C34878D82A}">
                    <a16:rowId xmlns:a16="http://schemas.microsoft.com/office/drawing/2014/main" val="1230201001"/>
                  </a:ext>
                </a:extLst>
              </a:tr>
              <a:tr h="284725">
                <a:tc>
                  <a:txBody>
                    <a:bodyPr/>
                    <a:lstStyle/>
                    <a:p>
                      <a:pPr>
                        <a:buNone/>
                      </a:pPr>
                      <a:r>
                        <a:rPr lang="es-ES" sz="1200"/>
                        <a:t>valence</a:t>
                      </a:r>
                    </a:p>
                  </a:txBody>
                  <a:tcPr anchor="ctr"/>
                </a:tc>
                <a:tc>
                  <a:txBody>
                    <a:bodyPr/>
                    <a:lstStyle/>
                    <a:p>
                      <a:pPr>
                        <a:buNone/>
                      </a:pPr>
                      <a:r>
                        <a:rPr lang="es-ES" sz="1200" dirty="0" err="1"/>
                        <a:t>Num</a:t>
                      </a:r>
                      <a:r>
                        <a:rPr lang="es-ES" sz="1200" dirty="0"/>
                        <a:t> (0–1)</a:t>
                      </a:r>
                    </a:p>
                  </a:txBody>
                  <a:tcPr anchor="ctr"/>
                </a:tc>
                <a:tc>
                  <a:txBody>
                    <a:bodyPr/>
                    <a:lstStyle/>
                    <a:p>
                      <a:pPr>
                        <a:buNone/>
                      </a:pPr>
                      <a:r>
                        <a:rPr lang="es-ES" sz="1200"/>
                        <a:t>Positividad emocional</a:t>
                      </a:r>
                    </a:p>
                  </a:txBody>
                  <a:tcPr anchor="ctr"/>
                </a:tc>
                <a:tc>
                  <a:txBody>
                    <a:bodyPr/>
                    <a:lstStyle/>
                    <a:p>
                      <a:pPr>
                        <a:buNone/>
                      </a:pPr>
                      <a:r>
                        <a:rPr lang="es-ES" sz="1200"/>
                        <a:t>0–1</a:t>
                      </a:r>
                    </a:p>
                  </a:txBody>
                  <a:tcPr anchor="ctr"/>
                </a:tc>
                <a:extLst>
                  <a:ext uri="{0D108BD9-81ED-4DB2-BD59-A6C34878D82A}">
                    <a16:rowId xmlns:a16="http://schemas.microsoft.com/office/drawing/2014/main" val="2062973398"/>
                  </a:ext>
                </a:extLst>
              </a:tr>
              <a:tr h="517778">
                <a:tc>
                  <a:txBody>
                    <a:bodyPr/>
                    <a:lstStyle/>
                    <a:p>
                      <a:pPr>
                        <a:buNone/>
                      </a:pPr>
                      <a:r>
                        <a:rPr lang="es-ES" sz="1200"/>
                        <a:t>liveness</a:t>
                      </a:r>
                    </a:p>
                  </a:txBody>
                  <a:tcPr anchor="ctr"/>
                </a:tc>
                <a:tc>
                  <a:txBody>
                    <a:bodyPr/>
                    <a:lstStyle/>
                    <a:p>
                      <a:pPr>
                        <a:buNone/>
                      </a:pPr>
                      <a:r>
                        <a:rPr lang="es-ES" sz="1200"/>
                        <a:t>Num (0–1)</a:t>
                      </a:r>
                    </a:p>
                  </a:txBody>
                  <a:tcPr anchor="ctr"/>
                </a:tc>
                <a:tc>
                  <a:txBody>
                    <a:bodyPr/>
                    <a:lstStyle/>
                    <a:p>
                      <a:pPr>
                        <a:buNone/>
                      </a:pPr>
                      <a:r>
                        <a:rPr lang="es-ES" sz="1200" dirty="0"/>
                        <a:t>Probabilidad de performance en vivo</a:t>
                      </a:r>
                    </a:p>
                  </a:txBody>
                  <a:tcPr anchor="ctr"/>
                </a:tc>
                <a:tc>
                  <a:txBody>
                    <a:bodyPr/>
                    <a:lstStyle/>
                    <a:p>
                      <a:pPr>
                        <a:buNone/>
                      </a:pPr>
                      <a:r>
                        <a:rPr lang="es-ES" sz="1200"/>
                        <a:t>0–1</a:t>
                      </a:r>
                    </a:p>
                  </a:txBody>
                  <a:tcPr anchor="ctr"/>
                </a:tc>
                <a:extLst>
                  <a:ext uri="{0D108BD9-81ED-4DB2-BD59-A6C34878D82A}">
                    <a16:rowId xmlns:a16="http://schemas.microsoft.com/office/drawing/2014/main" val="1597549386"/>
                  </a:ext>
                </a:extLst>
              </a:tr>
              <a:tr h="398290">
                <a:tc>
                  <a:txBody>
                    <a:bodyPr/>
                    <a:lstStyle/>
                    <a:p>
                      <a:pPr>
                        <a:buNone/>
                      </a:pPr>
                      <a:r>
                        <a:rPr lang="es-ES" sz="1200" dirty="0" err="1"/>
                        <a:t>acousticness</a:t>
                      </a:r>
                      <a:endParaRPr lang="es-ES" sz="1200" dirty="0"/>
                    </a:p>
                  </a:txBody>
                  <a:tcPr anchor="ctr"/>
                </a:tc>
                <a:tc>
                  <a:txBody>
                    <a:bodyPr/>
                    <a:lstStyle/>
                    <a:p>
                      <a:pPr>
                        <a:buNone/>
                      </a:pPr>
                      <a:r>
                        <a:rPr lang="es-ES" sz="1200" dirty="0" err="1"/>
                        <a:t>Num</a:t>
                      </a:r>
                      <a:r>
                        <a:rPr lang="es-ES" sz="1200" dirty="0"/>
                        <a:t> (0–1)</a:t>
                      </a:r>
                    </a:p>
                  </a:txBody>
                  <a:tcPr anchor="ctr"/>
                </a:tc>
                <a:tc>
                  <a:txBody>
                    <a:bodyPr/>
                    <a:lstStyle/>
                    <a:p>
                      <a:pPr>
                        <a:buNone/>
                      </a:pPr>
                      <a:r>
                        <a:rPr lang="es-ES" sz="1200" dirty="0"/>
                        <a:t>Probabilidad de ser acústica</a:t>
                      </a:r>
                    </a:p>
                  </a:txBody>
                  <a:tcPr anchor="ctr"/>
                </a:tc>
                <a:tc>
                  <a:txBody>
                    <a:bodyPr/>
                    <a:lstStyle/>
                    <a:p>
                      <a:pPr>
                        <a:buNone/>
                      </a:pPr>
                      <a:r>
                        <a:rPr lang="es-ES" sz="1200"/>
                        <a:t>0–1</a:t>
                      </a:r>
                    </a:p>
                  </a:txBody>
                  <a:tcPr anchor="ctr"/>
                </a:tc>
                <a:extLst>
                  <a:ext uri="{0D108BD9-81ED-4DB2-BD59-A6C34878D82A}">
                    <a16:rowId xmlns:a16="http://schemas.microsoft.com/office/drawing/2014/main" val="159493698"/>
                  </a:ext>
                </a:extLst>
              </a:tr>
              <a:tr h="398290">
                <a:tc>
                  <a:txBody>
                    <a:bodyPr/>
                    <a:lstStyle/>
                    <a:p>
                      <a:pPr>
                        <a:buNone/>
                      </a:pPr>
                      <a:r>
                        <a:rPr lang="es-ES" sz="1200"/>
                        <a:t>instrumentalness</a:t>
                      </a:r>
                    </a:p>
                  </a:txBody>
                  <a:tcPr anchor="ctr"/>
                </a:tc>
                <a:tc>
                  <a:txBody>
                    <a:bodyPr/>
                    <a:lstStyle/>
                    <a:p>
                      <a:pPr>
                        <a:buNone/>
                      </a:pPr>
                      <a:r>
                        <a:rPr lang="es-ES" sz="1200"/>
                        <a:t>Num (0–1)</a:t>
                      </a:r>
                    </a:p>
                  </a:txBody>
                  <a:tcPr anchor="ctr"/>
                </a:tc>
                <a:tc>
                  <a:txBody>
                    <a:bodyPr/>
                    <a:lstStyle/>
                    <a:p>
                      <a:pPr>
                        <a:buNone/>
                      </a:pPr>
                      <a:r>
                        <a:rPr lang="es-ES" sz="1200"/>
                        <a:t>Probabilidad de no tener voz</a:t>
                      </a:r>
                    </a:p>
                  </a:txBody>
                  <a:tcPr anchor="ctr"/>
                </a:tc>
                <a:tc>
                  <a:txBody>
                    <a:bodyPr/>
                    <a:lstStyle/>
                    <a:p>
                      <a:pPr>
                        <a:buNone/>
                      </a:pPr>
                      <a:r>
                        <a:rPr lang="es-ES" sz="1200" dirty="0"/>
                        <a:t>0–1</a:t>
                      </a:r>
                    </a:p>
                  </a:txBody>
                  <a:tcPr anchor="ctr"/>
                </a:tc>
                <a:extLst>
                  <a:ext uri="{0D108BD9-81ED-4DB2-BD59-A6C34878D82A}">
                    <a16:rowId xmlns:a16="http://schemas.microsoft.com/office/drawing/2014/main" val="2559265884"/>
                  </a:ext>
                </a:extLst>
              </a:tr>
              <a:tr h="398290">
                <a:tc>
                  <a:txBody>
                    <a:bodyPr/>
                    <a:lstStyle/>
                    <a:p>
                      <a:pPr>
                        <a:buNone/>
                      </a:pPr>
                      <a:r>
                        <a:rPr lang="es-ES" sz="1200"/>
                        <a:t>speechiness</a:t>
                      </a:r>
                    </a:p>
                  </a:txBody>
                  <a:tcPr anchor="ctr"/>
                </a:tc>
                <a:tc>
                  <a:txBody>
                    <a:bodyPr/>
                    <a:lstStyle/>
                    <a:p>
                      <a:pPr>
                        <a:buNone/>
                      </a:pPr>
                      <a:r>
                        <a:rPr lang="es-ES" sz="1200"/>
                        <a:t>Num (0–1)</a:t>
                      </a:r>
                    </a:p>
                  </a:txBody>
                  <a:tcPr anchor="ctr"/>
                </a:tc>
                <a:tc>
                  <a:txBody>
                    <a:bodyPr/>
                    <a:lstStyle/>
                    <a:p>
                      <a:pPr>
                        <a:buNone/>
                      </a:pPr>
                      <a:r>
                        <a:rPr lang="es-ES" sz="1200"/>
                        <a:t>Cantidad de palabras habladas</a:t>
                      </a:r>
                    </a:p>
                  </a:txBody>
                  <a:tcPr anchor="ctr"/>
                </a:tc>
                <a:tc>
                  <a:txBody>
                    <a:bodyPr/>
                    <a:lstStyle/>
                    <a:p>
                      <a:pPr>
                        <a:buNone/>
                      </a:pPr>
                      <a:r>
                        <a:rPr lang="es-ES" sz="1200"/>
                        <a:t>0–1</a:t>
                      </a:r>
                    </a:p>
                  </a:txBody>
                  <a:tcPr anchor="ctr"/>
                </a:tc>
                <a:extLst>
                  <a:ext uri="{0D108BD9-81ED-4DB2-BD59-A6C34878D82A}">
                    <a16:rowId xmlns:a16="http://schemas.microsoft.com/office/drawing/2014/main" val="2366241798"/>
                  </a:ext>
                </a:extLst>
              </a:tr>
              <a:tr h="170835">
                <a:tc>
                  <a:txBody>
                    <a:bodyPr/>
                    <a:lstStyle/>
                    <a:p>
                      <a:pPr>
                        <a:buNone/>
                      </a:pPr>
                      <a:r>
                        <a:rPr lang="es-ES" sz="1200"/>
                        <a:t>loudness</a:t>
                      </a:r>
                    </a:p>
                  </a:txBody>
                  <a:tcPr anchor="ctr"/>
                </a:tc>
                <a:tc>
                  <a:txBody>
                    <a:bodyPr/>
                    <a:lstStyle/>
                    <a:p>
                      <a:pPr>
                        <a:buNone/>
                      </a:pPr>
                      <a:r>
                        <a:rPr lang="es-ES" sz="1200"/>
                        <a:t>Num</a:t>
                      </a:r>
                    </a:p>
                  </a:txBody>
                  <a:tcPr anchor="ctr"/>
                </a:tc>
                <a:tc>
                  <a:txBody>
                    <a:bodyPr/>
                    <a:lstStyle/>
                    <a:p>
                      <a:pPr>
                        <a:buNone/>
                      </a:pPr>
                      <a:r>
                        <a:rPr lang="es-ES" sz="1200"/>
                        <a:t>Nivel dB</a:t>
                      </a:r>
                    </a:p>
                  </a:txBody>
                  <a:tcPr anchor="ctr"/>
                </a:tc>
                <a:tc>
                  <a:txBody>
                    <a:bodyPr/>
                    <a:lstStyle/>
                    <a:p>
                      <a:pPr>
                        <a:buNone/>
                      </a:pPr>
                      <a:r>
                        <a:rPr lang="es-ES" sz="1200" dirty="0"/>
                        <a:t>-60–0</a:t>
                      </a:r>
                    </a:p>
                  </a:txBody>
                  <a:tcPr anchor="ctr"/>
                </a:tc>
                <a:extLst>
                  <a:ext uri="{0D108BD9-81ED-4DB2-BD59-A6C34878D82A}">
                    <a16:rowId xmlns:a16="http://schemas.microsoft.com/office/drawing/2014/main" val="383559792"/>
                  </a:ext>
                </a:extLst>
              </a:tr>
              <a:tr h="189635">
                <a:tc>
                  <a:txBody>
                    <a:bodyPr/>
                    <a:lstStyle/>
                    <a:p>
                      <a:pPr>
                        <a:buNone/>
                      </a:pPr>
                      <a:r>
                        <a:rPr lang="es-ES" sz="1200" dirty="0"/>
                        <a:t>tempo</a:t>
                      </a:r>
                    </a:p>
                  </a:txBody>
                  <a:tcPr anchor="ctr"/>
                </a:tc>
                <a:tc>
                  <a:txBody>
                    <a:bodyPr/>
                    <a:lstStyle/>
                    <a:p>
                      <a:pPr>
                        <a:buNone/>
                      </a:pPr>
                      <a:r>
                        <a:rPr lang="es-ES" sz="1200"/>
                        <a:t>Num</a:t>
                      </a:r>
                    </a:p>
                  </a:txBody>
                  <a:tcPr anchor="ctr"/>
                </a:tc>
                <a:tc>
                  <a:txBody>
                    <a:bodyPr/>
                    <a:lstStyle/>
                    <a:p>
                      <a:pPr>
                        <a:buNone/>
                      </a:pPr>
                      <a:r>
                        <a:rPr lang="es-ES" sz="1200"/>
                        <a:t>BPM</a:t>
                      </a:r>
                    </a:p>
                  </a:txBody>
                  <a:tcPr anchor="ctr"/>
                </a:tc>
                <a:tc>
                  <a:txBody>
                    <a:bodyPr/>
                    <a:lstStyle/>
                    <a:p>
                      <a:pPr>
                        <a:buNone/>
                      </a:pPr>
                      <a:r>
                        <a:rPr lang="es-ES" sz="1200"/>
                        <a:t>variable</a:t>
                      </a:r>
                    </a:p>
                  </a:txBody>
                  <a:tcPr anchor="ctr"/>
                </a:tc>
                <a:extLst>
                  <a:ext uri="{0D108BD9-81ED-4DB2-BD59-A6C34878D82A}">
                    <a16:rowId xmlns:a16="http://schemas.microsoft.com/office/drawing/2014/main" val="788832266"/>
                  </a:ext>
                </a:extLst>
              </a:tr>
              <a:tr h="331861">
                <a:tc>
                  <a:txBody>
                    <a:bodyPr/>
                    <a:lstStyle/>
                    <a:p>
                      <a:pPr>
                        <a:buNone/>
                      </a:pPr>
                      <a:r>
                        <a:rPr lang="es-ES" sz="1200" dirty="0" err="1"/>
                        <a:t>duration_ms</a:t>
                      </a:r>
                      <a:endParaRPr lang="es-ES" sz="1200" dirty="0"/>
                    </a:p>
                  </a:txBody>
                  <a:tcPr anchor="ctr"/>
                </a:tc>
                <a:tc>
                  <a:txBody>
                    <a:bodyPr/>
                    <a:lstStyle/>
                    <a:p>
                      <a:pPr>
                        <a:buNone/>
                      </a:pPr>
                      <a:r>
                        <a:rPr lang="es-ES" sz="1200"/>
                        <a:t>Num</a:t>
                      </a:r>
                    </a:p>
                  </a:txBody>
                  <a:tcPr anchor="ctr"/>
                </a:tc>
                <a:tc>
                  <a:txBody>
                    <a:bodyPr/>
                    <a:lstStyle/>
                    <a:p>
                      <a:pPr>
                        <a:buNone/>
                      </a:pPr>
                      <a:r>
                        <a:rPr lang="es-ES" sz="1200"/>
                        <a:t>Duración en ms</a:t>
                      </a:r>
                    </a:p>
                  </a:txBody>
                  <a:tcPr anchor="ctr"/>
                </a:tc>
                <a:tc>
                  <a:txBody>
                    <a:bodyPr/>
                    <a:lstStyle/>
                    <a:p>
                      <a:pPr>
                        <a:buNone/>
                      </a:pPr>
                      <a:r>
                        <a:rPr lang="es-ES" sz="1200"/>
                        <a:t>variable</a:t>
                      </a:r>
                    </a:p>
                  </a:txBody>
                  <a:tcPr anchor="ctr"/>
                </a:tc>
                <a:extLst>
                  <a:ext uri="{0D108BD9-81ED-4DB2-BD59-A6C34878D82A}">
                    <a16:rowId xmlns:a16="http://schemas.microsoft.com/office/drawing/2014/main" val="1723134939"/>
                  </a:ext>
                </a:extLst>
              </a:tr>
              <a:tr h="474088">
                <a:tc>
                  <a:txBody>
                    <a:bodyPr/>
                    <a:lstStyle/>
                    <a:p>
                      <a:pPr>
                        <a:buNone/>
                      </a:pPr>
                      <a:r>
                        <a:rPr lang="es-ES" sz="1200"/>
                        <a:t>mode</a:t>
                      </a:r>
                    </a:p>
                  </a:txBody>
                  <a:tcPr anchor="ctr"/>
                </a:tc>
                <a:tc>
                  <a:txBody>
                    <a:bodyPr/>
                    <a:lstStyle/>
                    <a:p>
                      <a:pPr>
                        <a:buNone/>
                      </a:pPr>
                      <a:r>
                        <a:rPr lang="es-ES" sz="1200" dirty="0"/>
                        <a:t>Cat</a:t>
                      </a:r>
                    </a:p>
                  </a:txBody>
                  <a:tcPr anchor="ctr"/>
                </a:tc>
                <a:tc>
                  <a:txBody>
                    <a:bodyPr/>
                    <a:lstStyle/>
                    <a:p>
                      <a:pPr>
                        <a:buNone/>
                      </a:pPr>
                      <a:r>
                        <a:rPr lang="es-ES" sz="1200" dirty="0"/>
                        <a:t>Modo mayor/</a:t>
                      </a:r>
                      <a:r>
                        <a:rPr lang="es-ES" sz="1200" dirty="0" err="1"/>
                        <a:t>minor</a:t>
                      </a:r>
                      <a:endParaRPr lang="es-ES" sz="1200" dirty="0"/>
                    </a:p>
                  </a:txBody>
                  <a:tcPr anchor="ctr"/>
                </a:tc>
                <a:tc>
                  <a:txBody>
                    <a:bodyPr/>
                    <a:lstStyle/>
                    <a:p>
                      <a:pPr>
                        <a:buNone/>
                      </a:pPr>
                      <a:r>
                        <a:rPr lang="es-ES" sz="1200"/>
                        <a:t>0–1</a:t>
                      </a:r>
                    </a:p>
                  </a:txBody>
                  <a:tcPr anchor="ctr"/>
                </a:tc>
                <a:extLst>
                  <a:ext uri="{0D108BD9-81ED-4DB2-BD59-A6C34878D82A}">
                    <a16:rowId xmlns:a16="http://schemas.microsoft.com/office/drawing/2014/main" val="3665168997"/>
                  </a:ext>
                </a:extLst>
              </a:tr>
              <a:tr h="189635">
                <a:tc>
                  <a:txBody>
                    <a:bodyPr/>
                    <a:lstStyle/>
                    <a:p>
                      <a:pPr>
                        <a:buNone/>
                      </a:pPr>
                      <a:r>
                        <a:rPr lang="es-ES" sz="1200"/>
                        <a:t>key</a:t>
                      </a:r>
                    </a:p>
                  </a:txBody>
                  <a:tcPr anchor="ctr"/>
                </a:tc>
                <a:tc>
                  <a:txBody>
                    <a:bodyPr/>
                    <a:lstStyle/>
                    <a:p>
                      <a:pPr>
                        <a:buNone/>
                      </a:pPr>
                      <a:r>
                        <a:rPr lang="es-ES" sz="1200"/>
                        <a:t>Cat</a:t>
                      </a:r>
                    </a:p>
                  </a:txBody>
                  <a:tcPr anchor="ctr"/>
                </a:tc>
                <a:tc>
                  <a:txBody>
                    <a:bodyPr/>
                    <a:lstStyle/>
                    <a:p>
                      <a:pPr>
                        <a:buNone/>
                      </a:pPr>
                      <a:r>
                        <a:rPr lang="es-ES" sz="1200" dirty="0"/>
                        <a:t>Tonalidad</a:t>
                      </a:r>
                    </a:p>
                  </a:txBody>
                  <a:tcPr anchor="ctr"/>
                </a:tc>
                <a:tc>
                  <a:txBody>
                    <a:bodyPr/>
                    <a:lstStyle/>
                    <a:p>
                      <a:pPr>
                        <a:buNone/>
                      </a:pPr>
                      <a:r>
                        <a:rPr lang="es-ES" sz="1200" dirty="0"/>
                        <a:t>-1–11</a:t>
                      </a:r>
                    </a:p>
                  </a:txBody>
                  <a:tcPr anchor="ctr"/>
                </a:tc>
                <a:extLst>
                  <a:ext uri="{0D108BD9-81ED-4DB2-BD59-A6C34878D82A}">
                    <a16:rowId xmlns:a16="http://schemas.microsoft.com/office/drawing/2014/main" val="4656964"/>
                  </a:ext>
                </a:extLst>
              </a:tr>
              <a:tr h="398615">
                <a:tc>
                  <a:txBody>
                    <a:bodyPr/>
                    <a:lstStyle/>
                    <a:p>
                      <a:pPr>
                        <a:buNone/>
                      </a:pPr>
                      <a:r>
                        <a:rPr lang="es-ES" sz="1200" dirty="0" err="1"/>
                        <a:t>time_signature</a:t>
                      </a:r>
                      <a:endParaRPr lang="es-ES" sz="1200" dirty="0"/>
                    </a:p>
                  </a:txBody>
                  <a:tcPr anchor="ctr"/>
                </a:tc>
                <a:tc>
                  <a:txBody>
                    <a:bodyPr/>
                    <a:lstStyle/>
                    <a:p>
                      <a:pPr>
                        <a:buNone/>
                      </a:pPr>
                      <a:r>
                        <a:rPr lang="es-ES" sz="1200"/>
                        <a:t>Cat</a:t>
                      </a:r>
                    </a:p>
                  </a:txBody>
                  <a:tcPr anchor="ctr"/>
                </a:tc>
                <a:tc>
                  <a:txBody>
                    <a:bodyPr/>
                    <a:lstStyle/>
                    <a:p>
                      <a:pPr>
                        <a:buNone/>
                      </a:pPr>
                      <a:r>
                        <a:rPr lang="es-ES" sz="1200"/>
                        <a:t>Compás</a:t>
                      </a:r>
                    </a:p>
                  </a:txBody>
                  <a:tcPr anchor="ctr"/>
                </a:tc>
                <a:tc>
                  <a:txBody>
                    <a:bodyPr/>
                    <a:lstStyle/>
                    <a:p>
                      <a:pPr>
                        <a:buNone/>
                      </a:pPr>
                      <a:r>
                        <a:rPr lang="es-ES" sz="1200"/>
                        <a:t>3–7</a:t>
                      </a:r>
                    </a:p>
                  </a:txBody>
                  <a:tcPr anchor="ctr"/>
                </a:tc>
                <a:extLst>
                  <a:ext uri="{0D108BD9-81ED-4DB2-BD59-A6C34878D82A}">
                    <a16:rowId xmlns:a16="http://schemas.microsoft.com/office/drawing/2014/main" val="3360571512"/>
                  </a:ext>
                </a:extLst>
              </a:tr>
              <a:tr h="398615">
                <a:tc>
                  <a:txBody>
                    <a:bodyPr/>
                    <a:lstStyle/>
                    <a:p>
                      <a:pPr>
                        <a:buNone/>
                      </a:pPr>
                      <a:r>
                        <a:rPr lang="es-ES" sz="1200" dirty="0"/>
                        <a:t>id</a:t>
                      </a:r>
                    </a:p>
                  </a:txBody>
                  <a:tcPr anchor="ctr"/>
                </a:tc>
                <a:tc>
                  <a:txBody>
                    <a:bodyPr/>
                    <a:lstStyle/>
                    <a:p>
                      <a:pPr>
                        <a:buNone/>
                      </a:pPr>
                      <a:r>
                        <a:rPr lang="es-ES" sz="1200" dirty="0" err="1"/>
                        <a:t>Num</a:t>
                      </a:r>
                      <a:endParaRPr lang="es-ES" sz="1200" dirty="0"/>
                    </a:p>
                  </a:txBody>
                  <a:tcPr anchor="ctr"/>
                </a:tc>
                <a:tc>
                  <a:txBody>
                    <a:bodyPr/>
                    <a:lstStyle/>
                    <a:p>
                      <a:pPr>
                        <a:buNone/>
                      </a:pPr>
                      <a:r>
                        <a:rPr lang="es-ES" sz="1200" dirty="0"/>
                        <a:t>Identificador</a:t>
                      </a:r>
                    </a:p>
                  </a:txBody>
                  <a:tcPr anchor="ctr"/>
                </a:tc>
                <a:tc>
                  <a:txBody>
                    <a:bodyPr/>
                    <a:lstStyle/>
                    <a:p>
                      <a:pPr>
                        <a:buNone/>
                      </a:pPr>
                      <a:r>
                        <a:rPr lang="es-ES" sz="1200" dirty="0"/>
                        <a:t>1–13186</a:t>
                      </a:r>
                    </a:p>
                  </a:txBody>
                  <a:tcPr anchor="ctr"/>
                </a:tc>
                <a:extLst>
                  <a:ext uri="{0D108BD9-81ED-4DB2-BD59-A6C34878D82A}">
                    <a16:rowId xmlns:a16="http://schemas.microsoft.com/office/drawing/2014/main" val="2355477795"/>
                  </a:ext>
                </a:extLst>
              </a:tr>
            </a:tbl>
          </a:graphicData>
        </a:graphic>
      </p:graphicFrame>
    </p:spTree>
    <p:extLst>
      <p:ext uri="{BB962C8B-B14F-4D97-AF65-F5344CB8AC3E}">
        <p14:creationId xmlns:p14="http://schemas.microsoft.com/office/powerpoint/2010/main" val="3327324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7E3799F-CE92-A2BC-0C09-96BF51B6414C}"/>
              </a:ext>
            </a:extLst>
          </p:cNvPr>
          <p:cNvSpPr>
            <a:spLocks noGrp="1"/>
          </p:cNvSpPr>
          <p:nvPr>
            <p:ph type="title"/>
          </p:nvPr>
        </p:nvSpPr>
        <p:spPr/>
        <p:txBody>
          <a:bodyPr/>
          <a:lstStyle/>
          <a:p>
            <a:r>
              <a:rPr lang="ca-ES" dirty="0"/>
              <a:t>FRAMEWORK METODOLÓGICO</a:t>
            </a:r>
          </a:p>
        </p:txBody>
      </p:sp>
      <p:sp>
        <p:nvSpPr>
          <p:cNvPr id="3" name="Contenidor de contingut 2">
            <a:extLst>
              <a:ext uri="{FF2B5EF4-FFF2-40B4-BE49-F238E27FC236}">
                <a16:creationId xmlns:a16="http://schemas.microsoft.com/office/drawing/2014/main" id="{690535EB-0C1F-9D94-D931-11BCB927A30D}"/>
              </a:ext>
            </a:extLst>
          </p:cNvPr>
          <p:cNvSpPr>
            <a:spLocks noGrp="1"/>
          </p:cNvSpPr>
          <p:nvPr>
            <p:ph idx="1"/>
          </p:nvPr>
        </p:nvSpPr>
        <p:spPr>
          <a:xfrm>
            <a:off x="838200" y="1440611"/>
            <a:ext cx="10515600" cy="5052264"/>
          </a:xfrm>
        </p:spPr>
        <p:txBody>
          <a:bodyPr>
            <a:normAutofit fontScale="47500" lnSpcReduction="20000"/>
          </a:bodyPr>
          <a:lstStyle/>
          <a:p>
            <a:pPr marL="0" indent="0">
              <a:buNone/>
            </a:pPr>
            <a:r>
              <a:rPr lang="es-ES" b="1" dirty="0"/>
              <a:t>1. Business </a:t>
            </a:r>
            <a:r>
              <a:rPr lang="es-ES" b="1" dirty="0" err="1"/>
              <a:t>Understanding</a:t>
            </a:r>
            <a:endParaRPr lang="es-ES" b="1" dirty="0"/>
          </a:p>
          <a:p>
            <a:r>
              <a:rPr lang="es-ES" dirty="0"/>
              <a:t>Definición problemas, </a:t>
            </a:r>
            <a:r>
              <a:rPr lang="es-ES" dirty="0" err="1"/>
              <a:t>KPIs</a:t>
            </a:r>
            <a:r>
              <a:rPr lang="es-ES" dirty="0"/>
              <a:t>, alcance de predicción, alineación de objetivos de negocio con objetivos técnicos.</a:t>
            </a:r>
          </a:p>
          <a:p>
            <a:r>
              <a:rPr lang="es-ES" dirty="0"/>
              <a:t>Responsable: </a:t>
            </a:r>
            <a:r>
              <a:rPr lang="es-ES" b="1" dirty="0"/>
              <a:t>Iker</a:t>
            </a:r>
            <a:endParaRPr lang="es-ES" dirty="0"/>
          </a:p>
          <a:p>
            <a:pPr marL="0" indent="0">
              <a:buNone/>
            </a:pPr>
            <a:r>
              <a:rPr lang="es-ES" b="1" dirty="0"/>
              <a:t>2. Data </a:t>
            </a:r>
            <a:r>
              <a:rPr lang="es-ES" b="1" dirty="0" err="1"/>
              <a:t>Understanding</a:t>
            </a:r>
            <a:endParaRPr lang="es-ES" b="1" dirty="0"/>
          </a:p>
          <a:p>
            <a:r>
              <a:rPr lang="es-ES" dirty="0"/>
              <a:t>Exploración inicial, revisión metadatos, análisis de datos, identificación preliminar de anomalías y variables clave.</a:t>
            </a:r>
          </a:p>
          <a:p>
            <a:r>
              <a:rPr lang="es-ES" dirty="0"/>
              <a:t>Responsable: </a:t>
            </a:r>
            <a:r>
              <a:rPr lang="es-ES" b="1" dirty="0"/>
              <a:t>[Nombre del responsable]</a:t>
            </a:r>
            <a:endParaRPr lang="es-ES" dirty="0"/>
          </a:p>
          <a:p>
            <a:pPr marL="0" indent="0">
              <a:buNone/>
            </a:pPr>
            <a:r>
              <a:rPr lang="es-ES" b="1" dirty="0"/>
              <a:t>3. Data </a:t>
            </a:r>
            <a:r>
              <a:rPr lang="es-ES" b="1" dirty="0" err="1"/>
              <a:t>Preparation</a:t>
            </a:r>
            <a:endParaRPr lang="es-ES" b="1" dirty="0"/>
          </a:p>
          <a:p>
            <a:r>
              <a:rPr lang="es-ES" dirty="0"/>
              <a:t>Limpieza, transformación, tratamiento de </a:t>
            </a:r>
            <a:r>
              <a:rPr lang="es-ES" dirty="0" err="1"/>
              <a:t>missing</a:t>
            </a:r>
            <a:r>
              <a:rPr lang="es-ES" dirty="0"/>
              <a:t>/</a:t>
            </a:r>
            <a:r>
              <a:rPr lang="es-ES" dirty="0" err="1"/>
              <a:t>outliers</a:t>
            </a:r>
            <a:r>
              <a:rPr lang="es-ES" dirty="0"/>
              <a:t>, normalizaciones, </a:t>
            </a:r>
            <a:r>
              <a:rPr lang="es-ES" dirty="0" err="1"/>
              <a:t>encoding</a:t>
            </a:r>
            <a:r>
              <a:rPr lang="es-ES" dirty="0"/>
              <a:t>, </a:t>
            </a:r>
            <a:r>
              <a:rPr lang="es-ES" dirty="0" err="1"/>
              <a:t>feature</a:t>
            </a:r>
            <a:r>
              <a:rPr lang="es-ES" dirty="0"/>
              <a:t> </a:t>
            </a:r>
            <a:r>
              <a:rPr lang="es-ES" dirty="0" err="1"/>
              <a:t>engineering</a:t>
            </a:r>
            <a:r>
              <a:rPr lang="es-ES" dirty="0"/>
              <a:t>.</a:t>
            </a:r>
          </a:p>
          <a:p>
            <a:r>
              <a:rPr lang="es-ES" dirty="0"/>
              <a:t>Responsable: </a:t>
            </a:r>
            <a:r>
              <a:rPr lang="es-ES" b="1" dirty="0"/>
              <a:t>[Nombre del responsable]</a:t>
            </a:r>
            <a:endParaRPr lang="es-ES" dirty="0"/>
          </a:p>
          <a:p>
            <a:pPr marL="0" indent="0">
              <a:buNone/>
            </a:pPr>
            <a:r>
              <a:rPr lang="es-ES" b="1" dirty="0"/>
              <a:t>4. </a:t>
            </a:r>
            <a:r>
              <a:rPr lang="es-ES" b="1" dirty="0" err="1"/>
              <a:t>Modeling</a:t>
            </a:r>
            <a:endParaRPr lang="es-ES" b="1" dirty="0"/>
          </a:p>
          <a:p>
            <a:r>
              <a:rPr lang="es-ES" dirty="0"/>
              <a:t>Construcción de reglas tipo </a:t>
            </a:r>
            <a:r>
              <a:rPr lang="es-ES" dirty="0" err="1"/>
              <a:t>Market</a:t>
            </a:r>
            <a:r>
              <a:rPr lang="es-ES" dirty="0"/>
              <a:t> </a:t>
            </a:r>
            <a:r>
              <a:rPr lang="es-ES" dirty="0" err="1"/>
              <a:t>Basket</a:t>
            </a:r>
            <a:r>
              <a:rPr lang="es-ES" dirty="0"/>
              <a:t>, interpretación de patrones de </a:t>
            </a:r>
            <a:r>
              <a:rPr lang="es-ES" dirty="0" err="1"/>
              <a:t>co-ocurrencia</a:t>
            </a:r>
            <a:r>
              <a:rPr lang="es-ES" dirty="0"/>
              <a:t>.</a:t>
            </a:r>
          </a:p>
          <a:p>
            <a:r>
              <a:rPr lang="es-ES" dirty="0"/>
              <a:t>Selección de algoritmos, definición de particiones training/test, selección de predictores finales.</a:t>
            </a:r>
          </a:p>
          <a:p>
            <a:r>
              <a:rPr lang="es-ES" dirty="0"/>
              <a:t>Responsable: </a:t>
            </a:r>
            <a:r>
              <a:rPr lang="es-ES" b="1" dirty="0"/>
              <a:t>[Nombre del responsable]</a:t>
            </a:r>
            <a:endParaRPr lang="es-ES" dirty="0"/>
          </a:p>
          <a:p>
            <a:pPr marL="0" indent="0">
              <a:buNone/>
            </a:pPr>
            <a:r>
              <a:rPr lang="es-ES" b="1" dirty="0"/>
              <a:t>5. </a:t>
            </a:r>
            <a:r>
              <a:rPr lang="es-ES" b="1" dirty="0" err="1"/>
              <a:t>Evaluation</a:t>
            </a:r>
            <a:endParaRPr lang="es-ES" b="1" dirty="0"/>
          </a:p>
          <a:p>
            <a:r>
              <a:rPr lang="es-ES" dirty="0"/>
              <a:t>Comparación entre modelos, selección del mejor candidato, interpretabilidad de variables.</a:t>
            </a:r>
          </a:p>
          <a:p>
            <a:r>
              <a:rPr lang="es-ES" dirty="0"/>
              <a:t>Responsables: </a:t>
            </a:r>
            <a:r>
              <a:rPr lang="es-ES" b="1" dirty="0"/>
              <a:t>[Nombre(s)]</a:t>
            </a:r>
            <a:endParaRPr lang="es-ES" dirty="0"/>
          </a:p>
          <a:p>
            <a:pPr marL="0" indent="0">
              <a:buNone/>
            </a:pPr>
            <a:r>
              <a:rPr lang="es-ES" b="1" dirty="0"/>
              <a:t>6. </a:t>
            </a:r>
            <a:r>
              <a:rPr lang="es-ES" b="1" dirty="0" err="1"/>
              <a:t>Deployment</a:t>
            </a:r>
            <a:r>
              <a:rPr lang="es-ES" b="1" dirty="0"/>
              <a:t> (No incluido en alcance actual)</a:t>
            </a:r>
          </a:p>
          <a:p>
            <a:r>
              <a:rPr lang="es-ES" dirty="0"/>
              <a:t>Se deja conceptual por completitud del </a:t>
            </a:r>
            <a:r>
              <a:rPr lang="es-ES" dirty="0" err="1"/>
              <a:t>framework</a:t>
            </a:r>
            <a:r>
              <a:rPr lang="es-ES" dirty="0"/>
              <a:t>.</a:t>
            </a:r>
          </a:p>
          <a:p>
            <a:r>
              <a:rPr lang="es-ES" dirty="0"/>
              <a:t>Responsable: N/A</a:t>
            </a:r>
          </a:p>
        </p:txBody>
      </p:sp>
    </p:spTree>
    <p:extLst>
      <p:ext uri="{BB962C8B-B14F-4D97-AF65-F5344CB8AC3E}">
        <p14:creationId xmlns:p14="http://schemas.microsoft.com/office/powerpoint/2010/main" val="352698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9C0711A-8F6C-0F12-CA6D-38BDEE325616}"/>
              </a:ext>
            </a:extLst>
          </p:cNvPr>
          <p:cNvSpPr>
            <a:spLocks noGrp="1"/>
          </p:cNvSpPr>
          <p:nvPr>
            <p:ph type="title"/>
          </p:nvPr>
        </p:nvSpPr>
        <p:spPr/>
        <p:txBody>
          <a:bodyPr/>
          <a:lstStyle/>
          <a:p>
            <a:r>
              <a:rPr lang="ca-ES" dirty="0"/>
              <a:t>EDA 1</a:t>
            </a:r>
          </a:p>
        </p:txBody>
      </p:sp>
      <p:sp>
        <p:nvSpPr>
          <p:cNvPr id="3" name="Contenidor de contingut 2">
            <a:extLst>
              <a:ext uri="{FF2B5EF4-FFF2-40B4-BE49-F238E27FC236}">
                <a16:creationId xmlns:a16="http://schemas.microsoft.com/office/drawing/2014/main" id="{B6C09E49-2314-CAAE-DB9C-8B5A3BC098D3}"/>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6899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E9B8266C-E5D5-BEA2-10F3-12B0836E4057}"/>
              </a:ext>
            </a:extLst>
          </p:cNvPr>
          <p:cNvSpPr>
            <a:spLocks noGrp="1"/>
          </p:cNvSpPr>
          <p:nvPr>
            <p:ph type="title"/>
          </p:nvPr>
        </p:nvSpPr>
        <p:spPr/>
        <p:txBody>
          <a:bodyPr/>
          <a:lstStyle/>
          <a:p>
            <a:r>
              <a:rPr lang="ca-ES" dirty="0"/>
              <a:t>EDA 2</a:t>
            </a:r>
          </a:p>
        </p:txBody>
      </p:sp>
      <p:sp>
        <p:nvSpPr>
          <p:cNvPr id="3" name="Contenidor de contingut 2">
            <a:extLst>
              <a:ext uri="{FF2B5EF4-FFF2-40B4-BE49-F238E27FC236}">
                <a16:creationId xmlns:a16="http://schemas.microsoft.com/office/drawing/2014/main" id="{45B5C86D-5C1E-8905-982E-884180FDCA58}"/>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86812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60C7F03-56CA-CA3B-1FA5-95D63F512C18}"/>
              </a:ext>
            </a:extLst>
          </p:cNvPr>
          <p:cNvSpPr>
            <a:spLocks noGrp="1"/>
          </p:cNvSpPr>
          <p:nvPr>
            <p:ph type="title"/>
          </p:nvPr>
        </p:nvSpPr>
        <p:spPr/>
        <p:txBody>
          <a:bodyPr/>
          <a:lstStyle/>
          <a:p>
            <a:r>
              <a:rPr lang="ca-ES" dirty="0"/>
              <a:t>Imputación en dos pasos</a:t>
            </a:r>
          </a:p>
        </p:txBody>
      </p:sp>
      <p:sp>
        <p:nvSpPr>
          <p:cNvPr id="3" name="Contenidor de contingut 2">
            <a:extLst>
              <a:ext uri="{FF2B5EF4-FFF2-40B4-BE49-F238E27FC236}">
                <a16:creationId xmlns:a16="http://schemas.microsoft.com/office/drawing/2014/main" id="{B58AFD39-2AE6-3D17-B6E4-5E8CA1448851}"/>
              </a:ext>
            </a:extLst>
          </p:cNvPr>
          <p:cNvSpPr>
            <a:spLocks noGrp="1"/>
          </p:cNvSpPr>
          <p:nvPr>
            <p:ph idx="1"/>
          </p:nvPr>
        </p:nvSpPr>
        <p:spPr>
          <a:xfrm>
            <a:off x="838201" y="1690689"/>
            <a:ext cx="5146256" cy="4486274"/>
          </a:xfrm>
        </p:spPr>
        <p:txBody>
          <a:bodyPr>
            <a:normAutofit/>
          </a:bodyPr>
          <a:lstStyle/>
          <a:p>
            <a:pPr marL="0" indent="0">
              <a:buNone/>
            </a:pPr>
            <a:r>
              <a:rPr lang="ca-ES" sz="2000" dirty="0"/>
              <a:t>1. A partir del entendimiento del negocio i de </a:t>
            </a:r>
            <a:r>
              <a:rPr lang="ca-ES" sz="2000" b="1" dirty="0"/>
              <a:t>datos empíricos</a:t>
            </a:r>
            <a:r>
              <a:rPr lang="ca-ES" sz="2000" dirty="0"/>
              <a:t>, imputamos la modalidad.</a:t>
            </a:r>
          </a:p>
          <a:p>
            <a:pPr marL="0" indent="0" algn="ctr">
              <a:buNone/>
            </a:pPr>
            <a:r>
              <a:rPr lang="ca-ES" sz="1600" dirty="0">
                <a:latin typeface="Source Code Pro" panose="020B0509030403020204" pitchFamily="49" charset="0"/>
                <a:ea typeface="Source Code Pro" panose="020B0509030403020204" pitchFamily="49" charset="0"/>
              </a:rPr>
              <a:t>key -&gt; prob_major -&gt; audio_mode</a:t>
            </a:r>
          </a:p>
          <a:p>
            <a:pPr marL="514350" indent="-514350">
              <a:buFont typeface="Arial" panose="020B0604020202020204" pitchFamily="34" charset="0"/>
              <a:buAutoNum type="arabicPeriod"/>
            </a:pPr>
            <a:endParaRPr lang="ca-ES" sz="2000" dirty="0"/>
          </a:p>
          <a:p>
            <a:pPr marL="0" indent="0">
              <a:buNone/>
            </a:pPr>
            <a:r>
              <a:rPr lang="ca-ES" sz="2000" dirty="0"/>
              <a:t>2. Imputamos del resto de valores con </a:t>
            </a:r>
            <a:r>
              <a:rPr lang="ca-ES" sz="2000" b="1" dirty="0"/>
              <a:t>MICE</a:t>
            </a:r>
            <a:r>
              <a:rPr lang="ca-ES" sz="2000" dirty="0"/>
              <a:t>, usando una matriz de predictores personalizada i diferentes métodos:</a:t>
            </a:r>
          </a:p>
          <a:p>
            <a:pPr>
              <a:buFontTx/>
              <a:buChar char="-"/>
            </a:pPr>
            <a:r>
              <a:rPr lang="ca-ES" sz="2000" dirty="0"/>
              <a:t>Predictive Mean Matching (pmm)</a:t>
            </a:r>
          </a:p>
          <a:p>
            <a:pPr>
              <a:buFontTx/>
              <a:buChar char="-"/>
            </a:pPr>
            <a:r>
              <a:rPr lang="ca-ES" sz="2000" dirty="0"/>
              <a:t>Ranfom Forest (rf)</a:t>
            </a:r>
          </a:p>
          <a:p>
            <a:pPr>
              <a:buFontTx/>
              <a:buChar char="-"/>
            </a:pPr>
            <a:r>
              <a:rPr lang="ca-ES" sz="2000" dirty="0"/>
              <a:t>Regressión Lasso (lasso.norm)</a:t>
            </a:r>
          </a:p>
          <a:p>
            <a:pPr marL="0" indent="0">
              <a:buNone/>
            </a:pPr>
            <a:endParaRPr lang="ca-ES" sz="2000" dirty="0"/>
          </a:p>
        </p:txBody>
      </p:sp>
      <p:pic>
        <p:nvPicPr>
          <p:cNvPr id="9" name="Picture 8" descr="A graph of different colored dots&#10;&#10;AI-generated content may be incorrect.">
            <a:extLst>
              <a:ext uri="{FF2B5EF4-FFF2-40B4-BE49-F238E27FC236}">
                <a16:creationId xmlns:a16="http://schemas.microsoft.com/office/drawing/2014/main" id="{41C38051-4A9F-9D0F-0B0C-30CA15E1B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29947"/>
            <a:ext cx="5572875" cy="4839724"/>
          </a:xfrm>
          <a:prstGeom prst="rect">
            <a:avLst/>
          </a:prstGeom>
        </p:spPr>
      </p:pic>
      <p:sp>
        <p:nvSpPr>
          <p:cNvPr id="10" name="Títol 1">
            <a:extLst>
              <a:ext uri="{FF2B5EF4-FFF2-40B4-BE49-F238E27FC236}">
                <a16:creationId xmlns:a16="http://schemas.microsoft.com/office/drawing/2014/main" id="{A2F8ABFB-92DD-5E03-D185-EC6015165DAD}"/>
              </a:ext>
            </a:extLst>
          </p:cNvPr>
          <p:cNvSpPr txBox="1">
            <a:spLocks/>
          </p:cNvSpPr>
          <p:nvPr/>
        </p:nvSpPr>
        <p:spPr>
          <a:xfrm>
            <a:off x="8393025" y="1173945"/>
            <a:ext cx="1782110" cy="3560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ca-ES" sz="1200" dirty="0">
                <a:latin typeface="+mn-lt"/>
              </a:rPr>
              <a:t>Uno de los gráficos para verificar la imputación</a:t>
            </a:r>
          </a:p>
        </p:txBody>
      </p:sp>
    </p:spTree>
    <p:extLst>
      <p:ext uri="{BB962C8B-B14F-4D97-AF65-F5344CB8AC3E}">
        <p14:creationId xmlns:p14="http://schemas.microsoft.com/office/powerpoint/2010/main" val="377501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C9215775-B83B-FABB-7999-31CAA06ABFDD}"/>
              </a:ext>
            </a:extLst>
          </p:cNvPr>
          <p:cNvSpPr>
            <a:spLocks noGrp="1"/>
          </p:cNvSpPr>
          <p:nvPr>
            <p:ph type="title"/>
          </p:nvPr>
        </p:nvSpPr>
        <p:spPr/>
        <p:txBody>
          <a:bodyPr/>
          <a:lstStyle/>
          <a:p>
            <a:r>
              <a:rPr lang="ca-ES" dirty="0"/>
              <a:t>Outliers</a:t>
            </a:r>
          </a:p>
        </p:txBody>
      </p:sp>
      <p:sp>
        <p:nvSpPr>
          <p:cNvPr id="3" name="Contenidor de contingut 2">
            <a:extLst>
              <a:ext uri="{FF2B5EF4-FFF2-40B4-BE49-F238E27FC236}">
                <a16:creationId xmlns:a16="http://schemas.microsoft.com/office/drawing/2014/main" id="{2DD47E32-EF7A-4F1C-B6BD-DAB29A43D569}"/>
              </a:ext>
            </a:extLst>
          </p:cNvPr>
          <p:cNvSpPr>
            <a:spLocks noGrp="1"/>
          </p:cNvSpPr>
          <p:nvPr>
            <p:ph idx="1"/>
          </p:nvPr>
        </p:nvSpPr>
        <p:spPr>
          <a:xfrm>
            <a:off x="838200" y="1825625"/>
            <a:ext cx="5364156" cy="4351338"/>
          </a:xfrm>
        </p:spPr>
        <p:txBody>
          <a:bodyPr>
            <a:normAutofit/>
          </a:bodyPr>
          <a:lstStyle/>
          <a:p>
            <a:pPr marL="0" indent="0">
              <a:buNone/>
            </a:pPr>
            <a:r>
              <a:rPr lang="ca-ES" sz="2000" dirty="0"/>
              <a:t>Para aprovechar la </a:t>
            </a:r>
            <a:r>
              <a:rPr lang="ca-ES" sz="2000" b="1" dirty="0"/>
              <a:t>fuerte relación </a:t>
            </a:r>
            <a:r>
              <a:rPr lang="ca-ES" sz="2000" dirty="0"/>
              <a:t>entre variables, se ha usado </a:t>
            </a:r>
            <a:r>
              <a:rPr lang="ca-ES" sz="2000" b="1" dirty="0"/>
              <a:t>ALSO </a:t>
            </a:r>
            <a:r>
              <a:rPr lang="ca-ES" sz="2000" dirty="0"/>
              <a:t>(Attribute Wise Learning Score for Outliers) para obtener un </a:t>
            </a:r>
            <a:r>
              <a:rPr lang="ca-ES" sz="2000" i="1" dirty="0"/>
              <a:t>score </a:t>
            </a:r>
            <a:r>
              <a:rPr lang="ca-ES" sz="2000" dirty="0"/>
              <a:t>para la mayoria de las variables. </a:t>
            </a:r>
          </a:p>
          <a:p>
            <a:pPr marL="0" indent="0">
              <a:buNone/>
            </a:pPr>
            <a:r>
              <a:rPr lang="ca-ES" sz="2000" dirty="0"/>
              <a:t>También se han detectado anomalias en la relación </a:t>
            </a:r>
            <a:r>
              <a:rPr lang="ca-ES" sz="2000" b="1" dirty="0"/>
              <a:t>instrumentalness-speechiness</a:t>
            </a:r>
            <a:r>
              <a:rPr lang="ca-ES" sz="2000" dirty="0"/>
              <a:t>, que se han calificado como outliers, pues una canción no puede ser instrumental i contener voces a la vez. </a:t>
            </a:r>
          </a:p>
          <a:p>
            <a:pPr marL="0" indent="0">
              <a:buNone/>
            </a:pPr>
            <a:r>
              <a:rPr lang="ca-ES" sz="2000" dirty="0"/>
              <a:t>Se han combinado los dos </a:t>
            </a:r>
            <a:r>
              <a:rPr lang="ca-ES" sz="2000" i="1" dirty="0"/>
              <a:t>scores</a:t>
            </a:r>
            <a:r>
              <a:rPr lang="ca-ES" sz="2000" dirty="0"/>
              <a:t> en uno, para usarlo como </a:t>
            </a:r>
            <a:r>
              <a:rPr lang="ca-ES" sz="2000" b="1" dirty="0"/>
              <a:t>peso</a:t>
            </a:r>
            <a:r>
              <a:rPr lang="ca-ES" sz="2000" dirty="0"/>
              <a:t> para los métodos de regresión.</a:t>
            </a:r>
          </a:p>
        </p:txBody>
      </p:sp>
      <p:pic>
        <p:nvPicPr>
          <p:cNvPr id="7" name="Picture 6" descr="A graph of different sizes and colors&#10;&#10;AI-generated content may be incorrect.">
            <a:extLst>
              <a:ext uri="{FF2B5EF4-FFF2-40B4-BE49-F238E27FC236}">
                <a16:creationId xmlns:a16="http://schemas.microsoft.com/office/drawing/2014/main" id="{F0B81BD4-01B6-CA9B-68A7-5ADA51AB43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849" y="1389895"/>
            <a:ext cx="5431806" cy="4358365"/>
          </a:xfrm>
          <a:prstGeom prst="rect">
            <a:avLst/>
          </a:prstGeom>
        </p:spPr>
      </p:pic>
      <p:sp>
        <p:nvSpPr>
          <p:cNvPr id="8" name="Contenidor de contingut 2">
            <a:extLst>
              <a:ext uri="{FF2B5EF4-FFF2-40B4-BE49-F238E27FC236}">
                <a16:creationId xmlns:a16="http://schemas.microsoft.com/office/drawing/2014/main" id="{89BAC3D6-BEFE-46C8-45AA-25A177107D92}"/>
              </a:ext>
            </a:extLst>
          </p:cNvPr>
          <p:cNvSpPr txBox="1">
            <a:spLocks/>
          </p:cNvSpPr>
          <p:nvPr/>
        </p:nvSpPr>
        <p:spPr>
          <a:xfrm>
            <a:off x="8666961" y="1109740"/>
            <a:ext cx="1842742" cy="26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ca-ES" sz="1200" i="1" dirty="0"/>
              <a:t>outlier score combinado</a:t>
            </a:r>
          </a:p>
        </p:txBody>
      </p:sp>
    </p:spTree>
    <p:extLst>
      <p:ext uri="{BB962C8B-B14F-4D97-AF65-F5344CB8AC3E}">
        <p14:creationId xmlns:p14="http://schemas.microsoft.com/office/powerpoint/2010/main" val="43422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ABDAD233-203F-7C0A-15A4-B4D2118C1131}"/>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7C53B1F1-06EF-F5A9-6BEE-AE3F23B7F2FF}"/>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7089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BA339733-BE23-C979-E416-86882860199E}"/>
              </a:ext>
            </a:extLst>
          </p:cNvPr>
          <p:cNvSpPr>
            <a:spLocks noGrp="1"/>
          </p:cNvSpPr>
          <p:nvPr>
            <p:ph type="title"/>
          </p:nvPr>
        </p:nvSpPr>
        <p:spPr/>
        <p:txBody>
          <a:bodyPr/>
          <a:lstStyle/>
          <a:p>
            <a:r>
              <a:rPr lang="ca-ES" dirty="0" err="1"/>
              <a:t>Feature</a:t>
            </a:r>
            <a:r>
              <a:rPr lang="ca-ES" dirty="0"/>
              <a:t> </a:t>
            </a:r>
            <a:r>
              <a:rPr lang="ca-ES" dirty="0" err="1"/>
              <a:t>Engineering</a:t>
            </a:r>
            <a:endParaRPr lang="ca-ES" dirty="0"/>
          </a:p>
        </p:txBody>
      </p:sp>
      <p:sp>
        <p:nvSpPr>
          <p:cNvPr id="3" name="Contenidor de contingut 2">
            <a:extLst>
              <a:ext uri="{FF2B5EF4-FFF2-40B4-BE49-F238E27FC236}">
                <a16:creationId xmlns:a16="http://schemas.microsoft.com/office/drawing/2014/main" id="{6CB79518-0958-33D4-E9B0-09B749824CF4}"/>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237920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9" y="1473286"/>
            <a:ext cx="9287312" cy="2572816"/>
          </a:xfrm>
        </p:spPr>
        <p:txBody>
          <a:bodyPr>
            <a:normAutofit/>
          </a:bodyPr>
          <a:lstStyle/>
          <a:p>
            <a:pPr algn="just"/>
            <a:r>
              <a:rPr lang="ca-ES" sz="1600" dirty="0"/>
              <a:t>Al </a:t>
            </a:r>
            <a:r>
              <a:rPr lang="es-ES_tradnl" sz="1600" dirty="0"/>
              <a:t>realizar</a:t>
            </a:r>
            <a:r>
              <a:rPr lang="es-ES" sz="1600" dirty="0"/>
              <a:t> un análisis de </a:t>
            </a:r>
            <a:r>
              <a:rPr lang="es-ES" sz="1600" i="1" dirty="0" err="1"/>
              <a:t>association</a:t>
            </a:r>
            <a:r>
              <a:rPr lang="es-ES" sz="1600" i="1" dirty="0"/>
              <a:t> rules </a:t>
            </a:r>
            <a:r>
              <a:rPr lang="es-ES" sz="1600" dirty="0"/>
              <a:t>con nuestros datos</a:t>
            </a:r>
            <a:r>
              <a:rPr lang="ca-ES" sz="1600" dirty="0"/>
              <a:t> </a:t>
            </a:r>
            <a:r>
              <a:rPr lang="es-ES" sz="1600" dirty="0"/>
              <a:t>pretendíamos</a:t>
            </a:r>
            <a:r>
              <a:rPr lang="ca-ES" sz="1600" dirty="0"/>
              <a:t> identificar patrones entre </a:t>
            </a:r>
            <a:r>
              <a:rPr lang="es-ES" sz="1600" dirty="0"/>
              <a:t>elementos</a:t>
            </a:r>
            <a:r>
              <a:rPr lang="ca-ES" sz="1600" dirty="0"/>
              <a:t>. Para </a:t>
            </a:r>
            <a:r>
              <a:rPr lang="es-ES" sz="1600" dirty="0"/>
              <a:t>ello</a:t>
            </a:r>
            <a:r>
              <a:rPr lang="ca-ES" sz="1600" dirty="0"/>
              <a:t> </a:t>
            </a:r>
            <a:r>
              <a:rPr lang="es-ES_tradnl" sz="1600" dirty="0"/>
              <a:t>primeramente</a:t>
            </a:r>
            <a:r>
              <a:rPr lang="ca-ES" sz="1600" dirty="0"/>
              <a:t> </a:t>
            </a:r>
            <a:r>
              <a:rPr lang="es-ES_tradnl" sz="1600" dirty="0"/>
              <a:t>debíamos</a:t>
            </a:r>
            <a:r>
              <a:rPr lang="ca-ES" sz="1600" dirty="0"/>
              <a:t> transformar </a:t>
            </a:r>
            <a:r>
              <a:rPr lang="es-ES" sz="1600" dirty="0"/>
              <a:t>nuestros</a:t>
            </a:r>
            <a:r>
              <a:rPr lang="ca-ES" sz="1600" dirty="0"/>
              <a:t> </a:t>
            </a:r>
            <a:r>
              <a:rPr lang="es-ES" sz="1600" noProof="1"/>
              <a:t>datos</a:t>
            </a:r>
            <a:r>
              <a:rPr lang="ca-ES" sz="1600" dirty="0"/>
              <a:t> para </a:t>
            </a:r>
            <a:r>
              <a:rPr lang="es-ES" sz="1600" dirty="0"/>
              <a:t>obtener</a:t>
            </a:r>
            <a:r>
              <a:rPr lang="ca-ES" sz="1600" dirty="0"/>
              <a:t> una base transaccional. </a:t>
            </a:r>
          </a:p>
          <a:p>
            <a:pPr algn="just"/>
            <a:r>
              <a:rPr lang="es-ES" sz="1600" dirty="0"/>
              <a:t>Para ello dividimos todas las variables numéricas en 3 intervalos de igual dimensión absoluta y eliminamos variables (</a:t>
            </a:r>
            <a:r>
              <a:rPr lang="es-ES" sz="1600" i="1" dirty="0" err="1"/>
              <a:t>prob_major</a:t>
            </a:r>
            <a:r>
              <a:rPr lang="es-ES" sz="1600" dirty="0"/>
              <a:t> y </a:t>
            </a:r>
            <a:r>
              <a:rPr lang="es-ES" sz="1600" i="1" dirty="0" err="1"/>
              <a:t>outlier_weight</a:t>
            </a:r>
            <a:r>
              <a:rPr lang="es-ES" sz="1600" dirty="0"/>
              <a:t>) que anteriormente habíamos creado pero que no aportan información en este análisis. A partir de estos cambios convertimos los datos al formato adecuado, una matriz transaccional. Como resultado cada transacción (canción) queda reflejada en el formato de la derecha:</a:t>
            </a:r>
          </a:p>
          <a:p>
            <a:pPr algn="just"/>
            <a:r>
              <a:rPr lang="es-ES" sz="1600" dirty="0"/>
              <a:t>En relación a la creación de reglas, tras múltiples combinaciones hemos decidido conservar los dos siguientes análisis:</a:t>
            </a:r>
          </a:p>
        </p:txBody>
      </p:sp>
      <p:pic>
        <p:nvPicPr>
          <p:cNvPr id="5" name="Imatge 4">
            <a:extLst>
              <a:ext uri="{FF2B5EF4-FFF2-40B4-BE49-F238E27FC236}">
                <a16:creationId xmlns:a16="http://schemas.microsoft.com/office/drawing/2014/main" id="{45FD14DD-2719-481B-9B1C-647A9DE7F9F2}"/>
              </a:ext>
            </a:extLst>
          </p:cNvPr>
          <p:cNvPicPr>
            <a:picLocks noChangeAspect="1"/>
          </p:cNvPicPr>
          <p:nvPr/>
        </p:nvPicPr>
        <p:blipFill rotWithShape="1">
          <a:blip r:embed="rId2"/>
          <a:srcRect r="24824"/>
          <a:stretch/>
        </p:blipFill>
        <p:spPr>
          <a:xfrm>
            <a:off x="9975685" y="1905086"/>
            <a:ext cx="1912125" cy="2438740"/>
          </a:xfrm>
          <a:prstGeom prst="rect">
            <a:avLst/>
          </a:prstGeom>
        </p:spPr>
      </p:pic>
      <p:pic>
        <p:nvPicPr>
          <p:cNvPr id="13" name="Imatge 12">
            <a:extLst>
              <a:ext uri="{FF2B5EF4-FFF2-40B4-BE49-F238E27FC236}">
                <a16:creationId xmlns:a16="http://schemas.microsoft.com/office/drawing/2014/main" id="{04395F3E-8302-4915-9244-4D6270B19161}"/>
              </a:ext>
            </a:extLst>
          </p:cNvPr>
          <p:cNvPicPr>
            <a:picLocks noChangeAspect="1"/>
          </p:cNvPicPr>
          <p:nvPr/>
        </p:nvPicPr>
        <p:blipFill rotWithShape="1">
          <a:blip r:embed="rId3"/>
          <a:srcRect b="36156"/>
          <a:stretch/>
        </p:blipFill>
        <p:spPr>
          <a:xfrm>
            <a:off x="1136637" y="5142188"/>
            <a:ext cx="3705742" cy="790655"/>
          </a:xfrm>
          <a:prstGeom prst="rect">
            <a:avLst/>
          </a:prstGeom>
        </p:spPr>
      </p:pic>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1097031" y="3975707"/>
            <a:ext cx="3705742" cy="21299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primero se determina con un soporte y una confianza mínima de 0.05 y 0.7 respectivamente. Tras eliminar reglas redundantes resulta en un total de 4715.</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5536358" y="3975707"/>
            <a:ext cx="3705742" cy="21299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-El segundo se determina con un suporte y una confianza mínima de 0.35 y 0.9 respectivamente. Tras eliminar reglas redundantes resulta en un total de 292</a:t>
            </a:r>
          </a:p>
        </p:txBody>
      </p:sp>
      <p:pic>
        <p:nvPicPr>
          <p:cNvPr id="17" name="Imatge 16">
            <a:extLst>
              <a:ext uri="{FF2B5EF4-FFF2-40B4-BE49-F238E27FC236}">
                <a16:creationId xmlns:a16="http://schemas.microsoft.com/office/drawing/2014/main" id="{BB4A12F4-1148-492F-9AD8-AE5A69E5EEE9}"/>
              </a:ext>
            </a:extLst>
          </p:cNvPr>
          <p:cNvPicPr>
            <a:picLocks noChangeAspect="1"/>
          </p:cNvPicPr>
          <p:nvPr/>
        </p:nvPicPr>
        <p:blipFill>
          <a:blip r:embed="rId4"/>
          <a:stretch>
            <a:fillRect/>
          </a:stretch>
        </p:blipFill>
        <p:spPr>
          <a:xfrm>
            <a:off x="5575964" y="5142188"/>
            <a:ext cx="3439005" cy="790685"/>
          </a:xfrm>
          <a:prstGeom prst="rect">
            <a:avLst/>
          </a:prstGeom>
        </p:spPr>
      </p:pic>
    </p:spTree>
    <p:extLst>
      <p:ext uri="{BB962C8B-B14F-4D97-AF65-F5344CB8AC3E}">
        <p14:creationId xmlns:p14="http://schemas.microsoft.com/office/powerpoint/2010/main" val="728695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14" name="Contenidor de contingut 2">
            <a:extLst>
              <a:ext uri="{FF2B5EF4-FFF2-40B4-BE49-F238E27FC236}">
                <a16:creationId xmlns:a16="http://schemas.microsoft.com/office/drawing/2014/main" id="{D6AEF809-3C15-415A-80D0-C9A24221B095}"/>
              </a:ext>
            </a:extLst>
          </p:cNvPr>
          <p:cNvSpPr txBox="1">
            <a:spLocks/>
          </p:cNvSpPr>
          <p:nvPr/>
        </p:nvSpPr>
        <p:spPr>
          <a:xfrm>
            <a:off x="838199" y="1492565"/>
            <a:ext cx="9955957" cy="1064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·Como hemos comentado antes, el primer análisis parte de niveles menos exigentes de soporte y confianza. Podemos observar que las reglas con mayor </a:t>
            </a:r>
            <a:r>
              <a:rPr lang="es-ES" sz="1600" i="1" dirty="0" err="1"/>
              <a:t>lift</a:t>
            </a:r>
            <a:r>
              <a:rPr lang="es-ES" sz="1600" dirty="0"/>
              <a:t> explican que la variable </a:t>
            </a:r>
            <a:r>
              <a:rPr lang="es-ES" sz="1600" i="1" dirty="0" err="1"/>
              <a:t>energy</a:t>
            </a:r>
            <a:r>
              <a:rPr lang="es-ES" sz="1600" dirty="0"/>
              <a:t> tome valores altos. Si nos fijamos, se tratan de reglas bastante evidentes cómo que canciones con: niveles de </a:t>
            </a:r>
            <a:r>
              <a:rPr lang="es-ES" sz="1600" i="1" dirty="0" err="1"/>
              <a:t>loudness</a:t>
            </a:r>
            <a:r>
              <a:rPr lang="es-ES" sz="1600" dirty="0"/>
              <a:t> altos, </a:t>
            </a:r>
            <a:r>
              <a:rPr lang="es-ES" sz="1600" i="1" dirty="0" err="1"/>
              <a:t>danceability</a:t>
            </a:r>
            <a:r>
              <a:rPr lang="es-ES" sz="1600" dirty="0"/>
              <a:t> medios, sentimientos positivos y que no son acústicas llevan asociadas un carácter energético.</a:t>
            </a:r>
          </a:p>
        </p:txBody>
      </p:sp>
      <p:sp>
        <p:nvSpPr>
          <p:cNvPr id="15" name="Contenidor de contingut 2">
            <a:extLst>
              <a:ext uri="{FF2B5EF4-FFF2-40B4-BE49-F238E27FC236}">
                <a16:creationId xmlns:a16="http://schemas.microsoft.com/office/drawing/2014/main" id="{10092007-3757-46F4-8B3F-B875F8AC6D49}"/>
              </a:ext>
            </a:extLst>
          </p:cNvPr>
          <p:cNvSpPr txBox="1">
            <a:spLocks/>
          </p:cNvSpPr>
          <p:nvPr/>
        </p:nvSpPr>
        <p:spPr>
          <a:xfrm>
            <a:off x="838199" y="4300474"/>
            <a:ext cx="9955957" cy="6024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1600" dirty="0"/>
              <a:t>·Para el segundo análisis llegamos a una conclusión similar. Se trata de reglas evidentes que no se enfocan en la variable objetivo </a:t>
            </a:r>
            <a:r>
              <a:rPr lang="es-ES" sz="1600" i="1" dirty="0" err="1"/>
              <a:t>popularity</a:t>
            </a:r>
            <a:r>
              <a:rPr lang="es-ES" sz="1600" dirty="0"/>
              <a:t>. En este caso las reglas con mayor </a:t>
            </a:r>
            <a:r>
              <a:rPr lang="es-ES" sz="1600" dirty="0" err="1"/>
              <a:t>lift</a:t>
            </a:r>
            <a:r>
              <a:rPr lang="es-ES" sz="1600" dirty="0"/>
              <a:t> explican niveles altos de </a:t>
            </a:r>
            <a:r>
              <a:rPr lang="es-ES" sz="1600" i="1" dirty="0" err="1"/>
              <a:t>loudness</a:t>
            </a:r>
            <a:r>
              <a:rPr lang="es-ES" sz="1600" i="1" dirty="0"/>
              <a:t>. </a:t>
            </a:r>
          </a:p>
        </p:txBody>
      </p:sp>
      <p:pic>
        <p:nvPicPr>
          <p:cNvPr id="8" name="Imatge 7">
            <a:extLst>
              <a:ext uri="{FF2B5EF4-FFF2-40B4-BE49-F238E27FC236}">
                <a16:creationId xmlns:a16="http://schemas.microsoft.com/office/drawing/2014/main" id="{3EA69892-F245-4A57-8B58-551475F3A97B}"/>
              </a:ext>
            </a:extLst>
          </p:cNvPr>
          <p:cNvPicPr>
            <a:picLocks noChangeAspect="1"/>
          </p:cNvPicPr>
          <p:nvPr/>
        </p:nvPicPr>
        <p:blipFill>
          <a:blip r:embed="rId2"/>
          <a:stretch>
            <a:fillRect/>
          </a:stretch>
        </p:blipFill>
        <p:spPr>
          <a:xfrm>
            <a:off x="939229" y="2557527"/>
            <a:ext cx="4597127" cy="1506474"/>
          </a:xfrm>
          <a:prstGeom prst="rect">
            <a:avLst/>
          </a:prstGeom>
        </p:spPr>
      </p:pic>
      <p:pic>
        <p:nvPicPr>
          <p:cNvPr id="12" name="Imatge 11">
            <a:extLst>
              <a:ext uri="{FF2B5EF4-FFF2-40B4-BE49-F238E27FC236}">
                <a16:creationId xmlns:a16="http://schemas.microsoft.com/office/drawing/2014/main" id="{FBABD963-B57D-4086-84EB-2D2BF93AC169}"/>
              </a:ext>
            </a:extLst>
          </p:cNvPr>
          <p:cNvPicPr>
            <a:picLocks noChangeAspect="1"/>
          </p:cNvPicPr>
          <p:nvPr/>
        </p:nvPicPr>
        <p:blipFill>
          <a:blip r:embed="rId3"/>
          <a:stretch>
            <a:fillRect/>
          </a:stretch>
        </p:blipFill>
        <p:spPr>
          <a:xfrm>
            <a:off x="838198" y="4971575"/>
            <a:ext cx="4597127" cy="1458821"/>
          </a:xfrm>
          <a:prstGeom prst="rect">
            <a:avLst/>
          </a:prstGeom>
        </p:spPr>
      </p:pic>
      <p:pic>
        <p:nvPicPr>
          <p:cNvPr id="18" name="Imatge 17">
            <a:extLst>
              <a:ext uri="{FF2B5EF4-FFF2-40B4-BE49-F238E27FC236}">
                <a16:creationId xmlns:a16="http://schemas.microsoft.com/office/drawing/2014/main" id="{5E3C6E78-0A6E-40B0-95A2-B12D2D716C8A}"/>
              </a:ext>
            </a:extLst>
          </p:cNvPr>
          <p:cNvPicPr>
            <a:picLocks noChangeAspect="1"/>
          </p:cNvPicPr>
          <p:nvPr/>
        </p:nvPicPr>
        <p:blipFill>
          <a:blip r:embed="rId4"/>
          <a:stretch>
            <a:fillRect/>
          </a:stretch>
        </p:blipFill>
        <p:spPr>
          <a:xfrm>
            <a:off x="6519557" y="4966076"/>
            <a:ext cx="2437201" cy="1573129"/>
          </a:xfrm>
          <a:prstGeom prst="rect">
            <a:avLst/>
          </a:prstGeom>
        </p:spPr>
      </p:pic>
      <p:pic>
        <p:nvPicPr>
          <p:cNvPr id="21" name="Imatge 20">
            <a:extLst>
              <a:ext uri="{FF2B5EF4-FFF2-40B4-BE49-F238E27FC236}">
                <a16:creationId xmlns:a16="http://schemas.microsoft.com/office/drawing/2014/main" id="{EF18A939-5ABF-45B1-804D-4E126CD89CAA}"/>
              </a:ext>
            </a:extLst>
          </p:cNvPr>
          <p:cNvPicPr>
            <a:picLocks noChangeAspect="1"/>
          </p:cNvPicPr>
          <p:nvPr/>
        </p:nvPicPr>
        <p:blipFill>
          <a:blip r:embed="rId5"/>
          <a:stretch>
            <a:fillRect/>
          </a:stretch>
        </p:blipFill>
        <p:spPr>
          <a:xfrm>
            <a:off x="6519557" y="2557526"/>
            <a:ext cx="2437201" cy="1553787"/>
          </a:xfrm>
          <a:prstGeom prst="rect">
            <a:avLst/>
          </a:prstGeom>
        </p:spPr>
      </p:pic>
    </p:spTree>
    <p:extLst>
      <p:ext uri="{BB962C8B-B14F-4D97-AF65-F5344CB8AC3E}">
        <p14:creationId xmlns:p14="http://schemas.microsoft.com/office/powerpoint/2010/main" val="1495936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FE225D6-96A5-6882-75E3-43C223984CC0}"/>
              </a:ext>
            </a:extLst>
          </p:cNvPr>
          <p:cNvSpPr>
            <a:spLocks noGrp="1"/>
          </p:cNvSpPr>
          <p:nvPr>
            <p:ph type="title"/>
          </p:nvPr>
        </p:nvSpPr>
        <p:spPr>
          <a:xfrm>
            <a:off x="838200" y="377200"/>
            <a:ext cx="10515600" cy="1325563"/>
          </a:xfrm>
        </p:spPr>
        <p:txBody>
          <a:bodyPr>
            <a:normAutofit/>
          </a:bodyPr>
          <a:lstStyle/>
          <a:p>
            <a:r>
              <a:rPr lang="ca-ES" sz="3600" dirty="0"/>
              <a:t>ASSOCITATION RULES</a:t>
            </a:r>
          </a:p>
        </p:txBody>
      </p:sp>
      <p:sp>
        <p:nvSpPr>
          <p:cNvPr id="3" name="Contenidor de contingut 2">
            <a:extLst>
              <a:ext uri="{FF2B5EF4-FFF2-40B4-BE49-F238E27FC236}">
                <a16:creationId xmlns:a16="http://schemas.microsoft.com/office/drawing/2014/main" id="{656CBB04-2387-1479-CB3A-FE475A12528D}"/>
              </a:ext>
            </a:extLst>
          </p:cNvPr>
          <p:cNvSpPr>
            <a:spLocks noGrp="1"/>
          </p:cNvSpPr>
          <p:nvPr>
            <p:ph idx="1"/>
          </p:nvPr>
        </p:nvSpPr>
        <p:spPr>
          <a:xfrm>
            <a:off x="678808" y="1473286"/>
            <a:ext cx="10515599" cy="2572816"/>
          </a:xfrm>
        </p:spPr>
        <p:txBody>
          <a:bodyPr>
            <a:normAutofit/>
          </a:bodyPr>
          <a:lstStyle/>
          <a:p>
            <a:pPr algn="just"/>
            <a:r>
              <a:rPr lang="es-ES" sz="1600" noProof="0" dirty="0"/>
              <a:t>Para finalizar este apartado, hemos realizado también un análisis enfocado a la popularidad, nuestra variable objetivo. Para obtener reglas que explicaran la popularidad, en cualquier nivel, hemos tenido que realizar un análisis con un soporte y confianza notablemente bajos, concretamente de 0.02 y 0.3 respectivamente. Aunque se podrían encontrar reglas con mayor confianza, el soporte tendría que ser aún mucho menor.</a:t>
            </a:r>
          </a:p>
          <a:p>
            <a:pPr algn="just"/>
            <a:r>
              <a:rPr lang="es-ES" sz="1600" noProof="0" dirty="0"/>
              <a:t>El resultado de este análisis nos muestra que las reglas que explican niveles altos de popularidad con </a:t>
            </a:r>
            <a:r>
              <a:rPr lang="es-ES" sz="1600" i="1" noProof="0" dirty="0" err="1"/>
              <a:t>lift</a:t>
            </a:r>
            <a:r>
              <a:rPr lang="es-ES" sz="1600" noProof="0" dirty="0"/>
              <a:t> alto tienden a incluir: </a:t>
            </a:r>
            <a:r>
              <a:rPr lang="es-ES" sz="1600" i="1" noProof="0" dirty="0" err="1"/>
              <a:t>danceability</a:t>
            </a:r>
            <a:r>
              <a:rPr lang="es-ES" sz="1600" noProof="0" dirty="0"/>
              <a:t>=High, </a:t>
            </a:r>
            <a:r>
              <a:rPr lang="es-ES" sz="1600" i="1" noProof="0" dirty="0" err="1"/>
              <a:t>acousticness</a:t>
            </a:r>
            <a:r>
              <a:rPr lang="es-ES" sz="1600" noProof="0" dirty="0"/>
              <a:t>=Low, </a:t>
            </a:r>
            <a:r>
              <a:rPr lang="es-ES" sz="1600" i="1" noProof="0" dirty="0" err="1"/>
              <a:t>key</a:t>
            </a:r>
            <a:r>
              <a:rPr lang="es-ES" sz="1600" noProof="0" dirty="0"/>
              <a:t>=</a:t>
            </a:r>
            <a:r>
              <a:rPr lang="es-ES" sz="1600" noProof="0" dirty="0" err="1"/>
              <a:t>Db</a:t>
            </a:r>
            <a:r>
              <a:rPr lang="es-ES" sz="1600" noProof="0" dirty="0"/>
              <a:t>, </a:t>
            </a:r>
            <a:r>
              <a:rPr lang="es-ES" sz="1600" i="1" noProof="0" dirty="0" err="1"/>
              <a:t>instrumentalness</a:t>
            </a:r>
            <a:r>
              <a:rPr lang="es-ES" sz="1600" noProof="0" dirty="0"/>
              <a:t>=Low y </a:t>
            </a:r>
            <a:r>
              <a:rPr lang="es-ES" sz="1600" i="1" noProof="0" dirty="0" err="1"/>
              <a:t>loudness</a:t>
            </a:r>
            <a:r>
              <a:rPr lang="es-ES" sz="1600" noProof="0" dirty="0"/>
              <a:t>=High. Aún así debemos ser cautos al usar estos resultados pues están asociados a niveles de soporte cercanos a 0.02 y valores de confianza levemente superiores a 0.4.</a:t>
            </a:r>
          </a:p>
          <a:p>
            <a:pPr algn="just"/>
            <a:endParaRPr lang="ca-ES" sz="1600" dirty="0"/>
          </a:p>
        </p:txBody>
      </p:sp>
      <p:pic>
        <p:nvPicPr>
          <p:cNvPr id="10" name="Imatge 9">
            <a:extLst>
              <a:ext uri="{FF2B5EF4-FFF2-40B4-BE49-F238E27FC236}">
                <a16:creationId xmlns:a16="http://schemas.microsoft.com/office/drawing/2014/main" id="{4C5E1C17-BC6F-4CF2-ADAF-AF577998DE74}"/>
              </a:ext>
            </a:extLst>
          </p:cNvPr>
          <p:cNvPicPr>
            <a:picLocks noChangeAspect="1"/>
          </p:cNvPicPr>
          <p:nvPr/>
        </p:nvPicPr>
        <p:blipFill>
          <a:blip r:embed="rId2"/>
          <a:stretch>
            <a:fillRect/>
          </a:stretch>
        </p:blipFill>
        <p:spPr>
          <a:xfrm>
            <a:off x="842628" y="3574733"/>
            <a:ext cx="6019726" cy="2429517"/>
          </a:xfrm>
          <a:prstGeom prst="rect">
            <a:avLst/>
          </a:prstGeom>
        </p:spPr>
      </p:pic>
      <p:pic>
        <p:nvPicPr>
          <p:cNvPr id="12" name="Imatge 11">
            <a:extLst>
              <a:ext uri="{FF2B5EF4-FFF2-40B4-BE49-F238E27FC236}">
                <a16:creationId xmlns:a16="http://schemas.microsoft.com/office/drawing/2014/main" id="{B399E611-67E0-4F2A-957B-3AAE32A057B9}"/>
              </a:ext>
            </a:extLst>
          </p:cNvPr>
          <p:cNvPicPr>
            <a:picLocks noChangeAspect="1"/>
          </p:cNvPicPr>
          <p:nvPr/>
        </p:nvPicPr>
        <p:blipFill>
          <a:blip r:embed="rId3"/>
          <a:stretch>
            <a:fillRect/>
          </a:stretch>
        </p:blipFill>
        <p:spPr>
          <a:xfrm>
            <a:off x="7381233" y="3574733"/>
            <a:ext cx="3789156" cy="2429518"/>
          </a:xfrm>
          <a:prstGeom prst="rect">
            <a:avLst/>
          </a:prstGeom>
        </p:spPr>
      </p:pic>
    </p:spTree>
    <p:extLst>
      <p:ext uri="{BB962C8B-B14F-4D97-AF65-F5344CB8AC3E}">
        <p14:creationId xmlns:p14="http://schemas.microsoft.com/office/powerpoint/2010/main" val="4216217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26F8249-4057-A1B6-D24B-4F8C6D09B62E}"/>
              </a:ext>
            </a:extLst>
          </p:cNvPr>
          <p:cNvSpPr>
            <a:spLocks noGrp="1"/>
          </p:cNvSpPr>
          <p:nvPr>
            <p:ph type="title"/>
          </p:nvPr>
        </p:nvSpPr>
        <p:spPr/>
        <p:txBody>
          <a:bodyPr/>
          <a:lstStyle/>
          <a:p>
            <a:r>
              <a:rPr lang="ca-ES" dirty="0" err="1"/>
              <a:t>Preparación</a:t>
            </a:r>
            <a:r>
              <a:rPr lang="ca-ES" dirty="0"/>
              <a:t> para el </a:t>
            </a:r>
            <a:r>
              <a:rPr lang="ca-ES" dirty="0" err="1"/>
              <a:t>modelado</a:t>
            </a:r>
            <a:endParaRPr lang="ca-ES" dirty="0"/>
          </a:p>
        </p:txBody>
      </p:sp>
      <p:sp>
        <p:nvSpPr>
          <p:cNvPr id="3" name="Contenidor de contingut 2">
            <a:extLst>
              <a:ext uri="{FF2B5EF4-FFF2-40B4-BE49-F238E27FC236}">
                <a16:creationId xmlns:a16="http://schemas.microsoft.com/office/drawing/2014/main" id="{A33CB87B-B723-62D3-F721-B0EF0252DB12}"/>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2028020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0DD33024-7E2F-19C8-8180-13323C4ADFB7}"/>
              </a:ext>
            </a:extLst>
          </p:cNvPr>
          <p:cNvSpPr>
            <a:spLocks noGrp="1"/>
          </p:cNvSpPr>
          <p:nvPr>
            <p:ph type="title"/>
          </p:nvPr>
        </p:nvSpPr>
        <p:spPr>
          <a:xfrm>
            <a:off x="1137034" y="609597"/>
            <a:ext cx="9392421" cy="1330841"/>
          </a:xfrm>
        </p:spPr>
        <p:txBody>
          <a:bodyPr>
            <a:normAutofit/>
          </a:bodyPr>
          <a:lstStyle/>
          <a:p>
            <a:r>
              <a:rPr lang="ca-ES" dirty="0"/>
              <a:t>KNN</a:t>
            </a:r>
          </a:p>
        </p:txBody>
      </p:sp>
      <p:sp>
        <p:nvSpPr>
          <p:cNvPr id="3" name="Contenidor de contingut 2">
            <a:extLst>
              <a:ext uri="{FF2B5EF4-FFF2-40B4-BE49-F238E27FC236}">
                <a16:creationId xmlns:a16="http://schemas.microsoft.com/office/drawing/2014/main" id="{ABC7C7E8-B4C4-93D1-C547-35BDADFB754F}"/>
              </a:ext>
            </a:extLst>
          </p:cNvPr>
          <p:cNvSpPr>
            <a:spLocks noGrp="1"/>
          </p:cNvSpPr>
          <p:nvPr>
            <p:ph idx="1"/>
          </p:nvPr>
        </p:nvSpPr>
        <p:spPr>
          <a:xfrm>
            <a:off x="785614" y="2179076"/>
            <a:ext cx="5665428" cy="4420168"/>
          </a:xfrm>
        </p:spPr>
        <p:txBody>
          <a:bodyPr>
            <a:normAutofit/>
          </a:bodyPr>
          <a:lstStyle/>
          <a:p>
            <a:pPr marL="0" indent="0">
              <a:buNone/>
            </a:pPr>
            <a:r>
              <a:rPr lang="en-US" sz="1500" dirty="0"/>
              <a:t>The first method applied is K-Nearest Neighbors (KNN) in a regression context. Initially, the cleaned dataset was divided into a training and a test set, in order to obtain reliable results and assess the model’s ability to generalize to unseen data. To ensure good KNN performance, all features were converted to numerical format and standardized, since differences in scale could otherwise strongly affect the computation of distances. </a:t>
            </a:r>
          </a:p>
          <a:p>
            <a:pPr marL="0" indent="0">
              <a:buNone/>
            </a:pPr>
            <a:r>
              <a:rPr lang="en-US" sz="1500" dirty="0"/>
              <a:t>Feature selection and feature weighting was done using a made up (but effective) method. Two variables were eliminated.</a:t>
            </a:r>
          </a:p>
          <a:p>
            <a:pPr marL="0" indent="0">
              <a:buNone/>
            </a:pPr>
            <a:r>
              <a:rPr lang="en-US" sz="1500" dirty="0"/>
              <a:t>The model was then trained and used to make predictions, which were evaluated using the project’s KPI, </a:t>
            </a:r>
            <a:r>
              <a:rPr lang="en-US" sz="1500" b="1" dirty="0"/>
              <a:t>Mean Absolute Percent Error </a:t>
            </a:r>
            <a:r>
              <a:rPr lang="en-US" sz="1500" dirty="0"/>
              <a:t>(MAPE), along with the </a:t>
            </a:r>
            <a:r>
              <a:rPr lang="en-US" sz="1500" b="1" dirty="0"/>
              <a:t>correlation</a:t>
            </a:r>
            <a:r>
              <a:rPr lang="en-US" sz="1500" dirty="0"/>
              <a:t> between predicted and actual values. </a:t>
            </a:r>
          </a:p>
          <a:p>
            <a:pPr marL="0" indent="0">
              <a:buNone/>
            </a:pPr>
            <a:r>
              <a:rPr lang="en-US" sz="1500" dirty="0"/>
              <a:t>Finally, the parameter k (number of neighbors) was optimized based on the MAPE results, with the best performance obtained for </a:t>
            </a:r>
            <a:r>
              <a:rPr lang="en-US" sz="1500" b="1" dirty="0"/>
              <a:t>k = 1</a:t>
            </a:r>
            <a:r>
              <a:rPr lang="en-US" sz="1500" dirty="0"/>
              <a:t>. This means KNN is very computationally efficient. The results for the </a:t>
            </a:r>
            <a:r>
              <a:rPr lang="en-US" sz="1500" dirty="0" err="1"/>
              <a:t>kaggle</a:t>
            </a:r>
            <a:r>
              <a:rPr lang="en-US" sz="1500" dirty="0"/>
              <a:t> test set were good: we’re first at the time of writing this.</a:t>
            </a: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0D9BE353-93EA-1F5A-CDC7-6FE075C91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4107" y="1814154"/>
            <a:ext cx="4574016" cy="4368022"/>
          </a:xfrm>
          <a:prstGeom prst="rect">
            <a:avLst/>
          </a:prstGeom>
        </p:spPr>
      </p:pic>
    </p:spTree>
    <p:extLst>
      <p:ext uri="{BB962C8B-B14F-4D97-AF65-F5344CB8AC3E}">
        <p14:creationId xmlns:p14="http://schemas.microsoft.com/office/powerpoint/2010/main" val="3532939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ol 1">
            <a:extLst>
              <a:ext uri="{FF2B5EF4-FFF2-40B4-BE49-F238E27FC236}">
                <a16:creationId xmlns:a16="http://schemas.microsoft.com/office/drawing/2014/main" id="{5FAB87C2-CBC7-4CB6-1DD9-4EB3CF409640}"/>
              </a:ext>
            </a:extLst>
          </p:cNvPr>
          <p:cNvSpPr>
            <a:spLocks noGrp="1"/>
          </p:cNvSpPr>
          <p:nvPr>
            <p:ph type="title"/>
          </p:nvPr>
        </p:nvSpPr>
        <p:spPr>
          <a:xfrm>
            <a:off x="1137034" y="609597"/>
            <a:ext cx="9392421" cy="1330841"/>
          </a:xfrm>
        </p:spPr>
        <p:txBody>
          <a:bodyPr>
            <a:normAutofit/>
          </a:bodyPr>
          <a:lstStyle/>
          <a:p>
            <a:r>
              <a:rPr lang="ca-ES" dirty="0"/>
              <a:t>Naive Bayes</a:t>
            </a:r>
          </a:p>
        </p:txBody>
      </p:sp>
      <p:sp>
        <p:nvSpPr>
          <p:cNvPr id="3" name="Contenidor de contingut 2">
            <a:extLst>
              <a:ext uri="{FF2B5EF4-FFF2-40B4-BE49-F238E27FC236}">
                <a16:creationId xmlns:a16="http://schemas.microsoft.com/office/drawing/2014/main" id="{B6D4A93A-E060-BC58-DB75-57FC8FCA630E}"/>
              </a:ext>
            </a:extLst>
          </p:cNvPr>
          <p:cNvSpPr>
            <a:spLocks noGrp="1"/>
          </p:cNvSpPr>
          <p:nvPr>
            <p:ph idx="1"/>
          </p:nvPr>
        </p:nvSpPr>
        <p:spPr>
          <a:xfrm>
            <a:off x="1137034" y="2198362"/>
            <a:ext cx="4958966" cy="3917773"/>
          </a:xfrm>
        </p:spPr>
        <p:txBody>
          <a:bodyPr>
            <a:normAutofit/>
          </a:bodyPr>
          <a:lstStyle/>
          <a:p>
            <a:pPr marL="0" indent="0">
              <a:buNone/>
            </a:pPr>
            <a:r>
              <a:rPr lang="en-US" sz="1400" dirty="0"/>
              <a:t>At first glance, the use of the Naive Bayes algorithm appeared to be a forced approach for predicting song popularity. This mainly because Naive Bayes is designed for categorical target variables, whereas our target (song popularity) is continuous and numerical in </a:t>
            </a:r>
            <a:r>
              <a:rPr lang="en-US" sz="1400" dirty="0" err="1"/>
              <a:t>nature.To</a:t>
            </a:r>
            <a:r>
              <a:rPr lang="en-US" sz="1400" dirty="0"/>
              <a:t> make the method applicable, we transformed the target variable into three discrete categories representing low, medium, and high popularity levels. However, after applying the Naive Bayes model, the results were unsatisfactory: the predictions were heavily biased toward the “high” category, leading to an imbalanced outcome. Furthermore, the accuracy derived from the corresponding confusion matrix was quite low, indicating that Naive Bayes is not well suited for this regression-oriented problem.</a:t>
            </a:r>
          </a:p>
          <a:p>
            <a:pPr marL="0" indent="0">
              <a:buNone/>
            </a:pPr>
            <a:r>
              <a:rPr lang="en-US" sz="1400" i="1" dirty="0"/>
              <a:t>Accuracy: 0.33333</a:t>
            </a:r>
            <a:endParaRPr lang="ca-ES" sz="1400" i="1" dirty="0"/>
          </a:p>
        </p:txBody>
      </p:sp>
      <p:pic>
        <p:nvPicPr>
          <p:cNvPr id="5" name="Immagine 4" descr="Immagine che contiene testo, schermata, diagramma, Carattere&#10;&#10;Il contenuto generato dall'IA potrebbe non essere corretto.">
            <a:extLst>
              <a:ext uri="{FF2B5EF4-FFF2-40B4-BE49-F238E27FC236}">
                <a16:creationId xmlns:a16="http://schemas.microsoft.com/office/drawing/2014/main" id="{3EDE6CD4-8345-0074-37A6-577079C08159}"/>
              </a:ext>
            </a:extLst>
          </p:cNvPr>
          <p:cNvPicPr>
            <a:picLocks noChangeAspect="1"/>
          </p:cNvPicPr>
          <p:nvPr/>
        </p:nvPicPr>
        <p:blipFill>
          <a:blip r:embed="rId2"/>
          <a:stretch>
            <a:fillRect/>
          </a:stretch>
        </p:blipFill>
        <p:spPr>
          <a:xfrm>
            <a:off x="6853808" y="2061836"/>
            <a:ext cx="4580384"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15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B8151BF-4BC5-A36A-76CA-0669F59707FA}"/>
              </a:ext>
            </a:extLst>
          </p:cNvPr>
          <p:cNvSpPr>
            <a:spLocks noGrp="1"/>
          </p:cNvSpPr>
          <p:nvPr>
            <p:ph type="title"/>
          </p:nvPr>
        </p:nvSpPr>
        <p:spPr/>
        <p:txBody>
          <a:bodyPr/>
          <a:lstStyle/>
          <a:p>
            <a:r>
              <a:rPr lang="ca-ES" dirty="0" err="1"/>
              <a:t>Conclusiones</a:t>
            </a:r>
            <a:r>
              <a:rPr lang="ca-ES" dirty="0"/>
              <a:t> y </a:t>
            </a:r>
            <a:r>
              <a:rPr lang="ca-ES" dirty="0" err="1"/>
              <a:t>proximos</a:t>
            </a:r>
            <a:r>
              <a:rPr lang="ca-ES" dirty="0"/>
              <a:t> </a:t>
            </a:r>
            <a:r>
              <a:rPr lang="ca-ES" dirty="0" err="1"/>
              <a:t>pasos</a:t>
            </a:r>
            <a:endParaRPr lang="ca-ES" dirty="0"/>
          </a:p>
        </p:txBody>
      </p:sp>
      <p:sp>
        <p:nvSpPr>
          <p:cNvPr id="3" name="Contenidor de contingut 2">
            <a:extLst>
              <a:ext uri="{FF2B5EF4-FFF2-40B4-BE49-F238E27FC236}">
                <a16:creationId xmlns:a16="http://schemas.microsoft.com/office/drawing/2014/main" id="{B78B9F8F-42AE-77BD-C6EA-C1776209179F}"/>
              </a:ext>
            </a:extLst>
          </p:cNvPr>
          <p:cNvSpPr>
            <a:spLocks noGrp="1"/>
          </p:cNvSpPr>
          <p:nvPr>
            <p:ph idx="1"/>
          </p:nvPr>
        </p:nvSpPr>
        <p:spPr/>
        <p:txBody>
          <a:bodyPr/>
          <a:lstStyle/>
          <a:p>
            <a:endParaRPr lang="ca-ES"/>
          </a:p>
        </p:txBody>
      </p:sp>
    </p:spTree>
    <p:extLst>
      <p:ext uri="{BB962C8B-B14F-4D97-AF65-F5344CB8AC3E}">
        <p14:creationId xmlns:p14="http://schemas.microsoft.com/office/powerpoint/2010/main" val="3455205633"/>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cin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1026</TotalTime>
  <Words>1519</Words>
  <Application>Microsoft Office PowerPoint</Application>
  <PresentationFormat>Panorámica</PresentationFormat>
  <Paragraphs>160</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vt:lpstr>
      <vt:lpstr>Aptos Display</vt:lpstr>
      <vt:lpstr>Arial</vt:lpstr>
      <vt:lpstr>Source Code Pro</vt:lpstr>
      <vt:lpstr>Tema de l'Office</vt:lpstr>
      <vt:lpstr>PORTADA</vt:lpstr>
      <vt:lpstr>ENTENDIMIENTO DEL NEGOCIO</vt:lpstr>
      <vt:lpstr>ENTENDIMIENTO DE LOS DATOS</vt:lpstr>
      <vt:lpstr>FRAMEWORK METODOLÓGICO</vt:lpstr>
      <vt:lpstr>EDA 1</vt:lpstr>
      <vt:lpstr>EDA 2</vt:lpstr>
      <vt:lpstr>Imputación en dos pasos</vt:lpstr>
      <vt:lpstr>Outliers</vt:lpstr>
      <vt:lpstr>Feature Engineering</vt:lpstr>
      <vt:lpstr>Feature Engineering</vt:lpstr>
      <vt:lpstr>ASSOCITATION RULES</vt:lpstr>
      <vt:lpstr>ASSOCITATION RULES</vt:lpstr>
      <vt:lpstr>ASSOCITATION RULES</vt:lpstr>
      <vt:lpstr>Preparación para el modelado</vt:lpstr>
      <vt:lpstr>KNN</vt:lpstr>
      <vt:lpstr>Naive Bayes</vt:lpstr>
      <vt:lpstr>Conclusiones y proximos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PORTADA</dc:title>
  <dc:creator>IKER MARIA MONTES</dc:creator>
  <cp:lastModifiedBy>POL TOBELLA JACOMET</cp:lastModifiedBy>
  <cp:revision>21</cp:revision>
  <dcterms:created xsi:type="dcterms:W3CDTF">2025-11-09T14:38:01Z</dcterms:created>
  <dcterms:modified xsi:type="dcterms:W3CDTF">2025-11-10T15:44:10Z</dcterms:modified>
</cp:coreProperties>
</file>